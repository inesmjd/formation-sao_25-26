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419" r:id="rId5"/>
    <p:sldId id="429" r:id="rId6"/>
    <p:sldId id="383" r:id="rId7"/>
    <p:sldId id="473" r:id="rId8"/>
    <p:sldId id="493" r:id="rId9"/>
    <p:sldId id="474" r:id="rId10"/>
    <p:sldId id="475" r:id="rId11"/>
    <p:sldId id="476" r:id="rId12"/>
    <p:sldId id="426" r:id="rId13"/>
    <p:sldId id="477" r:id="rId14"/>
    <p:sldId id="430" r:id="rId15"/>
    <p:sldId id="478" r:id="rId16"/>
    <p:sldId id="469" r:id="rId17"/>
    <p:sldId id="500" r:id="rId18"/>
    <p:sldId id="398" r:id="rId19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42"/>
    <a:srgbClr val="004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79257" autoAdjust="0"/>
  </p:normalViewPr>
  <p:slideViewPr>
    <p:cSldViewPr snapToGrid="0">
      <p:cViewPr varScale="1">
        <p:scale>
          <a:sx n="65" d="100"/>
          <a:sy n="65" d="100"/>
        </p:scale>
        <p:origin x="145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22/12/2025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22/12/2025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986F5E-69EC-4C9A-CFA1-C656469FE1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0003129-35D2-628B-DC52-4A889998E9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072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92782E-D115-F5C8-D256-C814C305AA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C4AE899F-625A-A7F1-E9C0-492E2FB878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1525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7E3588-AF02-08DE-9FFA-8F0A40F054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4210E42-936C-F24F-91ED-0469716833B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1356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6133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b="1" dirty="0"/>
              <a:t>Applications Web </a:t>
            </a:r>
            <a:r>
              <a:rPr lang="fr-FR" b="1" dirty="0" err="1"/>
              <a:t>Stateful</a:t>
            </a:r>
            <a:r>
              <a:rPr lang="fr-FR" b="1" dirty="0"/>
              <a:t> (Avec État)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Applications Web Traditionnelles</a:t>
            </a:r>
            <a:r>
              <a:rPr lang="fr-FR" dirty="0"/>
              <a:t> : De nombreuses applications web traditionnelles, comme celles utilisant des </a:t>
            </a:r>
            <a:r>
              <a:rPr lang="fr-FR" dirty="0" err="1"/>
              <a:t>frameworks</a:t>
            </a:r>
            <a:r>
              <a:rPr lang="fr-FR" dirty="0"/>
              <a:t> comme PHP, Ruby on Rails, Django, etc., conservent l'état des sessions pour fournir une expérience utilisateur continue.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Avantages</a:t>
            </a:r>
            <a:r>
              <a:rPr lang="fr-FR" dirty="0"/>
              <a:t>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fr-FR" dirty="0"/>
              <a:t>Gestion des Utilisateurs : Permet de suivre l'authentification des utilisateurs et de conserver les informations de session (comme les paniers d'achat, les préférences utilisateur).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fr-FR" dirty="0"/>
              <a:t>Expérience Utilisateur : Permet de maintenir l'état entre les requêtes, offrant une expérience utilisateur cohérente et personnalisée.</a:t>
            </a:r>
          </a:p>
          <a:p>
            <a:pPr rtl="0"/>
            <a:r>
              <a:rPr lang="fr-FR" b="1" dirty="0"/>
              <a:t>Techniques pour Conserver l'État des Sessions: </a:t>
            </a:r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Cookies</a:t>
            </a:r>
            <a:r>
              <a:rPr lang="fr-FR" dirty="0"/>
              <a:t> </a:t>
            </a:r>
            <a:endParaRPr lang="fr-FR" b="1" dirty="0"/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Sessions </a:t>
            </a:r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JWT: </a:t>
            </a:r>
            <a:r>
              <a:rPr lang="fr-FR" dirty="0"/>
              <a:t>Les </a:t>
            </a:r>
            <a:r>
              <a:rPr lang="fr-FR" dirty="0" err="1"/>
              <a:t>tokens</a:t>
            </a:r>
            <a:r>
              <a:rPr lang="fr-FR" dirty="0"/>
              <a:t> JWT sont </a:t>
            </a:r>
            <a:r>
              <a:rPr lang="fr-FR" dirty="0" err="1"/>
              <a:t>stateless</a:t>
            </a:r>
            <a:r>
              <a:rPr lang="fr-FR" dirty="0"/>
              <a:t> et peuvent être utilisés pour des applications RESTful.</a:t>
            </a:r>
            <a:r>
              <a:rPr lang="fr-FR" b="1" dirty="0"/>
              <a:t> </a:t>
            </a:r>
            <a:r>
              <a:rPr lang="fr-FR" dirty="0"/>
              <a:t>Le serveur peut vérifier et valider ces </a:t>
            </a:r>
            <a:r>
              <a:rPr lang="fr-FR" dirty="0" err="1"/>
              <a:t>tokens</a:t>
            </a:r>
            <a:r>
              <a:rPr lang="fr-FR" dirty="0"/>
              <a:t> pour authentifier les requêtes.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2791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b="1" dirty="0"/>
              <a:t>Applications Web </a:t>
            </a:r>
            <a:r>
              <a:rPr lang="fr-FR" b="1" dirty="0" err="1"/>
              <a:t>Stateful</a:t>
            </a:r>
            <a:r>
              <a:rPr lang="fr-FR" b="1" dirty="0"/>
              <a:t> (Avec État)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Applications Web Traditionnelles</a:t>
            </a:r>
            <a:r>
              <a:rPr lang="fr-FR" dirty="0"/>
              <a:t> : De nombreuses applications web traditionnelles, comme celles utilisant des </a:t>
            </a:r>
            <a:r>
              <a:rPr lang="fr-FR" dirty="0" err="1"/>
              <a:t>frameworks</a:t>
            </a:r>
            <a:r>
              <a:rPr lang="fr-FR" dirty="0"/>
              <a:t> comme PHP, Ruby on Rails, Django, etc., conservent l'état des sessions pour fournir une expérience utilisateur continue.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Avantages</a:t>
            </a:r>
            <a:r>
              <a:rPr lang="fr-FR" dirty="0"/>
              <a:t>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fr-FR" dirty="0"/>
              <a:t>Gestion des Utilisateurs : Permet de suivre l'authentification des utilisateurs et de conserver les informations de session (comme les paniers d'achat, les préférences utilisateur).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fr-FR" dirty="0"/>
              <a:t>Expérience Utilisateur : Permet de maintenir l'état entre les requêtes, offrant une expérience utilisateur cohérente et personnalisée.</a:t>
            </a:r>
          </a:p>
          <a:p>
            <a:pPr rtl="0"/>
            <a:r>
              <a:rPr lang="fr-FR" b="1" dirty="0"/>
              <a:t>Techniques pour Conserver l'État des Sessions: </a:t>
            </a:r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Cookies</a:t>
            </a:r>
            <a:r>
              <a:rPr lang="fr-FR" dirty="0"/>
              <a:t> </a:t>
            </a:r>
            <a:endParaRPr lang="fr-FR" b="1" dirty="0"/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Sessions </a:t>
            </a:r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JWT: </a:t>
            </a:r>
            <a:r>
              <a:rPr lang="fr-FR" dirty="0"/>
              <a:t>Les </a:t>
            </a:r>
            <a:r>
              <a:rPr lang="fr-FR" dirty="0" err="1"/>
              <a:t>tokens</a:t>
            </a:r>
            <a:r>
              <a:rPr lang="fr-FR" dirty="0"/>
              <a:t> JWT sont </a:t>
            </a:r>
            <a:r>
              <a:rPr lang="fr-FR" dirty="0" err="1"/>
              <a:t>stateless</a:t>
            </a:r>
            <a:r>
              <a:rPr lang="fr-FR" dirty="0"/>
              <a:t> et peuvent être utilisés pour des applications RESTful.</a:t>
            </a:r>
            <a:r>
              <a:rPr lang="fr-FR" b="1" dirty="0"/>
              <a:t> </a:t>
            </a:r>
            <a:r>
              <a:rPr lang="fr-FR" dirty="0"/>
              <a:t>Le serveur peut vérifier et valider ces </a:t>
            </a:r>
            <a:r>
              <a:rPr lang="fr-FR" dirty="0" err="1"/>
              <a:t>tokens</a:t>
            </a:r>
            <a:r>
              <a:rPr lang="fr-FR" dirty="0"/>
              <a:t> pour authentifier les requêtes.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5016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b="1" dirty="0"/>
              <a:t>Applications Web </a:t>
            </a:r>
            <a:r>
              <a:rPr lang="fr-FR" b="1" dirty="0" err="1"/>
              <a:t>Stateful</a:t>
            </a:r>
            <a:r>
              <a:rPr lang="fr-FR" b="1" dirty="0"/>
              <a:t> (Avec État)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Applications Web Traditionnelles</a:t>
            </a:r>
            <a:r>
              <a:rPr lang="fr-FR" dirty="0"/>
              <a:t> : De nombreuses applications web traditionnelles, comme celles utilisant des </a:t>
            </a:r>
            <a:r>
              <a:rPr lang="fr-FR" dirty="0" err="1"/>
              <a:t>frameworks</a:t>
            </a:r>
            <a:r>
              <a:rPr lang="fr-FR" dirty="0"/>
              <a:t> comme PHP, Ruby on Rails, Django, etc., conservent l'état des sessions pour fournir une expérience utilisateur continue.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Avantages</a:t>
            </a:r>
            <a:r>
              <a:rPr lang="fr-FR" dirty="0"/>
              <a:t>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fr-FR" dirty="0"/>
              <a:t>Gestion des Utilisateurs : Permet de suivre l'authentification des utilisateurs et de conserver les informations de session (comme les paniers d'achat, les préférences utilisateur).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fr-FR" dirty="0"/>
              <a:t>Expérience Utilisateur : Permet de maintenir l'état entre les requêtes, offrant une expérience utilisateur cohérente et personnalisée.</a:t>
            </a:r>
          </a:p>
          <a:p>
            <a:pPr rtl="0"/>
            <a:r>
              <a:rPr lang="fr-FR" b="1" dirty="0"/>
              <a:t>Techniques pour Conserver l'État des Sessions: </a:t>
            </a:r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Cookies</a:t>
            </a:r>
            <a:r>
              <a:rPr lang="fr-FR" dirty="0"/>
              <a:t> </a:t>
            </a:r>
            <a:endParaRPr lang="fr-FR" b="1" dirty="0"/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Sessions </a:t>
            </a:r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fr-FR" b="1" dirty="0"/>
              <a:t>JWT: </a:t>
            </a:r>
            <a:r>
              <a:rPr lang="fr-FR" dirty="0"/>
              <a:t>Les </a:t>
            </a:r>
            <a:r>
              <a:rPr lang="fr-FR" dirty="0" err="1"/>
              <a:t>tokens</a:t>
            </a:r>
            <a:r>
              <a:rPr lang="fr-FR" dirty="0"/>
              <a:t> JWT sont </a:t>
            </a:r>
            <a:r>
              <a:rPr lang="fr-FR" dirty="0" err="1"/>
              <a:t>stateless</a:t>
            </a:r>
            <a:r>
              <a:rPr lang="fr-FR" dirty="0"/>
              <a:t> et peuvent être utilisés pour des applications RESTful.</a:t>
            </a:r>
            <a:r>
              <a:rPr lang="fr-FR" b="1" dirty="0"/>
              <a:t> </a:t>
            </a:r>
            <a:r>
              <a:rPr lang="fr-FR" dirty="0"/>
              <a:t>Le serveur peut vérifier et valider ces </a:t>
            </a:r>
            <a:r>
              <a:rPr lang="fr-FR" dirty="0" err="1"/>
              <a:t>tokens</a:t>
            </a:r>
            <a:r>
              <a:rPr lang="fr-FR" dirty="0"/>
              <a:t> pour authentifier les requêtes.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8155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B68495-8ADB-FA57-0614-0089E9926A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9F39071E-22F7-3293-1260-9FE87032400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2286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9338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5864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7093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2962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A6650F-8746-75F6-0873-0627465795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E4E88A73-9B12-6B70-5B3A-9873A452DE7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2664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8F6012-959C-7A28-55D5-D8CA104CED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6F454132-0F65-3A63-3CE4-0DED21AF1B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F10A6BB3-71E6-7D42-5691-9A3F034A10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Formation SOA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450850" rtl="0"/>
            <a:r>
              <a:rPr lang="fr-FR" dirty="0"/>
              <a:t>Présentée par Ines ElMejid</a:t>
            </a:r>
          </a:p>
          <a:p>
            <a:pPr marL="450850" rtl="0"/>
            <a:r>
              <a:rPr lang="fr-FR" dirty="0"/>
              <a:t>UP-WEB</a:t>
            </a:r>
          </a:p>
        </p:txBody>
      </p:sp>
      <p:pic>
        <p:nvPicPr>
          <p:cNvPr id="10" name="Espace réservé pour une image  5" descr="Une image contenant texte, cercle, logo, clipart&#10;&#10;Description générée automatiquement">
            <a:extLst>
              <a:ext uri="{FF2B5EF4-FFF2-40B4-BE49-F238E27FC236}">
                <a16:creationId xmlns:a16="http://schemas.microsoft.com/office/drawing/2014/main" id="{9D5B1772-32B8-5377-1D06-B898C7F6F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11" y="1630265"/>
            <a:ext cx="3729580" cy="35974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140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331" y="469352"/>
            <a:ext cx="4570298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lnSpc>
                <a:spcPct val="100000"/>
              </a:lnSpc>
            </a:pPr>
            <a:r>
              <a:rPr lang="fr-FR" dirty="0">
                <a:sym typeface="Times New Roman"/>
              </a:rPr>
              <a:t>Les services Web REST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029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5980" y="2192681"/>
            <a:ext cx="6169933" cy="4387190"/>
          </a:xfrm>
        </p:spPr>
        <p:txBody>
          <a:bodyPr tIns="457200" rtlCol="0">
            <a:normAutofit/>
          </a:bodyPr>
          <a:lstStyle>
            <a:defPPr>
              <a:defRPr lang="fr-FR"/>
            </a:defPPr>
          </a:lstStyle>
          <a:p>
            <a:r>
              <a:rPr lang="fr-FR" sz="2000" dirty="0"/>
              <a:t>Montrer les avantages et défis du style d’architecture REST</a:t>
            </a:r>
          </a:p>
          <a:p>
            <a:pPr marL="0" indent="0">
              <a:buNone/>
            </a:pPr>
            <a:endParaRPr lang="fr-FR" sz="2000" dirty="0"/>
          </a:p>
          <a:p>
            <a:r>
              <a:rPr lang="fr-FR" sz="2000" dirty="0"/>
              <a:t>Expliquer le principe de sécurité des </a:t>
            </a:r>
            <a:r>
              <a:rPr lang="fr-FR" sz="2000" dirty="0" err="1"/>
              <a:t>RESTfull</a:t>
            </a:r>
            <a:r>
              <a:rPr lang="fr-FR" sz="2000"/>
              <a:t> en utilisant le JWT</a:t>
            </a:r>
          </a:p>
          <a:p>
            <a:pPr rtl="0"/>
            <a:endParaRPr lang="fr-FR" sz="14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DC095E-5327-99BA-25AA-1B72B85B980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sym typeface="Times New Roman"/>
              </a:rPr>
              <a:t>Présentation de REST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</a:t>
            </a:fld>
            <a:endParaRPr lang="fr-FR" dirty="0">
              <a:latin typeface="+mn-lt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5843673-670E-4EBB-F538-55B4DA6EBEBF}"/>
              </a:ext>
            </a:extLst>
          </p:cNvPr>
          <p:cNvSpPr txBox="1"/>
          <p:nvPr/>
        </p:nvSpPr>
        <p:spPr>
          <a:xfrm>
            <a:off x="620998" y="2551185"/>
            <a:ext cx="9614383" cy="382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sym typeface="Times New Roman"/>
              </a:rPr>
              <a:t>REST est l’acronyme de </a:t>
            </a:r>
            <a:r>
              <a:rPr lang="fr-FR" sz="2400" b="1" dirty="0" err="1">
                <a:solidFill>
                  <a:schemeClr val="accent3">
                    <a:lumMod val="75000"/>
                  </a:schemeClr>
                </a:solidFill>
                <a:sym typeface="Times New Roman"/>
              </a:rPr>
              <a:t>RE</a:t>
            </a:r>
            <a:r>
              <a:rPr lang="fr-FR" sz="2200" b="1" dirty="0" err="1">
                <a:solidFill>
                  <a:schemeClr val="bg1"/>
                </a:solidFill>
                <a:sym typeface="Times New Roman"/>
              </a:rPr>
              <a:t>presentational</a:t>
            </a:r>
            <a:r>
              <a:rPr lang="fr-FR" sz="2400" b="1" dirty="0">
                <a:solidFill>
                  <a:schemeClr val="bg1"/>
                </a:solidFill>
                <a:sym typeface="Times New Roman"/>
              </a:rPr>
              <a:t> 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  <a:sym typeface="Times New Roman"/>
              </a:rPr>
              <a:t>S</a:t>
            </a:r>
            <a:r>
              <a:rPr lang="fr-FR" sz="2200" b="1" dirty="0">
                <a:solidFill>
                  <a:schemeClr val="bg1"/>
                </a:solidFill>
                <a:sym typeface="Times New Roman"/>
              </a:rPr>
              <a:t>tate</a:t>
            </a:r>
            <a:r>
              <a:rPr lang="fr-FR" sz="2400" b="1" dirty="0">
                <a:solidFill>
                  <a:schemeClr val="bg1"/>
                </a:solidFill>
                <a:sym typeface="Times New Roman"/>
              </a:rPr>
              <a:t> 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  <a:sym typeface="Times New Roman"/>
              </a:rPr>
              <a:t>T</a:t>
            </a:r>
            <a:r>
              <a:rPr lang="fr-FR" sz="2200" b="1" dirty="0">
                <a:solidFill>
                  <a:schemeClr val="bg1"/>
                </a:solidFill>
                <a:sym typeface="Times New Roman"/>
              </a:rPr>
              <a:t>ransfert</a:t>
            </a: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fr-FR" sz="2000" dirty="0">
                <a:solidFill>
                  <a:schemeClr val="bg1"/>
                </a:solidFill>
                <a:sym typeface="Times New Roman"/>
              </a:rPr>
              <a:t>Principe défini dans la thèse de Roy FIELDING en 2000:</a:t>
            </a: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fr-FR" dirty="0">
                <a:solidFill>
                  <a:schemeClr val="bg1"/>
                </a:solidFill>
                <a:sym typeface="Times New Roman"/>
              </a:rPr>
              <a:t>		</a:t>
            </a:r>
            <a:r>
              <a:rPr lang="fr-FR" sz="2000" dirty="0">
                <a:solidFill>
                  <a:schemeClr val="bg1"/>
                </a:solidFill>
                <a:sym typeface="Times New Roman"/>
              </a:rPr>
              <a:t>-L’un des principaux auteurs de la spécification HTTP</a:t>
            </a: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fr-FR" sz="2000" dirty="0">
                <a:solidFill>
                  <a:schemeClr val="bg1"/>
                </a:solidFill>
                <a:sym typeface="Times New Roman"/>
              </a:rPr>
              <a:t>		-Le développeur du serveur Web Apache</a:t>
            </a: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fr-FR" dirty="0">
                <a:solidFill>
                  <a:schemeClr val="bg1"/>
                </a:solidFill>
                <a:sym typeface="Times New Roman"/>
              </a:rPr>
              <a:t> </a:t>
            </a:r>
            <a:r>
              <a:rPr lang="fr-FR" sz="2000" dirty="0">
                <a:solidFill>
                  <a:schemeClr val="bg1"/>
                </a:solidFill>
                <a:sym typeface="Times New Roman"/>
              </a:rPr>
              <a:t>U</a:t>
            </a:r>
            <a:r>
              <a:rPr lang="fr-FR" sz="2000" b="1" dirty="0">
                <a:solidFill>
                  <a:schemeClr val="bg1"/>
                </a:solidFill>
                <a:sym typeface="Times New Roman"/>
              </a:rPr>
              <a:t>n style d’architecture </a:t>
            </a:r>
            <a:r>
              <a:rPr lang="fr-FR" sz="2000" dirty="0">
                <a:solidFill>
                  <a:schemeClr val="bg1"/>
                </a:solidFill>
                <a:sym typeface="Times New Roman"/>
              </a:rPr>
              <a:t>inspiré de l’architecture du Web pour construire des services web</a:t>
            </a:r>
          </a:p>
          <a:p>
            <a:pPr marL="1016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fr-FR" sz="2000" dirty="0">
                <a:solidFill>
                  <a:schemeClr val="bg1"/>
                </a:solidFill>
                <a:sym typeface="Times New Roman"/>
              </a:rPr>
              <a:t>Les applications respectant les architectures orientées ressources sont nommées </a:t>
            </a:r>
            <a:r>
              <a:rPr lang="fr-FR" sz="2000" b="1" dirty="0">
                <a:solidFill>
                  <a:schemeClr val="bg1"/>
                </a:solidFill>
                <a:sym typeface="Times New Roman"/>
              </a:rPr>
              <a:t>RESTful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38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sym typeface="Times New Roman"/>
              </a:rPr>
              <a:t>Présentation de REST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5586984" cy="3597470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marL="457200" lvl="0" indent="-355600" algn="just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>
                <a:sym typeface="Times New Roman"/>
              </a:rPr>
              <a:t>REST est:</a:t>
            </a:r>
          </a:p>
          <a:p>
            <a:pPr marL="901700" lvl="0" algn="just" defTabSz="1169988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  <a:tabLst>
                <a:tab pos="622300" algn="l"/>
              </a:tabLst>
            </a:pPr>
            <a:r>
              <a:rPr lang="fr-FR" dirty="0">
                <a:sym typeface="Times New Roman"/>
              </a:rPr>
              <a:t>	un style d’architecture non standardisé </a:t>
            </a:r>
          </a:p>
          <a:p>
            <a:pPr marL="901700" lvl="0" algn="just" defTabSz="1169988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  <a:tabLst>
                <a:tab pos="622300" algn="l"/>
              </a:tabLst>
            </a:pPr>
            <a:r>
              <a:rPr lang="fr-FR" dirty="0">
                <a:sym typeface="Times New Roman"/>
              </a:rPr>
              <a:t> une approche pour construire une application</a:t>
            </a:r>
          </a:p>
          <a:p>
            <a:pPr marL="457200" lvl="0" indent="-355600" algn="just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>
                <a:sym typeface="Times New Roman"/>
              </a:rPr>
              <a:t>REST n’est pas:</a:t>
            </a:r>
          </a:p>
          <a:p>
            <a:pPr marL="901700" lvl="0" algn="just" defTabSz="62865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dirty="0">
                <a:sym typeface="Times New Roman"/>
              </a:rPr>
              <a:t> un format</a:t>
            </a:r>
          </a:p>
          <a:p>
            <a:pPr marL="901700" lvl="0" algn="just" defTabSz="62865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dirty="0">
                <a:sym typeface="Times New Roman"/>
              </a:rPr>
              <a:t> un protocole</a:t>
            </a:r>
          </a:p>
          <a:p>
            <a:pPr marL="901700" lvl="0" algn="just" defTabSz="62865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dirty="0">
                <a:sym typeface="Times New Roman"/>
              </a:rPr>
              <a:t> un standard</a:t>
            </a:r>
          </a:p>
          <a:p>
            <a:pPr marL="0" lvl="1" indent="0" algn="just" rtl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27946" y="2676525"/>
            <a:ext cx="449082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457200" lvl="0" indent="-355600" algn="just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400" dirty="0">
                <a:sym typeface="Times New Roman"/>
              </a:rPr>
              <a:t>Bien que REST ne soit pas un standard, il utilise des standards:</a:t>
            </a:r>
          </a:p>
          <a:p>
            <a:pPr marL="901700" lvl="0" indent="268288" algn="just" defTabSz="62865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dirty="0">
                <a:sym typeface="Times New Roman"/>
              </a:rPr>
              <a:t>HTTP</a:t>
            </a:r>
          </a:p>
          <a:p>
            <a:pPr marL="901700" lvl="0" indent="268288" algn="just" defTabSz="62865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dirty="0">
                <a:sym typeface="Times New Roman"/>
              </a:rPr>
              <a:t>URL</a:t>
            </a:r>
          </a:p>
          <a:p>
            <a:pPr marL="901700" lvl="0" indent="268288" algn="just" defTabSz="62865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§"/>
            </a:pPr>
            <a:r>
              <a:rPr lang="fr-FR" dirty="0">
                <a:sym typeface="Times New Roman"/>
              </a:rPr>
              <a:t>XML/HTML</a:t>
            </a:r>
            <a:endParaRPr lang="fr-FR" b="1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5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159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sym typeface="Times New Roman"/>
              </a:rPr>
              <a:t>Motivation pour REST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230956" cy="3597470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algn="just">
              <a:buClr>
                <a:srgbClr val="FF0000"/>
              </a:buClr>
              <a:defRPr/>
            </a:pPr>
            <a:r>
              <a:rPr lang="fr-FR" sz="2400" dirty="0">
                <a:cs typeface="Arial" pitchFamily="34" charset="0"/>
              </a:rPr>
              <a:t>REST est léger et simple : </a:t>
            </a:r>
          </a:p>
          <a:p>
            <a:pPr marL="442913" lvl="1" indent="14288" algn="just">
              <a:buClr>
                <a:srgbClr val="FF0000"/>
              </a:buClr>
              <a:buNone/>
              <a:defRPr/>
            </a:pPr>
            <a:r>
              <a:rPr lang="fr-FR" dirty="0">
                <a:cs typeface="Arial" pitchFamily="34" charset="0"/>
              </a:rPr>
              <a:t>Les messages sont courts, faciles à décoder par le navigateur et par le serveur d’application.</a:t>
            </a:r>
          </a:p>
          <a:p>
            <a:pPr marL="442913" lvl="1" indent="14288" algn="just">
              <a:buClr>
                <a:srgbClr val="FF0000"/>
              </a:buClr>
              <a:buNone/>
              <a:defRPr/>
            </a:pPr>
            <a:endParaRPr lang="fr-FR" dirty="0">
              <a:cs typeface="Arial" pitchFamily="34" charset="0"/>
            </a:endParaRPr>
          </a:p>
          <a:p>
            <a:pPr algn="just">
              <a:buClr>
                <a:srgbClr val="FF0000"/>
              </a:buClr>
              <a:defRPr/>
            </a:pPr>
            <a:r>
              <a:rPr lang="fr-FR" sz="2400" dirty="0">
                <a:cs typeface="Arial" pitchFamily="34" charset="0"/>
              </a:rPr>
              <a:t>REST est </a:t>
            </a:r>
            <a:r>
              <a:rPr lang="fr-FR" sz="2400" dirty="0" err="1">
                <a:cs typeface="Arial" pitchFamily="34" charset="0"/>
              </a:rPr>
              <a:t>auto-descriptif</a:t>
            </a:r>
            <a:r>
              <a:rPr lang="fr-FR" sz="2400" dirty="0">
                <a:cs typeface="Arial" pitchFamily="34" charset="0"/>
              </a:rPr>
              <a:t> : </a:t>
            </a:r>
          </a:p>
          <a:p>
            <a:pPr marL="442913" lvl="1" indent="14288" algn="just">
              <a:buClr>
                <a:srgbClr val="FF0000"/>
              </a:buClr>
              <a:buNone/>
              <a:defRPr/>
            </a:pPr>
            <a:r>
              <a:rPr lang="fr-FR" dirty="0">
                <a:cs typeface="Arial" pitchFamily="34" charset="0"/>
              </a:rPr>
              <a:t>Vous pouvez naviguer à travers ses ressources comme vous le feriez avec une page Web. </a:t>
            </a:r>
          </a:p>
          <a:p>
            <a:pPr marL="442913" lvl="1" indent="14288" algn="just">
              <a:buClr>
                <a:srgbClr val="FF0000"/>
              </a:buClr>
              <a:buNone/>
              <a:defRPr/>
            </a:pPr>
            <a:r>
              <a:rPr lang="fr-FR" dirty="0">
                <a:cs typeface="Arial" pitchFamily="34" charset="0"/>
              </a:rPr>
              <a:t>On peut facilement en déduire la structure des ressources sans avoir besoin de beaucoup de documentation.</a:t>
            </a:r>
          </a:p>
          <a:p>
            <a:pPr marL="0" lvl="1" indent="0" algn="just" rtl="0">
              <a:buNone/>
            </a:pPr>
            <a:endParaRPr lang="fr-FR" sz="160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6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679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sym typeface="Times New Roman"/>
              </a:rPr>
              <a:t>Motivation pour REST 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2676525"/>
            <a:ext cx="11130608" cy="3597470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algn="just">
              <a:buClr>
                <a:srgbClr val="FF0000"/>
              </a:buClr>
              <a:defRPr/>
            </a:pPr>
            <a:r>
              <a:rPr lang="fr-FR" sz="2800" dirty="0">
                <a:cs typeface="Arial" pitchFamily="34" charset="0"/>
              </a:rPr>
              <a:t>REST est </a:t>
            </a:r>
            <a:r>
              <a:rPr lang="fr-FR" sz="2800" dirty="0" err="1">
                <a:cs typeface="Arial" pitchFamily="34" charset="0"/>
              </a:rPr>
              <a:t>stateless</a:t>
            </a:r>
            <a:r>
              <a:rPr lang="fr-FR" sz="2800" dirty="0">
                <a:cs typeface="Arial" pitchFamily="34" charset="0"/>
              </a:rPr>
              <a:t> :</a:t>
            </a:r>
          </a:p>
          <a:p>
            <a:pPr lvl="1" algn="just">
              <a:buClr>
                <a:srgbClr val="FF0000"/>
              </a:buClr>
              <a:buNone/>
              <a:defRPr/>
            </a:pPr>
            <a:r>
              <a:rPr lang="fr-FR" sz="2400" dirty="0"/>
              <a:t>     - </a:t>
            </a:r>
            <a:r>
              <a:rPr lang="fr-FR" sz="2400" b="1" dirty="0"/>
              <a:t>Applications Web </a:t>
            </a:r>
            <a:r>
              <a:rPr lang="fr-FR" sz="2400" dirty="0"/>
              <a:t>sont souvent </a:t>
            </a:r>
            <a:r>
              <a:rPr lang="fr-FR" sz="2400" b="1" dirty="0" err="1">
                <a:solidFill>
                  <a:schemeClr val="accent3"/>
                </a:solidFill>
              </a:rPr>
              <a:t>stateful</a:t>
            </a:r>
            <a:r>
              <a:rPr lang="fr-FR" sz="2400" dirty="0"/>
              <a:t>: nécessitant la conservation de l'état des sessions pour gérer les utilisateurs et les interactions.</a:t>
            </a:r>
          </a:p>
          <a:p>
            <a:pPr lvl="1" algn="just">
              <a:buClr>
                <a:srgbClr val="FF0000"/>
              </a:buClr>
              <a:buNone/>
              <a:defRPr/>
            </a:pPr>
            <a:r>
              <a:rPr lang="fr-FR" sz="2400" dirty="0"/>
              <a:t>     - </a:t>
            </a:r>
            <a:r>
              <a:rPr lang="fr-FR" sz="2400" b="1" dirty="0"/>
              <a:t>REST</a:t>
            </a:r>
            <a:r>
              <a:rPr lang="fr-FR" sz="2400" dirty="0"/>
              <a:t> est </a:t>
            </a:r>
            <a:r>
              <a:rPr lang="fr-FR" sz="2400" b="1" dirty="0" err="1">
                <a:solidFill>
                  <a:schemeClr val="accent3"/>
                </a:solidFill>
              </a:rPr>
              <a:t>statless</a:t>
            </a:r>
            <a:r>
              <a:rPr lang="fr-FR" sz="2400" dirty="0"/>
              <a:t>: chaque requête contient toutes les informations nécessaires pour être comprise et traitée indépendamment des autres requêtes. Le serveur ne conserve pas l'état des sessions entre les requêtes. </a:t>
            </a:r>
          </a:p>
          <a:p>
            <a:pPr lvl="1" algn="just">
              <a:buClr>
                <a:srgbClr val="FF0000"/>
              </a:buClr>
              <a:buNone/>
              <a:defRPr/>
            </a:pPr>
            <a:endParaRPr lang="fr-FR" sz="2400" dirty="0"/>
          </a:p>
          <a:p>
            <a:pPr lvl="1" algn="just">
              <a:buClr>
                <a:srgbClr val="FF0000"/>
              </a:buClr>
              <a:buNone/>
              <a:defRPr/>
            </a:pPr>
            <a:r>
              <a:rPr lang="fr-FR" sz="2400" dirty="0">
                <a:solidFill>
                  <a:schemeClr val="accent3"/>
                </a:solidFill>
                <a:cs typeface="Arial" pitchFamily="34" charset="0"/>
                <a:sym typeface="Wingdings" panose="05000000000000000000" pitchFamily="2" charset="2"/>
              </a:rPr>
              <a:t></a:t>
            </a:r>
            <a:r>
              <a:rPr lang="fr-FR" sz="2400" dirty="0">
                <a:cs typeface="Arial" pitchFamily="34" charset="0"/>
                <a:sym typeface="Wingdings" panose="05000000000000000000" pitchFamily="2" charset="2"/>
              </a:rPr>
              <a:t> </a:t>
            </a:r>
            <a:r>
              <a:rPr lang="fr-FR" sz="2400" dirty="0">
                <a:cs typeface="Arial" pitchFamily="34" charset="0"/>
              </a:rPr>
              <a:t>Consommation de mémoire inférieure</a:t>
            </a:r>
            <a:endParaRPr lang="fr-FR" sz="2800" dirty="0">
              <a:cs typeface="Arial" pitchFamily="34" charset="0"/>
            </a:endParaRPr>
          </a:p>
          <a:p>
            <a:pPr marL="101600" lvl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fr-FR" b="1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7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954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sym typeface="Times New Roman"/>
              </a:rPr>
              <a:t>Motivation pour REST 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2676525"/>
            <a:ext cx="11130608" cy="3597470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algn="just">
              <a:buClr>
                <a:srgbClr val="FF0000"/>
              </a:buClr>
              <a:defRPr/>
            </a:pPr>
            <a:r>
              <a:rPr lang="fr-FR" sz="2800" dirty="0">
                <a:cs typeface="Arial" pitchFamily="34" charset="0"/>
              </a:rPr>
              <a:t>REST peut être géré en cache</a:t>
            </a:r>
            <a:r>
              <a:rPr lang="fr-FR" sz="2400" dirty="0">
                <a:cs typeface="Arial" pitchFamily="34" charset="0"/>
              </a:rPr>
              <a:t> </a:t>
            </a:r>
            <a:r>
              <a:rPr lang="fr-FR" dirty="0">
                <a:cs typeface="Arial" pitchFamily="34" charset="0"/>
              </a:rPr>
              <a:t>(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nécessite une configuration spécifique dans l’entête</a:t>
            </a:r>
            <a:r>
              <a:rPr lang="fr-FR" dirty="0">
                <a:cs typeface="Arial" pitchFamily="34" charset="0"/>
              </a:rPr>
              <a:t>)</a:t>
            </a:r>
            <a:endParaRPr lang="fr-FR" sz="2800" dirty="0">
              <a:cs typeface="Arial" pitchFamily="34" charset="0"/>
            </a:endParaRPr>
          </a:p>
          <a:p>
            <a:pPr lvl="1" algn="just">
              <a:buClr>
                <a:srgbClr val="FF0000"/>
              </a:buClr>
              <a:buNone/>
              <a:defRPr/>
            </a:pPr>
            <a:r>
              <a:rPr lang="fr-FR" sz="2400" dirty="0">
                <a:cs typeface="Arial" pitchFamily="34" charset="0"/>
              </a:rPr>
              <a:t>    Mise en cache possible : l</a:t>
            </a:r>
            <a:r>
              <a:rPr lang="fr-FR" sz="2400" dirty="0"/>
              <a:t>es réponses aux requêtes peuvent être stockées temporairement pour être réutilisées sans nécessiter un nouveau traitement. </a:t>
            </a:r>
            <a:endParaRPr lang="fr-FR" sz="2400" dirty="0">
              <a:cs typeface="Arial" pitchFamily="34" charset="0"/>
            </a:endParaRPr>
          </a:p>
          <a:p>
            <a:pPr marL="176212" lvl="1" indent="0" algn="just">
              <a:buClr>
                <a:srgbClr val="FF0000"/>
              </a:buClr>
              <a:buNone/>
              <a:defRPr/>
            </a:pPr>
            <a:r>
              <a:rPr lang="fr-FR" sz="2400" dirty="0">
                <a:solidFill>
                  <a:schemeClr val="accent3"/>
                </a:solidFill>
                <a:cs typeface="Arial" pitchFamily="34" charset="0"/>
                <a:sym typeface="Wingdings" panose="05000000000000000000" pitchFamily="2" charset="2"/>
              </a:rPr>
              <a:t>  </a:t>
            </a:r>
            <a:r>
              <a:rPr lang="fr-FR" sz="2400" dirty="0"/>
              <a:t>Temps de Réponse Amélioré</a:t>
            </a:r>
          </a:p>
          <a:p>
            <a:pPr marL="176212" lvl="1" indent="0" algn="just">
              <a:buClr>
                <a:srgbClr val="FF0000"/>
              </a:buClr>
              <a:buNone/>
              <a:defRPr/>
            </a:pPr>
            <a:r>
              <a:rPr lang="fr-FR" sz="2400" dirty="0">
                <a:cs typeface="Arial" pitchFamily="34" charset="0"/>
              </a:rPr>
              <a:t> </a:t>
            </a:r>
            <a:r>
              <a:rPr lang="fr-FR" sz="2400" dirty="0">
                <a:solidFill>
                  <a:schemeClr val="accent3"/>
                </a:solidFill>
                <a:cs typeface="Arial" pitchFamily="34" charset="0"/>
                <a:sym typeface="Wingdings" panose="05000000000000000000" pitchFamily="2" charset="2"/>
              </a:rPr>
              <a:t> </a:t>
            </a:r>
            <a:r>
              <a:rPr lang="fr-FR" sz="2400" dirty="0">
                <a:cs typeface="Arial" pitchFamily="34" charset="0"/>
              </a:rPr>
              <a:t>Réduction de la Charge</a:t>
            </a:r>
          </a:p>
          <a:p>
            <a:pPr marL="101600" lvl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fr-FR" b="1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8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0290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Architecture RESTful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EEC5A7-D6F5-C27D-DBB8-C4CF9F26DE1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9</a:t>
            </a:fld>
            <a:endParaRPr lang="fr-FR" dirty="0">
              <a:latin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3E19EF0-6424-0CE8-DC1A-1CC3AAC4EF3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58400" y="2544169"/>
            <a:ext cx="933276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75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sz="4400" dirty="0"/>
              <a:t>Fonctionnement </a:t>
            </a:r>
            <a:endParaRPr lang="fr-FR" dirty="0">
              <a:sym typeface="Times New Roman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10</a:t>
            </a:fld>
            <a:endParaRPr lang="fr-FR" dirty="0">
              <a:latin typeface="+mn-lt"/>
            </a:endParaRPr>
          </a:p>
        </p:txBody>
      </p:sp>
      <p:sp>
        <p:nvSpPr>
          <p:cNvPr id="4" name="Rectangle à coins arrondis 24">
            <a:extLst>
              <a:ext uri="{FF2B5EF4-FFF2-40B4-BE49-F238E27FC236}">
                <a16:creationId xmlns:a16="http://schemas.microsoft.com/office/drawing/2014/main" id="{C71C375E-5C43-6FBA-0686-F6B7A48470C9}"/>
              </a:ext>
            </a:extLst>
          </p:cNvPr>
          <p:cNvSpPr/>
          <p:nvPr/>
        </p:nvSpPr>
        <p:spPr>
          <a:xfrm>
            <a:off x="142935" y="2411313"/>
            <a:ext cx="5183716" cy="316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" name="Rectangle à coins arrondis 25">
            <a:extLst>
              <a:ext uri="{FF2B5EF4-FFF2-40B4-BE49-F238E27FC236}">
                <a16:creationId xmlns:a16="http://schemas.microsoft.com/office/drawing/2014/main" id="{2923DA88-98D2-8CAB-7EB0-F931BEF48100}"/>
              </a:ext>
            </a:extLst>
          </p:cNvPr>
          <p:cNvSpPr/>
          <p:nvPr/>
        </p:nvSpPr>
        <p:spPr>
          <a:xfrm>
            <a:off x="6575483" y="2411313"/>
            <a:ext cx="5520267" cy="316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1E9FDEA3-6431-9EC1-F484-26F0CF3EE73B}"/>
              </a:ext>
            </a:extLst>
          </p:cNvPr>
          <p:cNvSpPr/>
          <p:nvPr/>
        </p:nvSpPr>
        <p:spPr>
          <a:xfrm>
            <a:off x="8687917" y="2771675"/>
            <a:ext cx="1729317" cy="259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7" name="Picture 6" descr="C:\Users\user\Desktop\can-stock-photo_csp2482297.jpg">
            <a:extLst>
              <a:ext uri="{FF2B5EF4-FFF2-40B4-BE49-F238E27FC236}">
                <a16:creationId xmlns:a16="http://schemas.microsoft.com/office/drawing/2014/main" id="{0CEC4C0B-33CA-CB32-4065-92730D325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48584" y="3300314"/>
            <a:ext cx="986367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 descr="C:\Users\user\Desktop\can-stock-photo_csp2482297.jpg">
            <a:extLst>
              <a:ext uri="{FF2B5EF4-FFF2-40B4-BE49-F238E27FC236}">
                <a16:creationId xmlns:a16="http://schemas.microsoft.com/office/drawing/2014/main" id="{1D09CA04-16A5-F57E-2FFD-E81C47837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48584" y="3995638"/>
            <a:ext cx="98636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 descr="C:\Users\user\Desktop\can-stock-photo_csp2482297.jpg">
            <a:extLst>
              <a:ext uri="{FF2B5EF4-FFF2-40B4-BE49-F238E27FC236}">
                <a16:creationId xmlns:a16="http://schemas.microsoft.com/office/drawing/2014/main" id="{F792CA5F-8151-B443-2E22-465F9E87A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9935" y="3300314"/>
            <a:ext cx="986367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 descr="C:\Users\user\Desktop\can-stock-photo_csp2482297.jpg">
            <a:extLst>
              <a:ext uri="{FF2B5EF4-FFF2-40B4-BE49-F238E27FC236}">
                <a16:creationId xmlns:a16="http://schemas.microsoft.com/office/drawing/2014/main" id="{0F124CF0-0557-39E3-0F78-6711ABE1F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935" y="3995638"/>
            <a:ext cx="98636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F2773C9-882F-1AF3-C75C-890207E49E01}"/>
              </a:ext>
            </a:extLst>
          </p:cNvPr>
          <p:cNvCxnSpPr>
            <a:cxnSpLocks/>
          </p:cNvCxnSpPr>
          <p:nvPr/>
        </p:nvCxnSpPr>
        <p:spPr>
          <a:xfrm flipH="1">
            <a:off x="3676450" y="4282975"/>
            <a:ext cx="403485" cy="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D3C7AAE-9AD9-890C-8A5F-4A69EE1E78CE}"/>
              </a:ext>
            </a:extLst>
          </p:cNvPr>
          <p:cNvCxnSpPr/>
          <p:nvPr/>
        </p:nvCxnSpPr>
        <p:spPr>
          <a:xfrm>
            <a:off x="3118968" y="3779738"/>
            <a:ext cx="960967" cy="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7" descr="C:\Users\user\Desktop\clip-art-enveloppe_420058.jpg">
            <a:extLst>
              <a:ext uri="{FF2B5EF4-FFF2-40B4-BE49-F238E27FC236}">
                <a16:creationId xmlns:a16="http://schemas.microsoft.com/office/drawing/2014/main" id="{B89AFAEA-A003-4DD7-4156-355C6E09E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880535" y="3490814"/>
            <a:ext cx="1051983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ZoneTexte 88">
            <a:extLst>
              <a:ext uri="{FF2B5EF4-FFF2-40B4-BE49-F238E27FC236}">
                <a16:creationId xmlns:a16="http://schemas.microsoft.com/office/drawing/2014/main" id="{2AA19D03-7CF8-EA5F-E49C-003179151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217" y="2843114"/>
            <a:ext cx="1153584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/>
              <a:t>Appel</a:t>
            </a:r>
          </a:p>
        </p:txBody>
      </p:sp>
      <p:sp>
        <p:nvSpPr>
          <p:cNvPr id="18" name="ZoneTexte 89">
            <a:extLst>
              <a:ext uri="{FF2B5EF4-FFF2-40B4-BE49-F238E27FC236}">
                <a16:creationId xmlns:a16="http://schemas.microsoft.com/office/drawing/2014/main" id="{258AD9EB-10B0-87EF-DFBA-0B2F70F94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216" y="4787800"/>
            <a:ext cx="1441451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1600" b="1"/>
              <a:t>Réponse</a:t>
            </a:r>
          </a:p>
        </p:txBody>
      </p:sp>
      <p:sp>
        <p:nvSpPr>
          <p:cNvPr id="23" name="ZoneTexte 91">
            <a:extLst>
              <a:ext uri="{FF2B5EF4-FFF2-40B4-BE49-F238E27FC236}">
                <a16:creationId xmlns:a16="http://schemas.microsoft.com/office/drawing/2014/main" id="{8E6C06E5-456C-D05C-8BC6-CACCEAD9D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379" y="3738430"/>
            <a:ext cx="115146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 dirty="0">
                <a:solidFill>
                  <a:srgbClr val="FF0000"/>
                </a:solidFill>
              </a:rPr>
              <a:t>HTTP</a:t>
            </a:r>
          </a:p>
        </p:txBody>
      </p:sp>
      <p:sp>
        <p:nvSpPr>
          <p:cNvPr id="24" name="ZoneTexte 92">
            <a:extLst>
              <a:ext uri="{FF2B5EF4-FFF2-40B4-BE49-F238E27FC236}">
                <a16:creationId xmlns:a16="http://schemas.microsoft.com/office/drawing/2014/main" id="{93F3A37E-0EF2-2EAC-764B-AC5080D27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84" y="5643464"/>
            <a:ext cx="172931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>
                <a:solidFill>
                  <a:schemeClr val="accent3">
                    <a:lumMod val="50000"/>
                  </a:schemeClr>
                </a:solidFill>
              </a:rPr>
              <a:t>Client</a:t>
            </a:r>
          </a:p>
        </p:txBody>
      </p:sp>
      <p:sp>
        <p:nvSpPr>
          <p:cNvPr id="25" name="ZoneTexte 93">
            <a:extLst>
              <a:ext uri="{FF2B5EF4-FFF2-40B4-BE49-F238E27FC236}">
                <a16:creationId xmlns:a16="http://schemas.microsoft.com/office/drawing/2014/main" id="{03CD30F2-F602-93DE-B3DC-C8D68ACD1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2667" y="5714900"/>
            <a:ext cx="1727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 dirty="0">
                <a:solidFill>
                  <a:schemeClr val="accent3">
                    <a:lumMod val="50000"/>
                  </a:schemeClr>
                </a:solidFill>
              </a:rPr>
              <a:t>Serveur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62DE9E1D-B30D-FB7E-CCA9-697C713CA32B}"/>
              </a:ext>
            </a:extLst>
          </p:cNvPr>
          <p:cNvCxnSpPr/>
          <p:nvPr/>
        </p:nvCxnSpPr>
        <p:spPr>
          <a:xfrm flipV="1">
            <a:off x="9401921" y="4427438"/>
            <a:ext cx="2116" cy="36036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9594D31-F9D5-13C5-C6F5-A91F0ACF1C60}"/>
              </a:ext>
            </a:extLst>
          </p:cNvPr>
          <p:cNvSpPr/>
          <p:nvPr/>
        </p:nvSpPr>
        <p:spPr>
          <a:xfrm>
            <a:off x="10512483" y="3274914"/>
            <a:ext cx="1583267" cy="10810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</a:rPr>
              <a:t>Serveur</a:t>
            </a:r>
          </a:p>
        </p:txBody>
      </p:sp>
      <p:sp>
        <p:nvSpPr>
          <p:cNvPr id="29" name="ZoneTexte 90">
            <a:extLst>
              <a:ext uri="{FF2B5EF4-FFF2-40B4-BE49-F238E27FC236}">
                <a16:creationId xmlns:a16="http://schemas.microsoft.com/office/drawing/2014/main" id="{00F8122F-D737-0165-7CBF-E91694183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6450" y="2642400"/>
            <a:ext cx="1727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 dirty="0"/>
              <a:t>Messages</a:t>
            </a:r>
          </a:p>
          <a:p>
            <a:pPr algn="ctr"/>
            <a:r>
              <a:rPr lang="fr-FR" altLang="fr-FR" sz="1600" b="1" dirty="0"/>
              <a:t>HTTP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23258114-0AF8-F8E9-952D-6CD6E241BF75}"/>
              </a:ext>
            </a:extLst>
          </p:cNvPr>
          <p:cNvSpPr/>
          <p:nvPr/>
        </p:nvSpPr>
        <p:spPr>
          <a:xfrm>
            <a:off x="1853999" y="2771675"/>
            <a:ext cx="1822451" cy="259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F602AC-1991-57BE-50E3-7DB02A000D86}"/>
              </a:ext>
            </a:extLst>
          </p:cNvPr>
          <p:cNvSpPr/>
          <p:nvPr/>
        </p:nvSpPr>
        <p:spPr>
          <a:xfrm>
            <a:off x="219933" y="3274914"/>
            <a:ext cx="1536700" cy="10810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400" b="1" dirty="0">
                <a:solidFill>
                  <a:srgbClr val="002060"/>
                </a:solidFill>
              </a:rPr>
              <a:t>Application Cliente</a:t>
            </a:r>
          </a:p>
        </p:txBody>
      </p:sp>
      <p:sp>
        <p:nvSpPr>
          <p:cNvPr id="32" name="Carré corné 57">
            <a:extLst>
              <a:ext uri="{FF2B5EF4-FFF2-40B4-BE49-F238E27FC236}">
                <a16:creationId xmlns:a16="http://schemas.microsoft.com/office/drawing/2014/main" id="{7D900C14-37A5-2798-4C1D-96B801F78D03}"/>
              </a:ext>
            </a:extLst>
          </p:cNvPr>
          <p:cNvSpPr/>
          <p:nvPr/>
        </p:nvSpPr>
        <p:spPr>
          <a:xfrm>
            <a:off x="2034614" y="4787799"/>
            <a:ext cx="970853" cy="678037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200" b="1" dirty="0">
                <a:solidFill>
                  <a:srgbClr val="FF0000"/>
                </a:solidFill>
              </a:rPr>
              <a:t>Parseur XML, JSON, </a:t>
            </a:r>
            <a:r>
              <a:rPr lang="fr-FR" sz="1200" b="1" dirty="0" err="1">
                <a:solidFill>
                  <a:srgbClr val="FF0000"/>
                </a:solidFill>
              </a:rPr>
              <a:t>etc</a:t>
            </a:r>
            <a:endParaRPr lang="fr-FR" sz="1200" b="1" dirty="0">
              <a:solidFill>
                <a:srgbClr val="FF0000"/>
              </a:solidFill>
            </a:endParaRP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507C9AE2-6368-9BF6-B0A3-9EBCF520ED14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2520041" y="4427438"/>
            <a:ext cx="7059" cy="36036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7" descr="C:\Users\user\Desktop\clip-art-enveloppe_420058.jpg">
            <a:extLst>
              <a:ext uri="{FF2B5EF4-FFF2-40B4-BE49-F238E27FC236}">
                <a16:creationId xmlns:a16="http://schemas.microsoft.com/office/drawing/2014/main" id="{B33075C4-236F-0317-6001-78C42F594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71735" y="3490814"/>
            <a:ext cx="1147233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7487A46-2693-4E42-1F90-756BB45697FC}"/>
              </a:ext>
            </a:extLst>
          </p:cNvPr>
          <p:cNvCxnSpPr/>
          <p:nvPr/>
        </p:nvCxnSpPr>
        <p:spPr>
          <a:xfrm flipH="1">
            <a:off x="5066300" y="4319488"/>
            <a:ext cx="2182283" cy="0"/>
          </a:xfrm>
          <a:prstGeom prst="straightConnector1">
            <a:avLst/>
          </a:prstGeom>
          <a:ln w="444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EEE4C12-A107-FA68-4858-8247F20D6B8D}"/>
              </a:ext>
            </a:extLst>
          </p:cNvPr>
          <p:cNvCxnSpPr/>
          <p:nvPr/>
        </p:nvCxnSpPr>
        <p:spPr>
          <a:xfrm>
            <a:off x="5066300" y="3611463"/>
            <a:ext cx="2182283" cy="0"/>
          </a:xfrm>
          <a:prstGeom prst="straightConnector1">
            <a:avLst/>
          </a:prstGeom>
          <a:ln w="444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rré corné 57">
            <a:extLst>
              <a:ext uri="{FF2B5EF4-FFF2-40B4-BE49-F238E27FC236}">
                <a16:creationId xmlns:a16="http://schemas.microsoft.com/office/drawing/2014/main" id="{DFD4FC3B-364A-62D5-7456-6447AA86716C}"/>
              </a:ext>
            </a:extLst>
          </p:cNvPr>
          <p:cNvSpPr/>
          <p:nvPr/>
        </p:nvSpPr>
        <p:spPr>
          <a:xfrm>
            <a:off x="8882783" y="4777968"/>
            <a:ext cx="970853" cy="678037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200" b="1" dirty="0">
                <a:solidFill>
                  <a:srgbClr val="FF0000"/>
                </a:solidFill>
              </a:rPr>
              <a:t>Parseur XML, JSON, </a:t>
            </a:r>
            <a:r>
              <a:rPr lang="fr-FR" sz="1200" b="1" dirty="0" err="1">
                <a:solidFill>
                  <a:srgbClr val="FF0000"/>
                </a:solidFill>
              </a:rPr>
              <a:t>etc</a:t>
            </a:r>
            <a:endParaRPr lang="fr-FR" sz="1200" b="1" dirty="0">
              <a:solidFill>
                <a:srgbClr val="FF0000"/>
              </a:solidFill>
            </a:endParaRPr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D319C0D0-337A-1948-490B-60E1452B4343}"/>
              </a:ext>
            </a:extLst>
          </p:cNvPr>
          <p:cNvCxnSpPr>
            <a:cxnSpLocks/>
          </p:cNvCxnSpPr>
          <p:nvPr/>
        </p:nvCxnSpPr>
        <p:spPr>
          <a:xfrm flipH="1">
            <a:off x="8223866" y="4287895"/>
            <a:ext cx="403485" cy="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FA1B0F1-2AEE-1D46-6F29-DEBAC0BCE40B}"/>
              </a:ext>
            </a:extLst>
          </p:cNvPr>
          <p:cNvCxnSpPr>
            <a:cxnSpLocks/>
          </p:cNvCxnSpPr>
          <p:nvPr/>
        </p:nvCxnSpPr>
        <p:spPr>
          <a:xfrm>
            <a:off x="8234951" y="3784658"/>
            <a:ext cx="421896" cy="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32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Principes</a:t>
            </a:r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11</a:t>
            </a:fld>
            <a:endParaRPr lang="fr-FR" dirty="0">
              <a:latin typeface="+mn-lt"/>
            </a:endParaRPr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7D665A25-4F92-2252-54C0-E24E0631B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466" y="4313891"/>
            <a:ext cx="18154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sz="2000" b="1">
                <a:solidFill>
                  <a:srgbClr val="0070C0"/>
                </a:solidFill>
              </a:rPr>
              <a:t>Représentation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10F1FA41-FFAE-1D72-ED2E-F0E245162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9967" y="2242205"/>
            <a:ext cx="5261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b="1" dirty="0">
                <a:solidFill>
                  <a:srgbClr val="0070C0"/>
                </a:solidFill>
              </a:rPr>
              <a:t>URI</a:t>
            </a:r>
          </a:p>
        </p:txBody>
      </p:sp>
      <p:sp>
        <p:nvSpPr>
          <p:cNvPr id="5" name="ZoneTexte 7">
            <a:extLst>
              <a:ext uri="{FF2B5EF4-FFF2-40B4-BE49-F238E27FC236}">
                <a16:creationId xmlns:a16="http://schemas.microsoft.com/office/drawing/2014/main" id="{BF378637-6CD5-D61F-86CF-DA80CC68D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217" y="3242329"/>
            <a:ext cx="12608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sz="2000" b="1">
                <a:solidFill>
                  <a:srgbClr val="0070C0"/>
                </a:solidFill>
              </a:rPr>
              <a:t>Ressource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3DC7B359-3D39-675D-5BD8-24A885417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86467" y="4313892"/>
            <a:ext cx="1665817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à coins arrondis 11">
            <a:extLst>
              <a:ext uri="{FF2B5EF4-FFF2-40B4-BE49-F238E27FC236}">
                <a16:creationId xmlns:a16="http://schemas.microsoft.com/office/drawing/2014/main" id="{328ED8A9-4F9D-7DDE-C152-009F7012A19F}"/>
              </a:ext>
            </a:extLst>
          </p:cNvPr>
          <p:cNvSpPr/>
          <p:nvPr/>
        </p:nvSpPr>
        <p:spPr>
          <a:xfrm>
            <a:off x="2295217" y="2670830"/>
            <a:ext cx="3619500" cy="428625"/>
          </a:xfrm>
          <a:prstGeom prst="round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/>
              <a:t>http://weather.com/tunis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279EBA7-D910-AE8E-5805-C2E748BBDED1}"/>
              </a:ext>
            </a:extLst>
          </p:cNvPr>
          <p:cNvSpPr/>
          <p:nvPr/>
        </p:nvSpPr>
        <p:spPr>
          <a:xfrm>
            <a:off x="7533966" y="3599516"/>
            <a:ext cx="4191000" cy="642938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/>
                </a:solidFill>
              </a:rPr>
              <a:t>La météo de Tunis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CAB3A40F-1D08-F3EC-42A1-F4106CA7B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90467" y="4742516"/>
            <a:ext cx="2676881" cy="2053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http://t0.gstatic.com/images?q=tbn:ANd9GcSrGRbXGcqxmq8AVXB11SfJm6B17X1pQjmvfASkWe4diKEwFi3T">
            <a:extLst>
              <a:ext uri="{FF2B5EF4-FFF2-40B4-BE49-F238E27FC236}">
                <a16:creationId xmlns:a16="http://schemas.microsoft.com/office/drawing/2014/main" id="{41858CBD-86EC-28E0-DD3D-F4EBCA3F3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9268998">
            <a:off x="5609917" y="4145617"/>
            <a:ext cx="2042583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6">
            <a:extLst>
              <a:ext uri="{FF2B5EF4-FFF2-40B4-BE49-F238E27FC236}">
                <a16:creationId xmlns:a16="http://schemas.microsoft.com/office/drawing/2014/main" id="{2D45D584-914E-7BB5-EBA6-70FEFA40B7C4}"/>
              </a:ext>
            </a:extLst>
          </p:cNvPr>
          <p:cNvSpPr txBox="1">
            <a:spLocks noChangeArrowheads="1"/>
          </p:cNvSpPr>
          <p:nvPr/>
        </p:nvSpPr>
        <p:spPr bwMode="auto">
          <a:xfrm rot="-1578405">
            <a:off x="5852643" y="4275275"/>
            <a:ext cx="12502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dirty="0"/>
              <a:t>Représente</a:t>
            </a:r>
          </a:p>
        </p:txBody>
      </p:sp>
      <p:pic>
        <p:nvPicPr>
          <p:cNvPr id="12" name="Picture 2" descr="http://t0.gstatic.com/images?q=tbn:ANd9GcSrGRbXGcqxmq8AVXB11SfJm6B17X1pQjmvfASkWe4diKEwFi3T">
            <a:extLst>
              <a:ext uri="{FF2B5EF4-FFF2-40B4-BE49-F238E27FC236}">
                <a16:creationId xmlns:a16="http://schemas.microsoft.com/office/drawing/2014/main" id="{51BA89F9-1907-ABEA-EB10-D0610D183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-8284081">
            <a:off x="5897783" y="3197880"/>
            <a:ext cx="1837267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ZoneTexte 18">
            <a:extLst>
              <a:ext uri="{FF2B5EF4-FFF2-40B4-BE49-F238E27FC236}">
                <a16:creationId xmlns:a16="http://schemas.microsoft.com/office/drawing/2014/main" id="{61DA8DDD-8A3C-0960-6C0A-3A70A7FB71FA}"/>
              </a:ext>
            </a:extLst>
          </p:cNvPr>
          <p:cNvSpPr txBox="1">
            <a:spLocks noChangeArrowheads="1"/>
          </p:cNvSpPr>
          <p:nvPr/>
        </p:nvSpPr>
        <p:spPr bwMode="auto">
          <a:xfrm rot="2290621">
            <a:off x="6193764" y="3144182"/>
            <a:ext cx="9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dirty="0"/>
              <a:t>Identifie</a:t>
            </a:r>
          </a:p>
        </p:txBody>
      </p:sp>
    </p:spTree>
    <p:extLst>
      <p:ext uri="{BB962C8B-B14F-4D97-AF65-F5344CB8AC3E}">
        <p14:creationId xmlns:p14="http://schemas.microsoft.com/office/powerpoint/2010/main" val="2939315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Principes</a:t>
            </a:r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12</a:t>
            </a:fld>
            <a:endParaRPr lang="fr-FR" dirty="0">
              <a:latin typeface="+mn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EDDAD2-D032-4A34-5F57-91239421EC5A}"/>
              </a:ext>
            </a:extLst>
          </p:cNvPr>
          <p:cNvSpPr txBox="1"/>
          <p:nvPr/>
        </p:nvSpPr>
        <p:spPr>
          <a:xfrm>
            <a:off x="575185" y="2389241"/>
            <a:ext cx="10972800" cy="447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  <a:defRPr/>
            </a:pP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Ressources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 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(</a:t>
            </a: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Identifiées par URI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)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  <a:defRPr/>
            </a:pPr>
            <a:r>
              <a:rPr lang="fr-FR" altLang="fr-FR" sz="2000" b="1" dirty="0">
                <a:solidFill>
                  <a:schemeClr val="bg1"/>
                </a:solidFill>
                <a:cs typeface="Arial" pitchFamily="34" charset="0"/>
              </a:rPr>
              <a:t>        </a:t>
            </a: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Exemple : URL http://localhost:8080/libraryrestwebservice/books/</a:t>
            </a:r>
            <a:r>
              <a:rPr lang="fr-FR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</a:rPr>
              <a:t>Victor </a:t>
            </a:r>
            <a:r>
              <a:rPr lang="fr-FR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</a:rPr>
              <a:t>Hugo?edition</a:t>
            </a:r>
            <a:r>
              <a:rPr lang="fr-FR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</a:rPr>
              <a:t>=1856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  <a:defRPr/>
            </a:pPr>
            <a:r>
              <a:rPr kumimoji="0" lang="fr-FR" altLang="fr-FR" sz="180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highlight>
                  <a:srgbClr val="FFFFFF"/>
                </a:highlight>
                <a:uLnTx/>
                <a:uFillTx/>
                <a:ea typeface="+mn-ea"/>
                <a:cs typeface="Arial" pitchFamily="34" charset="0"/>
              </a:rPr>
              <a:t>                          URI </a:t>
            </a: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http://localhost:8080/libraryrestwebservice/books/</a:t>
            </a:r>
            <a:r>
              <a:rPr lang="fr-FR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</a:rPr>
              <a:t>Victor Hugo</a:t>
            </a:r>
            <a:endParaRPr kumimoji="0" lang="fr-FR" alt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Méthodes</a:t>
            </a:r>
          </a:p>
          <a:p>
            <a:pPr marL="265113" marR="0" lvl="0" indent="192088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Char char="•"/>
              <a:tabLst>
                <a:tab pos="900113" algn="l"/>
              </a:tabLst>
              <a:defRPr/>
            </a:pP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Une ressource quelconque peut subir quatre 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opérations</a:t>
            </a: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de base désignées par 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CRUD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: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lang="fr-FR" altLang="fr-FR" sz="2000" b="1" dirty="0">
                <a:solidFill>
                  <a:prstClr val="black"/>
                </a:solidFill>
                <a:cs typeface="Arial" pitchFamily="34" charset="0"/>
              </a:rPr>
              <a:t>      </a:t>
            </a:r>
            <a:r>
              <a:rPr kumimoji="0" lang="fr-FR" alt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C</a:t>
            </a:r>
            <a:r>
              <a:rPr kumimoji="0" lang="fr-FR" alt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reate</a:t>
            </a: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(Créer)      </a:t>
            </a:r>
            <a:r>
              <a:rPr kumimoji="0" lang="fr-FR" alt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R</a:t>
            </a:r>
            <a:r>
              <a:rPr kumimoji="0" lang="fr-FR" alt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etrieve</a:t>
            </a: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(Lire)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    U</a:t>
            </a: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pdate (mettre à jour)     </a:t>
            </a:r>
            <a:r>
              <a:rPr kumimoji="0" lang="fr-FR" alt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D</a:t>
            </a:r>
            <a:r>
              <a:rPr kumimoji="0" lang="fr-FR" alt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elete</a:t>
            </a:r>
            <a:r>
              <a:rPr kumimoji="0" lang="fr-FR" alt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(Supprimer)</a:t>
            </a:r>
          </a:p>
          <a:p>
            <a:pPr marL="265113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>
                <a:tab pos="900113" algn="l"/>
              </a:tabLst>
              <a:defRPr/>
            </a:pPr>
            <a:endParaRPr kumimoji="0" lang="fr-FR" alt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265113" marR="0" lvl="2" indent="192088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Char char="•"/>
              <a:tabLst>
                <a:tab pos="900113" algn="l"/>
              </a:tabLst>
              <a:defRPr/>
            </a:pPr>
            <a:r>
              <a:rPr kumimoji="0" lang="en-US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en-US" alt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Méthodes</a:t>
            </a:r>
            <a:r>
              <a:rPr kumimoji="0" lang="en-US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HTTP : GET, POST, PUT, DELETE, etc.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Représentation</a:t>
            </a:r>
            <a:r>
              <a:rPr kumimoji="0" lang="fr-FR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endParaRPr kumimoji="0" lang="fr-FR" alt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354013" marR="0" lvl="2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Informations transférées entre le client et le serveur:  XML, </a:t>
            </a:r>
            <a:r>
              <a:rPr kumimoji="0" lang="fr-FR" alt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Text</a:t>
            </a: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, JSON, HTML</a:t>
            </a:r>
          </a:p>
          <a:p>
            <a:pPr marL="354013" marR="0" lvl="2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lang="fr-FR" altLang="fr-FR" sz="1800" dirty="0">
                <a:solidFill>
                  <a:schemeClr val="bg1"/>
                </a:solidFill>
                <a:cs typeface="Arial" pitchFamily="34" charset="0"/>
              </a:rPr>
              <a:t>Les formats d’entrée et de sortie peuvent être différents.</a:t>
            </a: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9492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Approche de développement 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13</a:t>
            </a:fld>
            <a:endParaRPr lang="fr-FR" dirty="0">
              <a:latin typeface="+mn-lt"/>
            </a:endParaRPr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03395B25-2581-032B-DD8D-D013767D7474}"/>
              </a:ext>
            </a:extLst>
          </p:cNvPr>
          <p:cNvSpPr/>
          <p:nvPr/>
        </p:nvSpPr>
        <p:spPr>
          <a:xfrm>
            <a:off x="7495032" y="2689194"/>
            <a:ext cx="3839633" cy="3527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5" name="Rectangle à coins arrondis 9">
            <a:extLst>
              <a:ext uri="{FF2B5EF4-FFF2-40B4-BE49-F238E27FC236}">
                <a16:creationId xmlns:a16="http://schemas.microsoft.com/office/drawing/2014/main" id="{A9003CE1-629D-DDD6-9E3C-B4BE6B54D17A}"/>
              </a:ext>
            </a:extLst>
          </p:cNvPr>
          <p:cNvSpPr/>
          <p:nvPr/>
        </p:nvSpPr>
        <p:spPr>
          <a:xfrm>
            <a:off x="8116234" y="3263868"/>
            <a:ext cx="2688167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/>
              <a:t>Librairies nécessaires</a:t>
            </a:r>
          </a:p>
        </p:txBody>
      </p:sp>
      <p:sp>
        <p:nvSpPr>
          <p:cNvPr id="6" name="Carré corné 10">
            <a:extLst>
              <a:ext uri="{FF2B5EF4-FFF2-40B4-BE49-F238E27FC236}">
                <a16:creationId xmlns:a16="http://schemas.microsoft.com/office/drawing/2014/main" id="{5AEA0B54-C798-2C8E-96B0-B41FBFC06677}"/>
              </a:ext>
            </a:extLst>
          </p:cNvPr>
          <p:cNvSpPr/>
          <p:nvPr/>
        </p:nvSpPr>
        <p:spPr>
          <a:xfrm>
            <a:off x="8646496" y="4848194"/>
            <a:ext cx="1595918" cy="936625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Implémentation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4E16DC3-8BE3-3218-94CA-94312A019915}"/>
              </a:ext>
            </a:extLst>
          </p:cNvPr>
          <p:cNvCxnSpPr/>
          <p:nvPr/>
        </p:nvCxnSpPr>
        <p:spPr>
          <a:xfrm flipV="1">
            <a:off x="9460317" y="4129057"/>
            <a:ext cx="0" cy="7191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ube 11">
            <a:extLst>
              <a:ext uri="{FF2B5EF4-FFF2-40B4-BE49-F238E27FC236}">
                <a16:creationId xmlns:a16="http://schemas.microsoft.com/office/drawing/2014/main" id="{62A911D4-D697-E127-192B-F5099502A337}"/>
              </a:ext>
            </a:extLst>
          </p:cNvPr>
          <p:cNvSpPr/>
          <p:nvPr/>
        </p:nvSpPr>
        <p:spPr>
          <a:xfrm>
            <a:off x="5372973" y="2976531"/>
            <a:ext cx="1344084" cy="2303462"/>
          </a:xfrm>
          <a:prstGeom prst="cub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" name="Rectangle à coins arrondis 28">
            <a:extLst>
              <a:ext uri="{FF2B5EF4-FFF2-40B4-BE49-F238E27FC236}">
                <a16:creationId xmlns:a16="http://schemas.microsoft.com/office/drawing/2014/main" id="{8227489F-7360-7FEB-CEFB-BE13C9D98A63}"/>
              </a:ext>
            </a:extLst>
          </p:cNvPr>
          <p:cNvSpPr/>
          <p:nvPr/>
        </p:nvSpPr>
        <p:spPr>
          <a:xfrm>
            <a:off x="1350349" y="2832069"/>
            <a:ext cx="3168649" cy="33131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" name="Carré corné 29">
            <a:extLst>
              <a:ext uri="{FF2B5EF4-FFF2-40B4-BE49-F238E27FC236}">
                <a16:creationId xmlns:a16="http://schemas.microsoft.com/office/drawing/2014/main" id="{02262B89-8C26-5F89-4D40-5082C19D2A60}"/>
              </a:ext>
            </a:extLst>
          </p:cNvPr>
          <p:cNvSpPr/>
          <p:nvPr/>
        </p:nvSpPr>
        <p:spPr>
          <a:xfrm>
            <a:off x="3174915" y="3984593"/>
            <a:ext cx="960967" cy="863600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PHP</a:t>
            </a:r>
          </a:p>
        </p:txBody>
      </p:sp>
      <p:sp>
        <p:nvSpPr>
          <p:cNvPr id="15" name="Carré corné 30">
            <a:extLst>
              <a:ext uri="{FF2B5EF4-FFF2-40B4-BE49-F238E27FC236}">
                <a16:creationId xmlns:a16="http://schemas.microsoft.com/office/drawing/2014/main" id="{A9B2DEE6-16AF-D6B1-C9E4-DD12727A72B9}"/>
              </a:ext>
            </a:extLst>
          </p:cNvPr>
          <p:cNvSpPr/>
          <p:nvPr/>
        </p:nvSpPr>
        <p:spPr>
          <a:xfrm>
            <a:off x="1830832" y="4921218"/>
            <a:ext cx="1056217" cy="846138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.Net</a:t>
            </a:r>
          </a:p>
        </p:txBody>
      </p:sp>
      <p:sp>
        <p:nvSpPr>
          <p:cNvPr id="16" name="Carré corné 31">
            <a:extLst>
              <a:ext uri="{FF2B5EF4-FFF2-40B4-BE49-F238E27FC236}">
                <a16:creationId xmlns:a16="http://schemas.microsoft.com/office/drawing/2014/main" id="{F7C0C91E-9551-9292-EDC0-5A5AD5AB3295}"/>
              </a:ext>
            </a:extLst>
          </p:cNvPr>
          <p:cNvSpPr/>
          <p:nvPr/>
        </p:nvSpPr>
        <p:spPr>
          <a:xfrm>
            <a:off x="1830832" y="3192431"/>
            <a:ext cx="1056217" cy="863600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</a:p>
        </p:txBody>
      </p:sp>
      <p:sp>
        <p:nvSpPr>
          <p:cNvPr id="17" name="ZoneTexte 32">
            <a:extLst>
              <a:ext uri="{FF2B5EF4-FFF2-40B4-BE49-F238E27FC236}">
                <a16:creationId xmlns:a16="http://schemas.microsoft.com/office/drawing/2014/main" id="{EF3AC7FD-D5A3-A851-AB3B-68DA3125B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340" y="6299194"/>
            <a:ext cx="3647016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b="1">
                <a:solidFill>
                  <a:srgbClr val="002060"/>
                </a:solidFill>
              </a:rPr>
              <a:t>Couche Serveur</a:t>
            </a:r>
          </a:p>
        </p:txBody>
      </p:sp>
      <p:sp>
        <p:nvSpPr>
          <p:cNvPr id="18" name="ZoneTexte 33">
            <a:extLst>
              <a:ext uri="{FF2B5EF4-FFF2-40B4-BE49-F238E27FC236}">
                <a16:creationId xmlns:a16="http://schemas.microsoft.com/office/drawing/2014/main" id="{3B0C510A-9704-C11C-8BEB-71CD61B1F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088" y="6304527"/>
            <a:ext cx="364913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b="1">
                <a:solidFill>
                  <a:srgbClr val="002060"/>
                </a:solidFill>
              </a:rPr>
              <a:t>Couche Cliente</a:t>
            </a:r>
          </a:p>
        </p:txBody>
      </p:sp>
      <p:sp>
        <p:nvSpPr>
          <p:cNvPr id="23" name="ZoneTexte 34">
            <a:extLst>
              <a:ext uri="{FF2B5EF4-FFF2-40B4-BE49-F238E27FC236}">
                <a16:creationId xmlns:a16="http://schemas.microsoft.com/office/drawing/2014/main" id="{139C79B0-5B6A-4E8B-05FA-784B64D5A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4731" y="5353019"/>
            <a:ext cx="17293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b="1" dirty="0">
                <a:solidFill>
                  <a:srgbClr val="002060"/>
                </a:solidFill>
              </a:rPr>
              <a:t>Serveur d’application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363A61C-B601-DDA8-08D6-2F2104D1E945}"/>
              </a:ext>
            </a:extLst>
          </p:cNvPr>
          <p:cNvCxnSpPr/>
          <p:nvPr/>
        </p:nvCxnSpPr>
        <p:spPr>
          <a:xfrm flipH="1">
            <a:off x="4518997" y="3697256"/>
            <a:ext cx="863600" cy="0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38">
            <a:extLst>
              <a:ext uri="{FF2B5EF4-FFF2-40B4-BE49-F238E27FC236}">
                <a16:creationId xmlns:a16="http://schemas.microsoft.com/office/drawing/2014/main" id="{CCA2B0E0-879D-5A4A-7793-6CA79DBF2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881" y="3336894"/>
            <a:ext cx="1727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200" b="1">
                <a:solidFill>
                  <a:srgbClr val="C00000"/>
                </a:solidFill>
              </a:rPr>
              <a:t>WSDL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E344C377-384F-DB0F-1AC1-EA0C48C7B5D5}"/>
              </a:ext>
            </a:extLst>
          </p:cNvPr>
          <p:cNvCxnSpPr/>
          <p:nvPr/>
        </p:nvCxnSpPr>
        <p:spPr>
          <a:xfrm flipH="1">
            <a:off x="4518997" y="4705318"/>
            <a:ext cx="8636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BF99D5F7-0E86-F84F-C895-3D7D9F80B212}"/>
              </a:ext>
            </a:extLst>
          </p:cNvPr>
          <p:cNvCxnSpPr/>
          <p:nvPr/>
        </p:nvCxnSpPr>
        <p:spPr>
          <a:xfrm flipH="1">
            <a:off x="6726682" y="4056031"/>
            <a:ext cx="768349" cy="0"/>
          </a:xfrm>
          <a:prstGeom prst="straightConnector1">
            <a:avLst/>
          </a:prstGeom>
          <a:ln w="3175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78A567B7-80E8-7999-9C33-27AA58C6B88C}"/>
              </a:ext>
            </a:extLst>
          </p:cNvPr>
          <p:cNvCxnSpPr/>
          <p:nvPr/>
        </p:nvCxnSpPr>
        <p:spPr>
          <a:xfrm>
            <a:off x="6640056" y="4416393"/>
            <a:ext cx="863600" cy="0"/>
          </a:xfrm>
          <a:prstGeom prst="straightConnector1">
            <a:avLst/>
          </a:prstGeom>
          <a:ln w="31750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66">
            <a:extLst>
              <a:ext uri="{FF2B5EF4-FFF2-40B4-BE49-F238E27FC236}">
                <a16:creationId xmlns:a16="http://schemas.microsoft.com/office/drawing/2014/main" id="{748A6FA5-020A-5356-9E2E-2D5FF5D44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348" y="2193618"/>
            <a:ext cx="3168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altLang="fr-FR" sz="1400" i="1" dirty="0">
                <a:solidFill>
                  <a:srgbClr val="002060"/>
                </a:solidFill>
                <a:latin typeface="Arial Black" pitchFamily="34" charset="0"/>
              </a:rPr>
              <a:t>Développement des clients dans des langages différents 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257A5F97-31E2-2850-4EAE-3052AEBF9D42}"/>
              </a:ext>
            </a:extLst>
          </p:cNvPr>
          <p:cNvCxnSpPr>
            <a:cxnSpLocks/>
          </p:cNvCxnSpPr>
          <p:nvPr/>
        </p:nvCxnSpPr>
        <p:spPr>
          <a:xfrm flipV="1">
            <a:off x="11624648" y="2689194"/>
            <a:ext cx="0" cy="34559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72">
            <a:extLst>
              <a:ext uri="{FF2B5EF4-FFF2-40B4-BE49-F238E27FC236}">
                <a16:creationId xmlns:a16="http://schemas.microsoft.com/office/drawing/2014/main" id="{56D80D22-1403-CDE8-3159-A71E9B4D5E3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0517149" y="4432154"/>
            <a:ext cx="27368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 dirty="0">
                <a:solidFill>
                  <a:srgbClr val="C00000"/>
                </a:solidFill>
              </a:rPr>
              <a:t>Approche Bottom/Up</a:t>
            </a:r>
            <a:endParaRPr lang="fr-FR" altLang="fr-FR" b="1" dirty="0">
              <a:solidFill>
                <a:srgbClr val="C00000"/>
              </a:solidFill>
            </a:endParaRPr>
          </a:p>
        </p:txBody>
      </p:sp>
      <p:pic>
        <p:nvPicPr>
          <p:cNvPr id="34" name="Picture 2" descr="C:\Users\user\Desktop\jboss_icon.gif">
            <a:extLst>
              <a:ext uri="{FF2B5EF4-FFF2-40B4-BE49-F238E27FC236}">
                <a16:creationId xmlns:a16="http://schemas.microsoft.com/office/drawing/2014/main" id="{5559F611-6305-BF18-9226-B6065D0DC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9982" y="3855231"/>
            <a:ext cx="12065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" descr="C:\Users\user\Desktop\f87ffa0035704c8ccceafbe1bcd28989.media.130x92.png">
            <a:extLst>
              <a:ext uri="{FF2B5EF4-FFF2-40B4-BE49-F238E27FC236}">
                <a16:creationId xmlns:a16="http://schemas.microsoft.com/office/drawing/2014/main" id="{6891A58B-1D9D-6477-D281-B856635AB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0681" y="4349019"/>
            <a:ext cx="950384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Carré corné 38">
            <a:extLst>
              <a:ext uri="{FF2B5EF4-FFF2-40B4-BE49-F238E27FC236}">
                <a16:creationId xmlns:a16="http://schemas.microsoft.com/office/drawing/2014/main" id="{DE144464-D924-F0B1-18BF-8C8DC7FFD7C4}"/>
              </a:ext>
            </a:extLst>
          </p:cNvPr>
          <p:cNvSpPr/>
          <p:nvPr/>
        </p:nvSpPr>
        <p:spPr>
          <a:xfrm>
            <a:off x="8268497" y="5339349"/>
            <a:ext cx="581378" cy="397527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</a:p>
        </p:txBody>
      </p:sp>
      <p:sp>
        <p:nvSpPr>
          <p:cNvPr id="37" name="Carré corné 42">
            <a:extLst>
              <a:ext uri="{FF2B5EF4-FFF2-40B4-BE49-F238E27FC236}">
                <a16:creationId xmlns:a16="http://schemas.microsoft.com/office/drawing/2014/main" id="{C48DB3CC-0E08-BF14-638A-4C8A98DD4953}"/>
              </a:ext>
            </a:extLst>
          </p:cNvPr>
          <p:cNvSpPr/>
          <p:nvPr/>
        </p:nvSpPr>
        <p:spPr>
          <a:xfrm>
            <a:off x="8987177" y="5740403"/>
            <a:ext cx="488341" cy="291966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</a:t>
            </a:r>
          </a:p>
        </p:txBody>
      </p:sp>
      <p:sp>
        <p:nvSpPr>
          <p:cNvPr id="38" name="Carré corné 44">
            <a:extLst>
              <a:ext uri="{FF2B5EF4-FFF2-40B4-BE49-F238E27FC236}">
                <a16:creationId xmlns:a16="http://schemas.microsoft.com/office/drawing/2014/main" id="{9E5449D8-5DD0-2DE5-2BD1-94ECDC113CB4}"/>
              </a:ext>
            </a:extLst>
          </p:cNvPr>
          <p:cNvSpPr/>
          <p:nvPr/>
        </p:nvSpPr>
        <p:spPr>
          <a:xfrm>
            <a:off x="9322452" y="5892803"/>
            <a:ext cx="488341" cy="291966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1340476D-A225-5A19-A417-D94EDE70E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3282" y="4954325"/>
            <a:ext cx="924666" cy="303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EBBCFBDD-0428-1D9E-0E09-668E9D8EF502}"/>
              </a:ext>
            </a:extLst>
          </p:cNvPr>
          <p:cNvCxnSpPr/>
          <p:nvPr/>
        </p:nvCxnSpPr>
        <p:spPr>
          <a:xfrm flipH="1">
            <a:off x="5371373" y="4911431"/>
            <a:ext cx="10075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Description de l'image Glassfish logo large.png.">
            <a:extLst>
              <a:ext uri="{FF2B5EF4-FFF2-40B4-BE49-F238E27FC236}">
                <a16:creationId xmlns:a16="http://schemas.microsoft.com/office/drawing/2014/main" id="{001F9646-B62F-42AA-A131-9F5BE0AAF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05601" y="3385419"/>
            <a:ext cx="946761" cy="375385"/>
          </a:xfrm>
          <a:prstGeom prst="rect">
            <a:avLst/>
          </a:prstGeom>
          <a:noFill/>
        </p:spPr>
      </p:pic>
      <p:sp>
        <p:nvSpPr>
          <p:cNvPr id="42" name="Carré corné 40">
            <a:extLst>
              <a:ext uri="{FF2B5EF4-FFF2-40B4-BE49-F238E27FC236}">
                <a16:creationId xmlns:a16="http://schemas.microsoft.com/office/drawing/2014/main" id="{E8F7E9D5-9F1E-EAB9-CD84-108B687D9123}"/>
              </a:ext>
            </a:extLst>
          </p:cNvPr>
          <p:cNvSpPr/>
          <p:nvPr/>
        </p:nvSpPr>
        <p:spPr>
          <a:xfrm>
            <a:off x="8554577" y="5587991"/>
            <a:ext cx="554106" cy="338488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B38B3672-E2B3-C949-C045-224C1EED3E82}"/>
              </a:ext>
            </a:extLst>
          </p:cNvPr>
          <p:cNvCxnSpPr/>
          <p:nvPr/>
        </p:nvCxnSpPr>
        <p:spPr>
          <a:xfrm flipH="1">
            <a:off x="5384876" y="4288329"/>
            <a:ext cx="10075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F8DBF7F6-DF9D-A151-0AE3-75708D8E24F1}"/>
              </a:ext>
            </a:extLst>
          </p:cNvPr>
          <p:cNvCxnSpPr/>
          <p:nvPr/>
        </p:nvCxnSpPr>
        <p:spPr>
          <a:xfrm flipH="1">
            <a:off x="5398379" y="3780971"/>
            <a:ext cx="10075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8B2CED78-F373-5A13-1FD0-7BEA779B071E}"/>
              </a:ext>
            </a:extLst>
          </p:cNvPr>
          <p:cNvCxnSpPr/>
          <p:nvPr/>
        </p:nvCxnSpPr>
        <p:spPr>
          <a:xfrm flipV="1">
            <a:off x="9450488" y="2467405"/>
            <a:ext cx="0" cy="7191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Carré corné 10">
            <a:extLst>
              <a:ext uri="{FF2B5EF4-FFF2-40B4-BE49-F238E27FC236}">
                <a16:creationId xmlns:a16="http://schemas.microsoft.com/office/drawing/2014/main" id="{58545B3F-35B3-6BB8-E1A6-9C2470C4E229}"/>
              </a:ext>
            </a:extLst>
          </p:cNvPr>
          <p:cNvSpPr/>
          <p:nvPr/>
        </p:nvSpPr>
        <p:spPr>
          <a:xfrm>
            <a:off x="8651412" y="1519979"/>
            <a:ext cx="1917019" cy="936625"/>
          </a:xfrm>
          <a:prstGeom prst="foldedCorner">
            <a:avLst/>
          </a:prstGeom>
          <a:solidFill>
            <a:srgbClr val="0070C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Contrat</a:t>
            </a:r>
            <a:b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fr-FR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Swagger</a:t>
            </a: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WADL)</a:t>
            </a:r>
          </a:p>
        </p:txBody>
      </p:sp>
    </p:spTree>
    <p:extLst>
      <p:ext uri="{BB962C8B-B14F-4D97-AF65-F5344CB8AC3E}">
        <p14:creationId xmlns:p14="http://schemas.microsoft.com/office/powerpoint/2010/main" val="270015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391FC73-D2BC-2874-2B93-6DAA14B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14</a:t>
            </a:fld>
            <a:endParaRPr lang="fr-FR" dirty="0">
              <a:latin typeface="+mn-lt"/>
            </a:endParaRPr>
          </a:p>
        </p:txBody>
      </p:sp>
      <p:pic>
        <p:nvPicPr>
          <p:cNvPr id="7" name="Espace réservé d’image 52" descr="Ampoules suspendues">
            <a:extLst>
              <a:ext uri="{FF2B5EF4-FFF2-40B4-BE49-F238E27FC236}">
                <a16:creationId xmlns:a16="http://schemas.microsoft.com/office/drawing/2014/main" id="{4A9FEE16-E411-A814-67BD-466FA009D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-32325" y="0"/>
            <a:ext cx="3586686" cy="6858000"/>
          </a:xfrm>
          <a:prstGeom prst="rect">
            <a:avLst/>
          </a:prstGeom>
        </p:spPr>
      </p:pic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DB31ED0C-91E3-0713-DEB3-339ED8148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192867"/>
              </p:ext>
            </p:extLst>
          </p:nvPr>
        </p:nvGraphicFramePr>
        <p:xfrm>
          <a:off x="6264374" y="953722"/>
          <a:ext cx="219324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SOAP 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AA6DAC6A-2F99-3191-3C3E-146CB4C65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837015"/>
              </p:ext>
            </p:extLst>
          </p:nvPr>
        </p:nvGraphicFramePr>
        <p:xfrm>
          <a:off x="9359900" y="959442"/>
          <a:ext cx="219324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REST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B1C669CD-CB28-B509-44C2-06DD93048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831512"/>
              </p:ext>
            </p:extLst>
          </p:nvPr>
        </p:nvGraphicFramePr>
        <p:xfrm>
          <a:off x="3661409" y="2039562"/>
          <a:ext cx="8401844" cy="345228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95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7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6541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Structure de réponse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>
                          <a:solidFill>
                            <a:schemeClr val="bg1"/>
                          </a:solidFill>
                        </a:rPr>
                        <a:t>Fixée par le serveur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>
                          <a:solidFill>
                            <a:schemeClr val="bg1"/>
                          </a:solidFill>
                        </a:rPr>
                        <a:t>Fixée par le serveur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P. Transport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HTTP/FTP/SMTP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42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P. Communication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SOAP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Formats de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TEXT, HTML: Données Simples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XML, JSON: Données structurées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197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Méthodes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Nom des opérations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Méthodes 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197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Contrat</a:t>
                      </a:r>
                      <a:r>
                        <a:rPr lang="fr-FR" sz="2000" b="1" baseline="0" dirty="0">
                          <a:solidFill>
                            <a:schemeClr val="bg1"/>
                          </a:solidFill>
                        </a:rPr>
                        <a:t> standardisé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WSLD (Obligatoire)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WADL, SWAGGER (Optionnel)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2D1C491-D764-A21C-BB7A-AEFDBF534CF6}"/>
              </a:ext>
            </a:extLst>
          </p:cNvPr>
          <p:cNvCxnSpPr>
            <a:cxnSpLocks/>
          </p:cNvCxnSpPr>
          <p:nvPr/>
        </p:nvCxnSpPr>
        <p:spPr>
          <a:xfrm>
            <a:off x="8957459" y="1071706"/>
            <a:ext cx="0" cy="352839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20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3478</TotalTime>
  <Words>1084</Words>
  <Application>Microsoft Office PowerPoint</Application>
  <PresentationFormat>Grand écran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Franklin Gothic Book</vt:lpstr>
      <vt:lpstr>Franklin Gothic Demi</vt:lpstr>
      <vt:lpstr>Times New Roman</vt:lpstr>
      <vt:lpstr>Wingdings</vt:lpstr>
      <vt:lpstr>Personnalisé</vt:lpstr>
      <vt:lpstr>Formation SOA</vt:lpstr>
      <vt:lpstr>Les services Web REST</vt:lpstr>
      <vt:lpstr>Programme</vt:lpstr>
      <vt:lpstr>Présentation de REST</vt:lpstr>
      <vt:lpstr>Présentation de REST</vt:lpstr>
      <vt:lpstr>Motivation pour REST </vt:lpstr>
      <vt:lpstr>Motivation pour REST </vt:lpstr>
      <vt:lpstr>Motivation pour REST </vt:lpstr>
      <vt:lpstr>Architecture RESTful</vt:lpstr>
      <vt:lpstr>Fonctionnement </vt:lpstr>
      <vt:lpstr>Principes</vt:lpstr>
      <vt:lpstr>Principes</vt:lpstr>
      <vt:lpstr>Approche de développement </vt:lpstr>
      <vt:lpstr>Présentation PowerPoint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ElMejid</dc:creator>
  <cp:lastModifiedBy>elmejid ines</cp:lastModifiedBy>
  <cp:revision>98</cp:revision>
  <dcterms:created xsi:type="dcterms:W3CDTF">2024-07-15T09:42:38Z</dcterms:created>
  <dcterms:modified xsi:type="dcterms:W3CDTF">2025-12-22T20:34:50Z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