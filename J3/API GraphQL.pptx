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4"/>
  </p:notesMasterIdLst>
  <p:handoutMasterIdLst>
    <p:handoutMasterId r:id="rId25"/>
  </p:handoutMasterIdLst>
  <p:sldIdLst>
    <p:sldId id="419" r:id="rId5"/>
    <p:sldId id="442" r:id="rId6"/>
    <p:sldId id="383" r:id="rId7"/>
    <p:sldId id="483" r:id="rId8"/>
    <p:sldId id="485" r:id="rId9"/>
    <p:sldId id="484" r:id="rId10"/>
    <p:sldId id="486" r:id="rId11"/>
    <p:sldId id="487" r:id="rId12"/>
    <p:sldId id="488" r:id="rId13"/>
    <p:sldId id="489" r:id="rId14"/>
    <p:sldId id="491" r:id="rId15"/>
    <p:sldId id="492" r:id="rId16"/>
    <p:sldId id="494" r:id="rId17"/>
    <p:sldId id="495" r:id="rId18"/>
    <p:sldId id="496" r:id="rId19"/>
    <p:sldId id="497" r:id="rId20"/>
    <p:sldId id="498" r:id="rId21"/>
    <p:sldId id="499" r:id="rId22"/>
    <p:sldId id="398" r:id="rId2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42"/>
    <a:srgbClr val="004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79257" autoAdjust="0"/>
  </p:normalViewPr>
  <p:slideViewPr>
    <p:cSldViewPr snapToGrid="0">
      <p:cViewPr varScale="1">
        <p:scale>
          <a:sx n="65" d="100"/>
          <a:sy n="65" d="100"/>
        </p:scale>
        <p:origin x="145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22/12/2025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22/12/2025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986F5E-69EC-4C9A-CFA1-C656469FE1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0003129-35D2-628B-DC52-4A889998E9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072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7A7E5-8435-D2E7-0A5D-C263ACD53A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05E5184-0116-7CA9-BC58-9141BF0960A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719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7E3588-AF02-08DE-9FFA-8F0A40F054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4210E42-936C-F24F-91ED-0469716833B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0017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0728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3933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511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8598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9897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4545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9832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2907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2354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7879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4071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2103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6396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A6650F-8746-75F6-0873-0627465795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E4E88A73-9B12-6B70-5B3A-9873A452DE7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107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8F6012-959C-7A28-55D5-D8CA104CED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6F454132-0F65-3A63-3CE4-0DED21AF1B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F10A6BB3-71E6-7D42-5691-9A3F034A10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Formation SOA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450850" rtl="0"/>
            <a:r>
              <a:rPr lang="fr-FR" dirty="0"/>
              <a:t>Présentée par Ines ElMejid</a:t>
            </a:r>
          </a:p>
          <a:p>
            <a:pPr marL="450850" rtl="0"/>
            <a:r>
              <a:rPr lang="fr-FR" dirty="0"/>
              <a:t>UP-WEB</a:t>
            </a:r>
          </a:p>
        </p:txBody>
      </p:sp>
      <p:pic>
        <p:nvPicPr>
          <p:cNvPr id="10" name="Espace réservé pour une image  5" descr="Une image contenant texte, cercle, logo, clipart&#10;&#10;Description générée automatiquement">
            <a:extLst>
              <a:ext uri="{FF2B5EF4-FFF2-40B4-BE49-F238E27FC236}">
                <a16:creationId xmlns:a16="http://schemas.microsoft.com/office/drawing/2014/main" id="{9D5B1772-32B8-5377-1D06-B898C7F6F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11" y="1630265"/>
            <a:ext cx="3729580" cy="35974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140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331" y="469352"/>
            <a:ext cx="4570298" cy="3291840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>
              <a:lnSpc>
                <a:spcPct val="100000"/>
              </a:lnSpc>
            </a:pPr>
            <a:r>
              <a:rPr lang="fr-FR" dirty="0" err="1">
                <a:sym typeface="Times New Roman"/>
              </a:rPr>
              <a:t>GraphQL</a:t>
            </a:r>
            <a:endParaRPr lang="fr-FR" dirty="0"/>
          </a:p>
        </p:txBody>
      </p:sp>
      <p:pic>
        <p:nvPicPr>
          <p:cNvPr id="2" name="Picture 28" descr="Fichier:GraphQL Logo.svg — Wikipédia">
            <a:extLst>
              <a:ext uri="{FF2B5EF4-FFF2-40B4-BE49-F238E27FC236}">
                <a16:creationId xmlns:a16="http://schemas.microsoft.com/office/drawing/2014/main" id="{833ABE43-3FBC-FFE4-BF28-F4530590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91077" y="661139"/>
            <a:ext cx="2184806" cy="21848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354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5980" y="2192681"/>
            <a:ext cx="6169933" cy="4387190"/>
          </a:xfrm>
        </p:spPr>
        <p:txBody>
          <a:bodyPr tIns="457200" rtlCol="0">
            <a:normAutofit/>
          </a:bodyPr>
          <a:lstStyle>
            <a:defPPr>
              <a:defRPr lang="fr-FR"/>
            </a:defPPr>
          </a:lstStyle>
          <a:p>
            <a:r>
              <a:rPr lang="fr-FR" sz="2000" dirty="0"/>
              <a:t>Expliquer le besoin ainsi que le principe du </a:t>
            </a:r>
            <a:r>
              <a:rPr lang="fr-FR" sz="2000" dirty="0" err="1"/>
              <a:t>GraphQL</a:t>
            </a:r>
            <a:r>
              <a:rPr lang="fr-FR" sz="2000" dirty="0"/>
              <a:t>.</a:t>
            </a:r>
          </a:p>
          <a:p>
            <a:r>
              <a:rPr lang="fr-FR" sz="2000" dirty="0"/>
              <a:t>Comprendre la différence entre REST et </a:t>
            </a:r>
            <a:r>
              <a:rPr lang="fr-FR" sz="2000" dirty="0" err="1"/>
              <a:t>GraphQL</a:t>
            </a:r>
            <a:endParaRPr lang="fr-FR" sz="2000" dirty="0"/>
          </a:p>
          <a:p>
            <a:r>
              <a:rPr lang="fr-FR" sz="2000" dirty="0"/>
              <a:t>Développer une API </a:t>
            </a:r>
            <a:r>
              <a:rPr lang="fr-FR" sz="2000" dirty="0" err="1"/>
              <a:t>GraphQL</a:t>
            </a:r>
            <a:r>
              <a:rPr lang="fr-FR" sz="2000" dirty="0"/>
              <a:t> en utilisant des requêtes et des mutations.</a:t>
            </a:r>
          </a:p>
          <a:p>
            <a:pPr rtl="0"/>
            <a:endParaRPr lang="fr-FR" sz="14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DC095E-5327-99BA-25AA-1B72B85B980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Présentation de </a:t>
            </a:r>
            <a:r>
              <a:rPr lang="fr-FR" dirty="0" err="1">
                <a:sym typeface="Times New Roman"/>
              </a:rPr>
              <a:t>GraphQL</a:t>
            </a:r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</a:t>
            </a:fld>
            <a:endParaRPr lang="fr-FR" dirty="0">
              <a:latin typeface="+mn-lt"/>
            </a:endParaRPr>
          </a:p>
        </p:txBody>
      </p:sp>
      <p:sp>
        <p:nvSpPr>
          <p:cNvPr id="3" name="Google Shape;94;g25b1bb62912_0_14">
            <a:extLst>
              <a:ext uri="{FF2B5EF4-FFF2-40B4-BE49-F238E27FC236}">
                <a16:creationId xmlns:a16="http://schemas.microsoft.com/office/drawing/2014/main" id="{96BF8585-E8E8-9543-A972-493C9D8B1A4B}"/>
              </a:ext>
            </a:extLst>
          </p:cNvPr>
          <p:cNvSpPr txBox="1"/>
          <p:nvPr/>
        </p:nvSpPr>
        <p:spPr>
          <a:xfrm>
            <a:off x="542415" y="2413368"/>
            <a:ext cx="10005671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 err="1">
                <a:solidFill>
                  <a:schemeClr val="bg1"/>
                </a:solidFill>
                <a:sym typeface="Times New Roman"/>
              </a:rPr>
              <a:t>GraphQL</a:t>
            </a:r>
            <a:r>
              <a:rPr lang="fr-FR" sz="2400" dirty="0">
                <a:solidFill>
                  <a:schemeClr val="bg1"/>
                </a:solidFill>
                <a:sym typeface="Times New Roman"/>
              </a:rPr>
              <a:t> est l’acronyme de </a:t>
            </a:r>
            <a:r>
              <a:rPr lang="fr-FR" sz="2400" b="1" dirty="0">
                <a:solidFill>
                  <a:schemeClr val="accent3"/>
                </a:solidFill>
                <a:sym typeface="Times New Roman"/>
              </a:rPr>
              <a:t>Graph </a:t>
            </a:r>
            <a:r>
              <a:rPr lang="fr-FR" sz="2400" b="1" dirty="0" err="1">
                <a:solidFill>
                  <a:schemeClr val="accent3"/>
                </a:solidFill>
                <a:sym typeface="Times New Roman"/>
              </a:rPr>
              <a:t>Query</a:t>
            </a:r>
            <a:r>
              <a:rPr lang="fr-FR" sz="2400" b="1" dirty="0">
                <a:solidFill>
                  <a:schemeClr val="accent3"/>
                </a:solidFill>
                <a:sym typeface="Times New Roman"/>
              </a:rPr>
              <a:t> </a:t>
            </a:r>
            <a:r>
              <a:rPr lang="fr-FR" sz="2400" b="1" dirty="0" err="1">
                <a:solidFill>
                  <a:schemeClr val="accent3"/>
                </a:solidFill>
                <a:sym typeface="Times New Roman"/>
              </a:rPr>
              <a:t>Language</a:t>
            </a:r>
            <a:endParaRPr lang="fr-FR" sz="2400" b="1" dirty="0">
              <a:solidFill>
                <a:schemeClr val="accent3"/>
              </a:solidFill>
              <a:sym typeface="Times New Roman"/>
            </a:endParaRP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fr-FR" sz="2400" b="1" dirty="0">
              <a:solidFill>
                <a:schemeClr val="accent3"/>
              </a:solidFill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sym typeface="Times New Roman"/>
              </a:rPr>
              <a:t>Un langage de requêtes flexible et environnement d'exécution pour développer des APIs</a:t>
            </a: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fr-FR" sz="2400" dirty="0">
              <a:solidFill>
                <a:schemeClr val="bg1"/>
              </a:solidFill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sym typeface="Times New Roman"/>
              </a:rPr>
              <a:t>Une alternative à REST, démarrée chez Facebook en 2012, est devenu Open Source en   2015.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695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Présentation de </a:t>
            </a:r>
            <a:r>
              <a:rPr lang="fr-FR" dirty="0" err="1">
                <a:sym typeface="Times New Roman"/>
              </a:rPr>
              <a:t>GraphQL</a:t>
            </a:r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5</a:t>
            </a:fld>
            <a:endParaRPr lang="fr-FR" dirty="0">
              <a:latin typeface="+mn-lt"/>
            </a:endParaRPr>
          </a:p>
        </p:txBody>
      </p:sp>
      <p:sp>
        <p:nvSpPr>
          <p:cNvPr id="3" name="Google Shape;94;g25b1bb62912_0_14">
            <a:extLst>
              <a:ext uri="{FF2B5EF4-FFF2-40B4-BE49-F238E27FC236}">
                <a16:creationId xmlns:a16="http://schemas.microsoft.com/office/drawing/2014/main" id="{96BF8585-E8E8-9543-A972-493C9D8B1A4B}"/>
              </a:ext>
            </a:extLst>
          </p:cNvPr>
          <p:cNvSpPr txBox="1"/>
          <p:nvPr/>
        </p:nvSpPr>
        <p:spPr>
          <a:xfrm>
            <a:off x="542415" y="2413368"/>
            <a:ext cx="10005671" cy="327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sym typeface="Times New Roman"/>
              </a:rPr>
              <a:t>Représente la nouvelle façon de concevoir des API modernes:</a:t>
            </a:r>
          </a:p>
          <a:p>
            <a:pPr marL="914400" lvl="1" indent="-355600" algn="just">
              <a:lnSpc>
                <a:spcPct val="15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chemeClr val="bg1"/>
                </a:solidFill>
                <a:sym typeface="Times New Roman"/>
              </a:rPr>
              <a:t>fonctionnant sur </a:t>
            </a:r>
            <a:r>
              <a:rPr lang="fr-FR" sz="2200" b="1" dirty="0">
                <a:solidFill>
                  <a:schemeClr val="accent3">
                    <a:lumMod val="75000"/>
                  </a:schemeClr>
                </a:solidFill>
                <a:sym typeface="Times New Roman"/>
              </a:rPr>
              <a:t>un seul point de terminaison </a:t>
            </a:r>
            <a:r>
              <a:rPr lang="fr-FR" sz="2200" dirty="0">
                <a:solidFill>
                  <a:schemeClr val="bg1"/>
                </a:solidFill>
                <a:sym typeface="Times New Roman"/>
              </a:rPr>
              <a:t>via HTTP, </a:t>
            </a:r>
          </a:p>
          <a:p>
            <a:pPr marL="901700" lvl="1" indent="-342900" algn="just">
              <a:lnSpc>
                <a:spcPct val="15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chemeClr val="bg1"/>
                </a:solidFill>
                <a:sym typeface="Times New Roman"/>
              </a:rPr>
              <a:t>optimisant les performances et la flexibilité.</a:t>
            </a: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fr-FR" sz="2200" b="1" dirty="0">
              <a:solidFill>
                <a:schemeClr val="accent3"/>
              </a:solidFill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200" dirty="0">
                <a:solidFill>
                  <a:schemeClr val="bg1"/>
                </a:solidFill>
                <a:sym typeface="Times New Roman"/>
              </a:rPr>
              <a:t>Les types de données renvoyées par l'API sont spécifiés via un </a:t>
            </a:r>
            <a:r>
              <a:rPr lang="fr-FR" sz="2200" b="1" dirty="0">
                <a:solidFill>
                  <a:schemeClr val="bg1"/>
                </a:solidFill>
                <a:sym typeface="Times New Roman"/>
              </a:rPr>
              <a:t>schéma</a:t>
            </a:r>
            <a:r>
              <a:rPr lang="fr-FR" sz="2200" b="1" dirty="0">
                <a:solidFill>
                  <a:schemeClr val="accent1">
                    <a:lumMod val="50000"/>
                  </a:schemeClr>
                </a:solidFill>
                <a:sym typeface="Times New Roman"/>
              </a:rPr>
              <a:t> SDL (</a:t>
            </a:r>
            <a:r>
              <a:rPr lang="fr-FR" sz="2200" b="1" dirty="0" err="1">
                <a:solidFill>
                  <a:schemeClr val="accent1">
                    <a:lumMod val="50000"/>
                  </a:schemeClr>
                </a:solidFill>
                <a:sym typeface="Times New Roman"/>
              </a:rPr>
              <a:t>Schema</a:t>
            </a:r>
            <a:r>
              <a:rPr lang="fr-FR" sz="2200" b="1" dirty="0">
                <a:solidFill>
                  <a:schemeClr val="accent1">
                    <a:lumMod val="50000"/>
                  </a:schemeClr>
                </a:solidFill>
                <a:sym typeface="Times New Roman"/>
              </a:rPr>
              <a:t> </a:t>
            </a:r>
            <a:r>
              <a:rPr lang="fr-FR" sz="2200" b="1" dirty="0" err="1">
                <a:solidFill>
                  <a:schemeClr val="accent1">
                    <a:lumMod val="50000"/>
                  </a:schemeClr>
                </a:solidFill>
                <a:sym typeface="Times New Roman"/>
              </a:rPr>
              <a:t>Definition</a:t>
            </a:r>
            <a:r>
              <a:rPr lang="fr-FR" sz="2200" b="1" dirty="0">
                <a:solidFill>
                  <a:schemeClr val="accent1">
                    <a:lumMod val="50000"/>
                  </a:schemeClr>
                </a:solidFill>
                <a:sym typeface="Times New Roman"/>
              </a:rPr>
              <a:t> </a:t>
            </a:r>
            <a:r>
              <a:rPr lang="fr-FR" sz="2200" b="1" dirty="0" err="1">
                <a:solidFill>
                  <a:schemeClr val="accent1">
                    <a:lumMod val="50000"/>
                  </a:schemeClr>
                </a:solidFill>
                <a:sym typeface="Times New Roman"/>
              </a:rPr>
              <a:t>Language</a:t>
            </a:r>
            <a:r>
              <a:rPr lang="fr-FR" sz="2200" b="1" dirty="0">
                <a:solidFill>
                  <a:schemeClr val="accent1">
                    <a:lumMod val="50000"/>
                  </a:schemeClr>
                </a:solidFill>
                <a:sym typeface="Times New Roman"/>
              </a:rPr>
              <a:t>)</a:t>
            </a:r>
            <a:r>
              <a:rPr lang="fr-FR" sz="2200" dirty="0">
                <a:solidFill>
                  <a:schemeClr val="bg1"/>
                </a:solidFill>
                <a:sym typeface="Times New Roman"/>
              </a:rPr>
              <a:t> définissant un graphe de types de données.</a:t>
            </a:r>
            <a:endParaRPr lang="fr-FR" sz="2000" dirty="0">
              <a:solidFill>
                <a:schemeClr val="bg1"/>
              </a:solidFill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802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>
                <a:sym typeface="Times New Roman"/>
              </a:rPr>
              <a:t>Pourquoi GraphQL ?</a:t>
            </a:r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6</a:t>
            </a:fld>
            <a:endParaRPr lang="fr-FR" dirty="0">
              <a:latin typeface="+mn-lt"/>
            </a:endParaRPr>
          </a:p>
        </p:txBody>
      </p:sp>
      <p:sp>
        <p:nvSpPr>
          <p:cNvPr id="3" name="Google Shape;94;g25b1bb62912_0_14">
            <a:extLst>
              <a:ext uri="{FF2B5EF4-FFF2-40B4-BE49-F238E27FC236}">
                <a16:creationId xmlns:a16="http://schemas.microsoft.com/office/drawing/2014/main" id="{96BF8585-E8E8-9543-A972-493C9D8B1A4B}"/>
              </a:ext>
            </a:extLst>
          </p:cNvPr>
          <p:cNvSpPr txBox="1"/>
          <p:nvPr/>
        </p:nvSpPr>
        <p:spPr>
          <a:xfrm>
            <a:off x="542415" y="2413368"/>
            <a:ext cx="10005671" cy="408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Palier aux problèmes qu’on peut rencontrer avec REST: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2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La sur-extraction </a:t>
            </a:r>
            <a:r>
              <a: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(téléchargement de données inutiles):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-"/>
              <a:tabLst/>
              <a:defRPr/>
            </a:pPr>
            <a:r>
              <a:rPr kumimoji="0" lang="fr-F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Le développeur peut </a:t>
            </a: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demander exactement ce qu'il attend, ni plus ni moins;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685800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2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La sous-extraction </a:t>
            </a:r>
            <a:r>
              <a: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(l’envoi de plusieurs requêtes):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-"/>
              <a:tabLst/>
              <a:defRPr/>
            </a:pPr>
            <a:r>
              <a:rPr kumimoji="0" lang="fr-F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On peut obtenir toutes les informations nécessaires </a:t>
            </a: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en une seule requête</a:t>
            </a:r>
            <a:r>
              <a:rPr kumimoji="0" lang="fr-F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contrairement à REST qui nécessite plusieurs appels (plusieurs URIs).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Permet au client d'être sélectif sur ce qui est renvoyé,  et de décider quelles données sont réellement nécessaires.</a:t>
            </a:r>
            <a:endParaRPr lang="fr-FR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076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vert="horz" lIns="0" tIns="0" rIns="0" bIns="0" rtlCol="0" anchor="b" anchorCtr="0">
            <a:normAutofit/>
          </a:bodyPr>
          <a:lstStyle>
            <a:defPPr>
              <a:defRPr lang="fr-FR"/>
            </a:defPPr>
          </a:lstStyle>
          <a:p>
            <a:r>
              <a:rPr lang="fr-FR" b="1" i="0" kern="1200" spc="100" baseline="0">
                <a:latin typeface="+mj-lt"/>
                <a:ea typeface="+mj-ea"/>
                <a:cs typeface="+mj-cs"/>
              </a:rPr>
              <a:t>REST vs GraphQL</a:t>
            </a:r>
          </a:p>
        </p:txBody>
      </p:sp>
      <p:pic>
        <p:nvPicPr>
          <p:cNvPr id="5" name="Picture 11" descr="Getting Started with GraphQL">
            <a:extLst>
              <a:ext uri="{FF2B5EF4-FFF2-40B4-BE49-F238E27FC236}">
                <a16:creationId xmlns:a16="http://schemas.microsoft.com/office/drawing/2014/main" id="{53D6D703-0446-AC27-B9E8-EECCEAE3C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94360" y="2399434"/>
            <a:ext cx="5378737" cy="3563412"/>
          </a:xfrm>
          <a:prstGeom prst="rect">
            <a:avLst/>
          </a:prstGeom>
          <a:noFill/>
        </p:spPr>
      </p:pic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360" y="6332220"/>
            <a:ext cx="523240" cy="247651"/>
          </a:xfrm>
        </p:spPr>
        <p:txBody>
          <a:bodyPr vert="horz" lIns="0" tIns="0" rIns="0" bIns="0" rtlCol="0" anchor="t" anchorCtr="0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fr-FR" smtClean="0"/>
              <a:pPr>
                <a:spcAft>
                  <a:spcPts val="600"/>
                </a:spcAft>
              </a:pPr>
              <a:t>7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39C1101-4651-A264-C7DC-47ADC2869934}"/>
              </a:ext>
            </a:extLst>
          </p:cNvPr>
          <p:cNvSpPr txBox="1"/>
          <p:nvPr/>
        </p:nvSpPr>
        <p:spPr>
          <a:xfrm>
            <a:off x="6218905" y="2967335"/>
            <a:ext cx="5027577" cy="923330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endParaRPr lang="fr-FR" b="1" dirty="0">
              <a:latin typeface="Open Sans" panose="020B0606030504020204" pitchFamily="34" charset="0"/>
            </a:endParaRPr>
          </a:p>
          <a:p>
            <a:pPr algn="ctr"/>
            <a:r>
              <a:rPr lang="fr-FR" b="1" dirty="0">
                <a:latin typeface="Open Sans" panose="020B0606030504020204" pitchFamily="34" charset="0"/>
              </a:rPr>
              <a:t>API  </a:t>
            </a:r>
            <a:r>
              <a:rPr lang="fr-FR" b="1" dirty="0" err="1">
                <a:latin typeface="Open Sans" panose="020B0606030504020204" pitchFamily="34" charset="0"/>
              </a:rPr>
              <a:t>EndPoints</a:t>
            </a:r>
            <a:r>
              <a:rPr lang="fr-FR" b="1" dirty="0">
                <a:latin typeface="Open Sans" panose="020B0606030504020204" pitchFamily="34" charset="0"/>
              </a:rPr>
              <a:t> (points de terminaison)</a:t>
            </a:r>
          </a:p>
          <a:p>
            <a:pPr algn="ctr"/>
            <a:endParaRPr lang="fr-FR" b="1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02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REST vs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8</a:t>
            </a:fld>
            <a:endParaRPr lang="fr-FR" dirty="0">
              <a:latin typeface="+mn-lt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BEF0EC3-24B7-1E73-3CEF-644E298CE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66201"/>
              </p:ext>
            </p:extLst>
          </p:nvPr>
        </p:nvGraphicFramePr>
        <p:xfrm>
          <a:off x="8036277" y="2593231"/>
          <a:ext cx="2237765" cy="239763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3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257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/>
                        <a:t>GraphQL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Query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538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fr-FR" sz="1800" b="1" dirty="0"/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 err="1">
                          <a:solidFill>
                            <a:srgbClr val="C00000"/>
                          </a:solidFill>
                        </a:rPr>
                        <a:t>movies</a:t>
                      </a:r>
                      <a:r>
                        <a:rPr lang="fr-FR" sz="1800" dirty="0"/>
                        <a:t>(id:1){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</a:t>
                      </a:r>
                      <a:r>
                        <a:rPr lang="fr-FR" sz="1800" dirty="0" err="1"/>
                        <a:t>title</a:t>
                      </a:r>
                      <a:endParaRPr lang="fr-FR" sz="1800" dirty="0"/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</a:t>
                      </a:r>
                      <a:r>
                        <a:rPr lang="fr-FR" sz="1800" dirty="0" err="1">
                          <a:solidFill>
                            <a:srgbClr val="00863D"/>
                          </a:solidFill>
                        </a:rPr>
                        <a:t>directors</a:t>
                      </a:r>
                      <a:r>
                        <a:rPr lang="fr-FR" sz="1800" dirty="0"/>
                        <a:t>{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</a:t>
                      </a:r>
                      <a:r>
                        <a:rPr lang="fr-FR" sz="1800" dirty="0" err="1"/>
                        <a:t>name</a:t>
                      </a:r>
                      <a:endParaRPr lang="fr-FR" sz="1800" dirty="0"/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</a:t>
                      </a:r>
                      <a:r>
                        <a:rPr lang="fr-FR" sz="1800" dirty="0" err="1">
                          <a:solidFill>
                            <a:srgbClr val="C00000"/>
                          </a:solidFill>
                        </a:rPr>
                        <a:t>movies</a:t>
                      </a:r>
                      <a:r>
                        <a:rPr lang="fr-FR" sz="1800" dirty="0"/>
                        <a:t>(last:3){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    date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}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} </a:t>
                      </a:r>
                      <a:br>
                        <a:rPr lang="fr-FR" sz="1800" dirty="0"/>
                      </a:br>
                      <a:r>
                        <a:rPr lang="fr-FR" sz="18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A641BDE6-0137-667A-17C6-DECD94308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4235" y="4770224"/>
            <a:ext cx="9239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D9A88F09-5E75-4BB4-B87A-C0182954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56596" y="3349585"/>
            <a:ext cx="737314" cy="95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F83D37C3-CA0B-308F-0C26-192E685B7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65032" y="2921730"/>
            <a:ext cx="737344" cy="110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91AAF73-287D-BF19-BA6F-A017F595D4D0}"/>
              </a:ext>
            </a:extLst>
          </p:cNvPr>
          <p:cNvCxnSpPr/>
          <p:nvPr/>
        </p:nvCxnSpPr>
        <p:spPr>
          <a:xfrm>
            <a:off x="3108848" y="3857833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1C2FC210-B90B-8E85-7C81-4DB1C99EE190}"/>
              </a:ext>
            </a:extLst>
          </p:cNvPr>
          <p:cNvSpPr txBox="1"/>
          <p:nvPr/>
        </p:nvSpPr>
        <p:spPr>
          <a:xfrm>
            <a:off x="3108848" y="3416493"/>
            <a:ext cx="156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GET</a:t>
            </a:r>
            <a:r>
              <a:rPr lang="fr-FR" dirty="0"/>
              <a:t> </a:t>
            </a:r>
            <a:r>
              <a:rPr lang="fr-FR" b="1" dirty="0">
                <a:solidFill>
                  <a:schemeClr val="bg1"/>
                </a:solidFill>
              </a:rPr>
              <a:t>…</a:t>
            </a:r>
            <a:r>
              <a:rPr lang="fr-FR" dirty="0"/>
              <a:t> </a:t>
            </a:r>
            <a:r>
              <a:rPr lang="fr-FR" sz="1600" b="1" dirty="0">
                <a:solidFill>
                  <a:srgbClr val="C00000"/>
                </a:solidFill>
              </a:rPr>
              <a:t>/</a:t>
            </a:r>
            <a:r>
              <a:rPr lang="fr-FR" sz="1600" b="1" dirty="0" err="1">
                <a:solidFill>
                  <a:srgbClr val="C00000"/>
                </a:solidFill>
              </a:rPr>
              <a:t>movies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31D7E76-4111-A2D7-D7AD-2B700E18AE7A}"/>
              </a:ext>
            </a:extLst>
          </p:cNvPr>
          <p:cNvCxnSpPr/>
          <p:nvPr/>
        </p:nvCxnSpPr>
        <p:spPr>
          <a:xfrm flipH="1">
            <a:off x="3108848" y="4073857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3172A9B-87FE-A2C6-23E4-7D6464D2A70C}"/>
              </a:ext>
            </a:extLst>
          </p:cNvPr>
          <p:cNvSpPr txBox="1"/>
          <p:nvPr/>
        </p:nvSpPr>
        <p:spPr>
          <a:xfrm>
            <a:off x="3468888" y="400184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movies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F3013706-6F65-C61F-2993-7E02EAE8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28532" y="4353258"/>
            <a:ext cx="711944" cy="106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953D292-B238-EDD1-2505-E966E357FE16}"/>
              </a:ext>
            </a:extLst>
          </p:cNvPr>
          <p:cNvCxnSpPr/>
          <p:nvPr/>
        </p:nvCxnSpPr>
        <p:spPr>
          <a:xfrm>
            <a:off x="3108848" y="5009961"/>
            <a:ext cx="15121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50307F64-7807-E9F6-9827-F9D4D6884AFB}"/>
              </a:ext>
            </a:extLst>
          </p:cNvPr>
          <p:cNvSpPr txBox="1"/>
          <p:nvPr/>
        </p:nvSpPr>
        <p:spPr>
          <a:xfrm>
            <a:off x="3036840" y="4568621"/>
            <a:ext cx="18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GET</a:t>
            </a:r>
            <a:r>
              <a:rPr lang="fr-FR" dirty="0"/>
              <a:t> </a:t>
            </a:r>
            <a:r>
              <a:rPr lang="fr-FR" sz="1600" dirty="0"/>
              <a:t> </a:t>
            </a:r>
            <a:r>
              <a:rPr lang="fr-FR" sz="1600" b="1" dirty="0">
                <a:solidFill>
                  <a:schemeClr val="bg1"/>
                </a:solidFill>
              </a:rPr>
              <a:t>… </a:t>
            </a:r>
            <a:r>
              <a:rPr lang="fr-FR" sz="1600" b="1" dirty="0">
                <a:solidFill>
                  <a:srgbClr val="C00000"/>
                </a:solidFill>
              </a:rPr>
              <a:t>/</a:t>
            </a:r>
            <a:r>
              <a:rPr lang="fr-FR" sz="1600" b="1" dirty="0" err="1">
                <a:solidFill>
                  <a:srgbClr val="C00000"/>
                </a:solidFill>
              </a:rPr>
              <a:t>movies</a:t>
            </a:r>
            <a:r>
              <a:rPr lang="fr-FR" sz="1600" b="1" dirty="0">
                <a:solidFill>
                  <a:srgbClr val="C00000"/>
                </a:solidFill>
              </a:rPr>
              <a:t>/1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CBA3865-9190-F327-F0CE-47B69F20B3CA}"/>
              </a:ext>
            </a:extLst>
          </p:cNvPr>
          <p:cNvCxnSpPr/>
          <p:nvPr/>
        </p:nvCxnSpPr>
        <p:spPr>
          <a:xfrm flipH="1">
            <a:off x="3108848" y="5225985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6E8EAE8-DF39-92F5-E741-958275A26C25}"/>
              </a:ext>
            </a:extLst>
          </p:cNvPr>
          <p:cNvSpPr txBox="1"/>
          <p:nvPr/>
        </p:nvSpPr>
        <p:spPr>
          <a:xfrm>
            <a:off x="3324872" y="5153977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Infos</a:t>
            </a:r>
            <a:r>
              <a:rPr lang="fr-FR" dirty="0"/>
              <a:t> </a:t>
            </a:r>
            <a:r>
              <a:rPr lang="fr-FR" dirty="0" err="1">
                <a:solidFill>
                  <a:schemeClr val="bg1"/>
                </a:solidFill>
              </a:rPr>
              <a:t>movie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8" name="Picture 9">
            <a:extLst>
              <a:ext uri="{FF2B5EF4-FFF2-40B4-BE49-F238E27FC236}">
                <a16:creationId xmlns:a16="http://schemas.microsoft.com/office/drawing/2014/main" id="{A81B9702-7178-6438-F2EC-037FB646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6632" y="5708759"/>
            <a:ext cx="724644" cy="108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D693479-4570-AD43-1913-A0B75381BFC5}"/>
              </a:ext>
            </a:extLst>
          </p:cNvPr>
          <p:cNvCxnSpPr/>
          <p:nvPr/>
        </p:nvCxnSpPr>
        <p:spPr>
          <a:xfrm>
            <a:off x="3108848" y="6224175"/>
            <a:ext cx="1584176" cy="9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6AC321F4-8358-8F76-CEB2-F1EC9EC99543}"/>
              </a:ext>
            </a:extLst>
          </p:cNvPr>
          <p:cNvSpPr txBox="1"/>
          <p:nvPr/>
        </p:nvSpPr>
        <p:spPr>
          <a:xfrm>
            <a:off x="3180856" y="5782835"/>
            <a:ext cx="167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GET</a:t>
            </a:r>
            <a:r>
              <a:rPr lang="fr-FR" sz="1600" dirty="0"/>
              <a:t> </a:t>
            </a:r>
            <a:r>
              <a:rPr lang="fr-FR" sz="1600" b="1" dirty="0">
                <a:solidFill>
                  <a:schemeClr val="bg1"/>
                </a:solidFill>
              </a:rPr>
              <a:t>… </a:t>
            </a:r>
            <a:r>
              <a:rPr lang="fr-FR" sz="1600" b="1" dirty="0">
                <a:solidFill>
                  <a:srgbClr val="C00000"/>
                </a:solidFill>
              </a:rPr>
              <a:t>/</a:t>
            </a:r>
            <a:r>
              <a:rPr lang="fr-FR" sz="1600" b="1" dirty="0" err="1">
                <a:solidFill>
                  <a:srgbClr val="00863D"/>
                </a:solidFill>
              </a:rPr>
              <a:t>directors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388956D-9E97-8356-6179-A0595484CFC9}"/>
              </a:ext>
            </a:extLst>
          </p:cNvPr>
          <p:cNvCxnSpPr/>
          <p:nvPr/>
        </p:nvCxnSpPr>
        <p:spPr>
          <a:xfrm flipH="1" flipV="1">
            <a:off x="3108848" y="6440199"/>
            <a:ext cx="1584176" cy="9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03FFEFCD-5E3C-107E-108E-A19988FD5FC4}"/>
              </a:ext>
            </a:extLst>
          </p:cNvPr>
          <p:cNvSpPr txBox="1"/>
          <p:nvPr/>
        </p:nvSpPr>
        <p:spPr>
          <a:xfrm>
            <a:off x="3396880" y="6378113"/>
            <a:ext cx="1368152" cy="369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directors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DE85AD6-D2D4-0CE3-5539-1E5E4AE52C8C}"/>
              </a:ext>
            </a:extLst>
          </p:cNvPr>
          <p:cNvCxnSpPr>
            <a:cxnSpLocks/>
          </p:cNvCxnSpPr>
          <p:nvPr/>
        </p:nvCxnSpPr>
        <p:spPr>
          <a:xfrm>
            <a:off x="6526760" y="2696467"/>
            <a:ext cx="0" cy="4124658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4" name="Picture 3">
            <a:extLst>
              <a:ext uri="{FF2B5EF4-FFF2-40B4-BE49-F238E27FC236}">
                <a16:creationId xmlns:a16="http://schemas.microsoft.com/office/drawing/2014/main" id="{C340EAF8-A26E-00E1-A130-0E65D092E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826032" y="4770224"/>
            <a:ext cx="120015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1763545-2348-D62C-7A72-42BE2FCF537B}"/>
              </a:ext>
            </a:extLst>
          </p:cNvPr>
          <p:cNvCxnSpPr/>
          <p:nvPr/>
        </p:nvCxnSpPr>
        <p:spPr>
          <a:xfrm>
            <a:off x="7915872" y="5632281"/>
            <a:ext cx="2507754" cy="9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B85B0C26-0F73-D310-A692-86BA83B71ACE}"/>
              </a:ext>
            </a:extLst>
          </p:cNvPr>
          <p:cNvCxnSpPr/>
          <p:nvPr/>
        </p:nvCxnSpPr>
        <p:spPr>
          <a:xfrm flipH="1">
            <a:off x="7915872" y="5992321"/>
            <a:ext cx="24482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B1EE335E-5F88-ED48-C998-DD3578A01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926972"/>
              </p:ext>
            </p:extLst>
          </p:nvPr>
        </p:nvGraphicFramePr>
        <p:xfrm>
          <a:off x="2316760" y="2498347"/>
          <a:ext cx="2284737" cy="396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8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REST </a:t>
                      </a:r>
                      <a:r>
                        <a:rPr lang="fr-FR" sz="2000" dirty="0" err="1"/>
                        <a:t>Query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B717D6A5-A742-C760-CD80-4F8FB89E017D}"/>
              </a:ext>
            </a:extLst>
          </p:cNvPr>
          <p:cNvSpPr txBox="1"/>
          <p:nvPr/>
        </p:nvSpPr>
        <p:spPr>
          <a:xfrm>
            <a:off x="8082203" y="6105877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Données demandées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(JSON)</a:t>
            </a:r>
          </a:p>
        </p:txBody>
      </p:sp>
      <p:pic>
        <p:nvPicPr>
          <p:cNvPr id="29" name="Picture 8">
            <a:extLst>
              <a:ext uri="{FF2B5EF4-FFF2-40B4-BE49-F238E27FC236}">
                <a16:creationId xmlns:a16="http://schemas.microsoft.com/office/drawing/2014/main" id="{9B1CC765-19DD-5BB8-25EC-C41C2CDAC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69296" y="4556085"/>
            <a:ext cx="737314" cy="95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8">
            <a:extLst>
              <a:ext uri="{FF2B5EF4-FFF2-40B4-BE49-F238E27FC236}">
                <a16:creationId xmlns:a16="http://schemas.microsoft.com/office/drawing/2014/main" id="{AAA85F14-75FC-17B5-E94A-03E694C7A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1996" y="5864185"/>
            <a:ext cx="737314" cy="95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1BC5A5C6-D1AE-2313-EF4A-9B0A27FC7C35}"/>
              </a:ext>
            </a:extLst>
          </p:cNvPr>
          <p:cNvSpPr txBox="1"/>
          <p:nvPr/>
        </p:nvSpPr>
        <p:spPr>
          <a:xfrm>
            <a:off x="8511675" y="5191222"/>
            <a:ext cx="142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POST</a:t>
            </a:r>
            <a:r>
              <a:rPr lang="fr-FR" dirty="0"/>
              <a:t>  </a:t>
            </a:r>
            <a:r>
              <a:rPr lang="fr-FR" sz="1600" dirty="0"/>
              <a:t> </a:t>
            </a:r>
            <a:r>
              <a:rPr lang="fr-FR" sz="1600" b="1" dirty="0">
                <a:solidFill>
                  <a:schemeClr val="bg1"/>
                </a:solidFill>
              </a:rPr>
              <a:t>… </a:t>
            </a:r>
            <a:r>
              <a:rPr lang="fr-FR" sz="1600" b="1" dirty="0">
                <a:solidFill>
                  <a:srgbClr val="C00000"/>
                </a:solidFill>
              </a:rPr>
              <a:t>/api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8A387C7-7CC1-559B-94B2-5EE7F68A2142}"/>
              </a:ext>
            </a:extLst>
          </p:cNvPr>
          <p:cNvSpPr txBox="1"/>
          <p:nvPr/>
        </p:nvSpPr>
        <p:spPr>
          <a:xfrm>
            <a:off x="3868826" y="1788842"/>
            <a:ext cx="5027577" cy="369332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Open Sans" panose="020B0606030504020204" pitchFamily="34" charset="0"/>
              </a:rPr>
              <a:t>API  </a:t>
            </a:r>
            <a:r>
              <a:rPr lang="fr-FR" b="1" dirty="0" err="1">
                <a:latin typeface="Open Sans" panose="020B0606030504020204" pitchFamily="34" charset="0"/>
              </a:rPr>
              <a:t>EndPoints</a:t>
            </a:r>
            <a:r>
              <a:rPr lang="fr-FR" b="1" dirty="0">
                <a:latin typeface="Open Sans" panose="020B0606030504020204" pitchFamily="34" charset="0"/>
              </a:rPr>
              <a:t> (points de terminaison)</a:t>
            </a:r>
          </a:p>
        </p:txBody>
      </p:sp>
    </p:spTree>
    <p:extLst>
      <p:ext uri="{BB962C8B-B14F-4D97-AF65-F5344CB8AC3E}">
        <p14:creationId xmlns:p14="http://schemas.microsoft.com/office/powerpoint/2010/main" val="428361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REST vs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9</a:t>
            </a:fld>
            <a:endParaRPr lang="fr-FR" dirty="0">
              <a:latin typeface="+mn-lt"/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DE85AD6-D2D4-0CE3-5539-1E5E4AE52C8C}"/>
              </a:ext>
            </a:extLst>
          </p:cNvPr>
          <p:cNvCxnSpPr>
            <a:cxnSpLocks/>
          </p:cNvCxnSpPr>
          <p:nvPr/>
        </p:nvCxnSpPr>
        <p:spPr>
          <a:xfrm>
            <a:off x="6113808" y="2696467"/>
            <a:ext cx="0" cy="4124658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B1EE335E-5F88-ED48-C998-DD3578A01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40023"/>
              </p:ext>
            </p:extLst>
          </p:nvPr>
        </p:nvGraphicFramePr>
        <p:xfrm>
          <a:off x="2316760" y="2498347"/>
          <a:ext cx="2284737" cy="396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8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58A387C7-7CC1-559B-94B2-5EE7F68A2142}"/>
              </a:ext>
            </a:extLst>
          </p:cNvPr>
          <p:cNvSpPr txBox="1"/>
          <p:nvPr/>
        </p:nvSpPr>
        <p:spPr>
          <a:xfrm>
            <a:off x="3868826" y="1788842"/>
            <a:ext cx="5027577" cy="369332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Open Sans" panose="020B0606030504020204" pitchFamily="34" charset="0"/>
              </a:rPr>
              <a:t>Méthodes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9BC0339-3DCD-E8DB-BF27-4040DC419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210665"/>
              </p:ext>
            </p:extLst>
          </p:nvPr>
        </p:nvGraphicFramePr>
        <p:xfrm>
          <a:off x="7881819" y="2518015"/>
          <a:ext cx="2284737" cy="396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8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/>
                        <a:t>GraphQL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ZoneTexte 41">
            <a:extLst>
              <a:ext uri="{FF2B5EF4-FFF2-40B4-BE49-F238E27FC236}">
                <a16:creationId xmlns:a16="http://schemas.microsoft.com/office/drawing/2014/main" id="{2BC5F3E9-B837-DDAA-62F3-9AA50F3C5E11}"/>
              </a:ext>
            </a:extLst>
          </p:cNvPr>
          <p:cNvSpPr txBox="1"/>
          <p:nvPr/>
        </p:nvSpPr>
        <p:spPr>
          <a:xfrm>
            <a:off x="2346574" y="3167487"/>
            <a:ext cx="2653127" cy="3112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b="1" dirty="0">
                <a:solidFill>
                  <a:prstClr val="black"/>
                </a:solidFill>
              </a:rPr>
              <a:t>POST</a:t>
            </a:r>
            <a:r>
              <a:rPr sz="2400" dirty="0">
                <a:solidFill>
                  <a:prstClr val="black"/>
                </a:solidFill>
              </a:rPr>
              <a:t>: </a:t>
            </a:r>
            <a:r>
              <a:rPr sz="2400" dirty="0" err="1">
                <a:solidFill>
                  <a:prstClr val="black"/>
                </a:solidFill>
              </a:rPr>
              <a:t>Create</a:t>
            </a:r>
            <a:endParaRPr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b="1" dirty="0">
                <a:solidFill>
                  <a:prstClr val="black"/>
                </a:solidFill>
              </a:rPr>
              <a:t>PUT</a:t>
            </a:r>
            <a:r>
              <a:rPr sz="2400" dirty="0">
                <a:solidFill>
                  <a:prstClr val="black"/>
                </a:solidFill>
              </a:rPr>
              <a:t>: Update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b="1" dirty="0">
                <a:solidFill>
                  <a:prstClr val="black"/>
                </a:solidFill>
              </a:rPr>
              <a:t>GET</a:t>
            </a:r>
            <a:r>
              <a:rPr sz="2400" dirty="0">
                <a:solidFill>
                  <a:prstClr val="black"/>
                </a:solidFill>
              </a:rPr>
              <a:t>: Read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b="1" dirty="0" err="1">
                <a:solidFill>
                  <a:prstClr val="black"/>
                </a:solidFill>
              </a:rPr>
              <a:t>Delete</a:t>
            </a:r>
            <a:r>
              <a:rPr sz="2400" dirty="0">
                <a:solidFill>
                  <a:prstClr val="black"/>
                </a:solidFill>
              </a:rPr>
              <a:t>: </a:t>
            </a:r>
            <a:r>
              <a:rPr sz="2400" dirty="0" err="1">
                <a:solidFill>
                  <a:prstClr val="black"/>
                </a:solidFill>
              </a:rPr>
              <a:t>Delete</a:t>
            </a:r>
            <a:endParaRPr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dirty="0" err="1">
                <a:solidFill>
                  <a:prstClr val="black"/>
                </a:solidFill>
              </a:rPr>
              <a:t>etc</a:t>
            </a:r>
            <a:endParaRPr sz="2400" dirty="0">
              <a:solidFill>
                <a:prstClr val="black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92EF45B-C723-2E6A-0A5A-D6D17FE5F330}"/>
              </a:ext>
            </a:extLst>
          </p:cNvPr>
          <p:cNvSpPr txBox="1"/>
          <p:nvPr/>
        </p:nvSpPr>
        <p:spPr>
          <a:xfrm>
            <a:off x="6481947" y="3171059"/>
            <a:ext cx="5592065" cy="2394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b="1" dirty="0" err="1">
                <a:solidFill>
                  <a:prstClr val="black"/>
                </a:solidFill>
              </a:rPr>
              <a:t>Query</a:t>
            </a:r>
            <a:r>
              <a:rPr sz="2400" dirty="0">
                <a:solidFill>
                  <a:prstClr val="black"/>
                </a:solidFill>
              </a:rPr>
              <a:t>: Read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b="1" dirty="0">
                <a:solidFill>
                  <a:prstClr val="black"/>
                </a:solidFill>
              </a:rPr>
              <a:t>Mutation</a:t>
            </a:r>
            <a:r>
              <a:rPr sz="2400" dirty="0">
                <a:solidFill>
                  <a:prstClr val="black"/>
                </a:solidFill>
              </a:rPr>
              <a:t>: </a:t>
            </a:r>
            <a:r>
              <a:rPr sz="2400" dirty="0" err="1">
                <a:solidFill>
                  <a:prstClr val="black"/>
                </a:solidFill>
              </a:rPr>
              <a:t>Create</a:t>
            </a:r>
            <a:r>
              <a:rPr sz="2400" dirty="0">
                <a:solidFill>
                  <a:prstClr val="black"/>
                </a:solidFill>
              </a:rPr>
              <a:t> Update and </a:t>
            </a:r>
            <a:r>
              <a:rPr sz="2400" dirty="0" err="1">
                <a:solidFill>
                  <a:prstClr val="black"/>
                </a:solidFill>
              </a:rPr>
              <a:t>Delete</a:t>
            </a:r>
            <a:endParaRPr sz="2400" dirty="0">
              <a:solidFill>
                <a:prstClr val="black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sz="2400" b="1" dirty="0" err="1">
                <a:solidFill>
                  <a:prstClr val="black"/>
                </a:solidFill>
              </a:rPr>
              <a:t>Subscription</a:t>
            </a:r>
            <a:r>
              <a:rPr sz="2400" dirty="0">
                <a:solidFill>
                  <a:prstClr val="black"/>
                </a:solidFill>
              </a:rPr>
              <a:t>: pour des </a:t>
            </a:r>
            <a:r>
              <a:rPr sz="2400" dirty="0" err="1">
                <a:solidFill>
                  <a:prstClr val="black"/>
                </a:solidFill>
              </a:rPr>
              <a:t>fonctionnalitées</a:t>
            </a:r>
            <a:r>
              <a:rPr sz="2400" dirty="0">
                <a:solidFill>
                  <a:prstClr val="black"/>
                </a:solidFill>
              </a:rPr>
              <a:t> en temps réel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49C0D4EB-F219-C09F-A5A1-FD03FC4C4D46}"/>
              </a:ext>
            </a:extLst>
          </p:cNvPr>
          <p:cNvSpPr txBox="1"/>
          <p:nvPr/>
        </p:nvSpPr>
        <p:spPr>
          <a:xfrm>
            <a:off x="6936928" y="5694238"/>
            <a:ext cx="4427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000" dirty="0">
                <a:solidFill>
                  <a:prstClr val="black"/>
                </a:solidFill>
                <a:latin typeface="+mj-lt"/>
              </a:rPr>
              <a:t>Toutes les opérations passent dans le corps de la requête HTTP via la méthode </a:t>
            </a:r>
            <a:r>
              <a:rPr sz="2000" b="1" dirty="0">
                <a:solidFill>
                  <a:srgbClr val="C00000"/>
                </a:solidFill>
                <a:latin typeface="+mj-lt"/>
              </a:rPr>
              <a:t>POST</a:t>
            </a:r>
            <a:r>
              <a:rPr sz="2000" b="1" i="1" dirty="0">
                <a:solidFill>
                  <a:srgbClr val="C00000"/>
                </a:solidFill>
                <a:latin typeface="+mj-lt"/>
              </a:rPr>
              <a:t> </a:t>
            </a:r>
          </a:p>
        </p:txBody>
      </p:sp>
      <p:sp>
        <p:nvSpPr>
          <p:cNvPr id="48" name="Flèche droite 13">
            <a:extLst>
              <a:ext uri="{FF2B5EF4-FFF2-40B4-BE49-F238E27FC236}">
                <a16:creationId xmlns:a16="http://schemas.microsoft.com/office/drawing/2014/main" id="{63EC961A-A3B5-822C-226E-AD9FD96916FE}"/>
              </a:ext>
            </a:extLst>
          </p:cNvPr>
          <p:cNvSpPr/>
          <p:nvPr/>
        </p:nvSpPr>
        <p:spPr>
          <a:xfrm>
            <a:off x="6324600" y="5787454"/>
            <a:ext cx="533524" cy="210220"/>
          </a:xfrm>
          <a:prstGeom prst="rightArrow">
            <a:avLst/>
          </a:prstGeom>
          <a:noFill/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738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REST vs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10</a:t>
            </a:fld>
            <a:endParaRPr lang="fr-FR" dirty="0">
              <a:latin typeface="+mn-lt"/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DE85AD6-D2D4-0CE3-5539-1E5E4AE52C8C}"/>
              </a:ext>
            </a:extLst>
          </p:cNvPr>
          <p:cNvCxnSpPr>
            <a:cxnSpLocks/>
          </p:cNvCxnSpPr>
          <p:nvPr/>
        </p:nvCxnSpPr>
        <p:spPr>
          <a:xfrm>
            <a:off x="6113808" y="2696467"/>
            <a:ext cx="0" cy="4124658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B1EE335E-5F88-ED48-C998-DD3578A013C4}"/>
              </a:ext>
            </a:extLst>
          </p:cNvPr>
          <p:cNvGraphicFramePr>
            <a:graphicFrameLocks noGrp="1"/>
          </p:cNvGraphicFramePr>
          <p:nvPr/>
        </p:nvGraphicFramePr>
        <p:xfrm>
          <a:off x="2316760" y="2498347"/>
          <a:ext cx="2284737" cy="396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8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58A387C7-7CC1-559B-94B2-5EE7F68A2142}"/>
              </a:ext>
            </a:extLst>
          </p:cNvPr>
          <p:cNvSpPr txBox="1"/>
          <p:nvPr/>
        </p:nvSpPr>
        <p:spPr>
          <a:xfrm>
            <a:off x="3868826" y="1788842"/>
            <a:ext cx="6617274" cy="400110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latin typeface="Open Sans" panose="020B0606030504020204" pitchFamily="34" charset="0"/>
              </a:rPr>
              <a:t>La sur-extraction </a:t>
            </a:r>
            <a:r>
              <a:rPr lang="fr-FR" sz="1600" b="1" dirty="0">
                <a:latin typeface="Open Sans" panose="020B0606030504020204" pitchFamily="34" charset="0"/>
              </a:rPr>
              <a:t>(téléchargement de données inutiles)</a:t>
            </a:r>
            <a:endParaRPr lang="fr-FR" b="1" dirty="0">
              <a:latin typeface="Open Sans" panose="020B0606030504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AC22539-4061-10E3-E081-60CAEFF12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3380980"/>
            <a:ext cx="4407790" cy="2755631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29039C0-B7CB-CB71-DF71-7ED713DE0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567970"/>
              </p:ext>
            </p:extLst>
          </p:nvPr>
        </p:nvGraphicFramePr>
        <p:xfrm>
          <a:off x="8036277" y="2593231"/>
          <a:ext cx="2237765" cy="16395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3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779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/>
                        <a:t>GraphQL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Query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176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800" b="1" dirty="0"/>
                        <a:t>POST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800" b="0" dirty="0"/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movies </a:t>
                      </a:r>
                      <a:r>
                        <a:rPr lang="en-US" sz="1800" b="0" dirty="0"/>
                        <a:t>(last:2){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800" b="0" dirty="0"/>
                        <a:t>     title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800" b="0" dirty="0"/>
                        <a:t>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Image 18">
            <a:extLst>
              <a:ext uri="{FF2B5EF4-FFF2-40B4-BE49-F238E27FC236}">
                <a16:creationId xmlns:a16="http://schemas.microsoft.com/office/drawing/2014/main" id="{5479EDCD-C1C7-C10D-2B2E-9FB311FA1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701" y="4094126"/>
            <a:ext cx="4389722" cy="263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1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REST vs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11</a:t>
            </a:fld>
            <a:endParaRPr lang="fr-FR" dirty="0">
              <a:latin typeface="+mn-lt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BEF0EC3-24B7-1E73-3CEF-644E298CE396}"/>
              </a:ext>
            </a:extLst>
          </p:cNvPr>
          <p:cNvGraphicFramePr>
            <a:graphicFrameLocks noGrp="1"/>
          </p:cNvGraphicFramePr>
          <p:nvPr/>
        </p:nvGraphicFramePr>
        <p:xfrm>
          <a:off x="8036277" y="2593231"/>
          <a:ext cx="2237765" cy="239763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3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257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/>
                        <a:t>GraphQL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Query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538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fr-FR" sz="1800" b="1" dirty="0"/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 err="1">
                          <a:solidFill>
                            <a:srgbClr val="C00000"/>
                          </a:solidFill>
                        </a:rPr>
                        <a:t>movies</a:t>
                      </a:r>
                      <a:r>
                        <a:rPr lang="fr-FR" sz="1800" dirty="0"/>
                        <a:t>(id:1){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</a:t>
                      </a:r>
                      <a:r>
                        <a:rPr lang="fr-FR" sz="1800" dirty="0" err="1"/>
                        <a:t>title</a:t>
                      </a:r>
                      <a:endParaRPr lang="fr-FR" sz="1800" dirty="0"/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</a:t>
                      </a:r>
                      <a:r>
                        <a:rPr lang="fr-FR" sz="1800" dirty="0" err="1">
                          <a:solidFill>
                            <a:srgbClr val="00863D"/>
                          </a:solidFill>
                        </a:rPr>
                        <a:t>directors</a:t>
                      </a:r>
                      <a:r>
                        <a:rPr lang="fr-FR" sz="1800" dirty="0"/>
                        <a:t>{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</a:t>
                      </a:r>
                      <a:r>
                        <a:rPr lang="fr-FR" sz="1800" dirty="0" err="1"/>
                        <a:t>name</a:t>
                      </a:r>
                      <a:endParaRPr lang="fr-FR" sz="1800" dirty="0"/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</a:t>
                      </a:r>
                      <a:r>
                        <a:rPr lang="fr-FR" sz="1800" dirty="0" err="1">
                          <a:solidFill>
                            <a:srgbClr val="C00000"/>
                          </a:solidFill>
                        </a:rPr>
                        <a:t>movies</a:t>
                      </a:r>
                      <a:r>
                        <a:rPr lang="fr-FR" sz="1800" dirty="0"/>
                        <a:t>(last:3){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    date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    }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fr-FR" sz="1800" dirty="0"/>
                        <a:t>      } </a:t>
                      </a:r>
                      <a:br>
                        <a:rPr lang="fr-FR" sz="1800" dirty="0"/>
                      </a:br>
                      <a:r>
                        <a:rPr lang="fr-FR" sz="18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A641BDE6-0137-667A-17C6-DECD94308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4235" y="4770224"/>
            <a:ext cx="9239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D9A88F09-5E75-4BB4-B87A-C0182954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56596" y="3349585"/>
            <a:ext cx="737314" cy="95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F83D37C3-CA0B-308F-0C26-192E685B7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65032" y="2921730"/>
            <a:ext cx="737344" cy="110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91AAF73-287D-BF19-BA6F-A017F595D4D0}"/>
              </a:ext>
            </a:extLst>
          </p:cNvPr>
          <p:cNvCxnSpPr/>
          <p:nvPr/>
        </p:nvCxnSpPr>
        <p:spPr>
          <a:xfrm>
            <a:off x="3108848" y="3857833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1C2FC210-B90B-8E85-7C81-4DB1C99EE190}"/>
              </a:ext>
            </a:extLst>
          </p:cNvPr>
          <p:cNvSpPr txBox="1"/>
          <p:nvPr/>
        </p:nvSpPr>
        <p:spPr>
          <a:xfrm>
            <a:off x="3108848" y="3416493"/>
            <a:ext cx="156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GET</a:t>
            </a:r>
            <a:r>
              <a:rPr lang="fr-FR" dirty="0"/>
              <a:t> </a:t>
            </a:r>
            <a:r>
              <a:rPr lang="fr-FR" b="1" dirty="0">
                <a:solidFill>
                  <a:schemeClr val="bg1"/>
                </a:solidFill>
              </a:rPr>
              <a:t>…</a:t>
            </a:r>
            <a:r>
              <a:rPr lang="fr-FR" dirty="0"/>
              <a:t> </a:t>
            </a:r>
            <a:r>
              <a:rPr lang="fr-FR" sz="1600" b="1" dirty="0">
                <a:solidFill>
                  <a:srgbClr val="C00000"/>
                </a:solidFill>
              </a:rPr>
              <a:t>/</a:t>
            </a:r>
            <a:r>
              <a:rPr lang="fr-FR" sz="1600" b="1" dirty="0" err="1">
                <a:solidFill>
                  <a:srgbClr val="C00000"/>
                </a:solidFill>
              </a:rPr>
              <a:t>movies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31D7E76-4111-A2D7-D7AD-2B700E18AE7A}"/>
              </a:ext>
            </a:extLst>
          </p:cNvPr>
          <p:cNvCxnSpPr/>
          <p:nvPr/>
        </p:nvCxnSpPr>
        <p:spPr>
          <a:xfrm flipH="1">
            <a:off x="3108848" y="4073857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3172A9B-87FE-A2C6-23E4-7D6464D2A70C}"/>
              </a:ext>
            </a:extLst>
          </p:cNvPr>
          <p:cNvSpPr txBox="1"/>
          <p:nvPr/>
        </p:nvSpPr>
        <p:spPr>
          <a:xfrm>
            <a:off x="3468888" y="400184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movies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F3013706-6F65-C61F-2993-7E02EAE8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28532" y="4353258"/>
            <a:ext cx="711944" cy="106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953D292-B238-EDD1-2505-E966E357FE16}"/>
              </a:ext>
            </a:extLst>
          </p:cNvPr>
          <p:cNvCxnSpPr/>
          <p:nvPr/>
        </p:nvCxnSpPr>
        <p:spPr>
          <a:xfrm>
            <a:off x="3108848" y="5009961"/>
            <a:ext cx="15121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50307F64-7807-E9F6-9827-F9D4D6884AFB}"/>
              </a:ext>
            </a:extLst>
          </p:cNvPr>
          <p:cNvSpPr txBox="1"/>
          <p:nvPr/>
        </p:nvSpPr>
        <p:spPr>
          <a:xfrm>
            <a:off x="3036840" y="4568621"/>
            <a:ext cx="18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GET</a:t>
            </a:r>
            <a:r>
              <a:rPr lang="fr-FR" dirty="0"/>
              <a:t> </a:t>
            </a:r>
            <a:r>
              <a:rPr lang="fr-FR" sz="1600" dirty="0"/>
              <a:t> </a:t>
            </a:r>
            <a:r>
              <a:rPr lang="fr-FR" sz="1600" b="1" dirty="0">
                <a:solidFill>
                  <a:schemeClr val="bg1"/>
                </a:solidFill>
              </a:rPr>
              <a:t>… </a:t>
            </a:r>
            <a:r>
              <a:rPr lang="fr-FR" sz="1600" b="1" dirty="0">
                <a:solidFill>
                  <a:srgbClr val="C00000"/>
                </a:solidFill>
              </a:rPr>
              <a:t>/</a:t>
            </a:r>
            <a:r>
              <a:rPr lang="fr-FR" sz="1600" b="1" dirty="0" err="1">
                <a:solidFill>
                  <a:srgbClr val="C00000"/>
                </a:solidFill>
              </a:rPr>
              <a:t>movies</a:t>
            </a:r>
            <a:r>
              <a:rPr lang="fr-FR" sz="1600" b="1" dirty="0">
                <a:solidFill>
                  <a:srgbClr val="C00000"/>
                </a:solidFill>
              </a:rPr>
              <a:t>/1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CBA3865-9190-F327-F0CE-47B69F20B3CA}"/>
              </a:ext>
            </a:extLst>
          </p:cNvPr>
          <p:cNvCxnSpPr/>
          <p:nvPr/>
        </p:nvCxnSpPr>
        <p:spPr>
          <a:xfrm flipH="1">
            <a:off x="3108848" y="5225985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6E8EAE8-DF39-92F5-E741-958275A26C25}"/>
              </a:ext>
            </a:extLst>
          </p:cNvPr>
          <p:cNvSpPr txBox="1"/>
          <p:nvPr/>
        </p:nvSpPr>
        <p:spPr>
          <a:xfrm>
            <a:off x="3324872" y="5153977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Infos</a:t>
            </a:r>
            <a:r>
              <a:rPr lang="fr-FR" dirty="0"/>
              <a:t> </a:t>
            </a:r>
            <a:r>
              <a:rPr lang="fr-FR" dirty="0" err="1">
                <a:solidFill>
                  <a:schemeClr val="bg1"/>
                </a:solidFill>
              </a:rPr>
              <a:t>movie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8" name="Picture 9">
            <a:extLst>
              <a:ext uri="{FF2B5EF4-FFF2-40B4-BE49-F238E27FC236}">
                <a16:creationId xmlns:a16="http://schemas.microsoft.com/office/drawing/2014/main" id="{A81B9702-7178-6438-F2EC-037FB646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6632" y="5708759"/>
            <a:ext cx="724644" cy="108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D693479-4570-AD43-1913-A0B75381BFC5}"/>
              </a:ext>
            </a:extLst>
          </p:cNvPr>
          <p:cNvCxnSpPr/>
          <p:nvPr/>
        </p:nvCxnSpPr>
        <p:spPr>
          <a:xfrm>
            <a:off x="3108848" y="6224175"/>
            <a:ext cx="1584176" cy="9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6AC321F4-8358-8F76-CEB2-F1EC9EC99543}"/>
              </a:ext>
            </a:extLst>
          </p:cNvPr>
          <p:cNvSpPr txBox="1"/>
          <p:nvPr/>
        </p:nvSpPr>
        <p:spPr>
          <a:xfrm>
            <a:off x="3180856" y="5782835"/>
            <a:ext cx="167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GET</a:t>
            </a:r>
            <a:r>
              <a:rPr lang="fr-FR" sz="1600" dirty="0"/>
              <a:t> </a:t>
            </a:r>
            <a:r>
              <a:rPr lang="fr-FR" sz="1600" b="1" dirty="0">
                <a:solidFill>
                  <a:schemeClr val="bg1"/>
                </a:solidFill>
              </a:rPr>
              <a:t>… </a:t>
            </a:r>
            <a:r>
              <a:rPr lang="fr-FR" sz="1600" b="1" dirty="0">
                <a:solidFill>
                  <a:srgbClr val="C00000"/>
                </a:solidFill>
              </a:rPr>
              <a:t>/</a:t>
            </a:r>
            <a:r>
              <a:rPr lang="fr-FR" sz="1600" b="1" dirty="0" err="1">
                <a:solidFill>
                  <a:srgbClr val="00863D"/>
                </a:solidFill>
              </a:rPr>
              <a:t>directors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388956D-9E97-8356-6179-A0595484CFC9}"/>
              </a:ext>
            </a:extLst>
          </p:cNvPr>
          <p:cNvCxnSpPr/>
          <p:nvPr/>
        </p:nvCxnSpPr>
        <p:spPr>
          <a:xfrm flipH="1" flipV="1">
            <a:off x="3108848" y="6440199"/>
            <a:ext cx="1584176" cy="9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03FFEFCD-5E3C-107E-108E-A19988FD5FC4}"/>
              </a:ext>
            </a:extLst>
          </p:cNvPr>
          <p:cNvSpPr txBox="1"/>
          <p:nvPr/>
        </p:nvSpPr>
        <p:spPr>
          <a:xfrm>
            <a:off x="3396880" y="6378113"/>
            <a:ext cx="1368152" cy="369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directors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DE85AD6-D2D4-0CE3-5539-1E5E4AE52C8C}"/>
              </a:ext>
            </a:extLst>
          </p:cNvPr>
          <p:cNvCxnSpPr>
            <a:cxnSpLocks/>
          </p:cNvCxnSpPr>
          <p:nvPr/>
        </p:nvCxnSpPr>
        <p:spPr>
          <a:xfrm>
            <a:off x="6526760" y="2696467"/>
            <a:ext cx="0" cy="4124658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4" name="Picture 3">
            <a:extLst>
              <a:ext uri="{FF2B5EF4-FFF2-40B4-BE49-F238E27FC236}">
                <a16:creationId xmlns:a16="http://schemas.microsoft.com/office/drawing/2014/main" id="{C340EAF8-A26E-00E1-A130-0E65D092E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826032" y="4770224"/>
            <a:ext cx="120015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1763545-2348-D62C-7A72-42BE2FCF537B}"/>
              </a:ext>
            </a:extLst>
          </p:cNvPr>
          <p:cNvCxnSpPr/>
          <p:nvPr/>
        </p:nvCxnSpPr>
        <p:spPr>
          <a:xfrm>
            <a:off x="7915872" y="5293067"/>
            <a:ext cx="2507754" cy="9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B85B0C26-0F73-D310-A692-86BA83B71ACE}"/>
              </a:ext>
            </a:extLst>
          </p:cNvPr>
          <p:cNvCxnSpPr/>
          <p:nvPr/>
        </p:nvCxnSpPr>
        <p:spPr>
          <a:xfrm flipH="1">
            <a:off x="7915872" y="5653107"/>
            <a:ext cx="24482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B1EE335E-5F88-ED48-C998-DD3578A013C4}"/>
              </a:ext>
            </a:extLst>
          </p:cNvPr>
          <p:cNvGraphicFramePr>
            <a:graphicFrameLocks noGrp="1"/>
          </p:cNvGraphicFramePr>
          <p:nvPr/>
        </p:nvGraphicFramePr>
        <p:xfrm>
          <a:off x="2316760" y="2498347"/>
          <a:ext cx="2284737" cy="396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8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REST </a:t>
                      </a:r>
                      <a:r>
                        <a:rPr lang="fr-FR" sz="2000" dirty="0" err="1"/>
                        <a:t>Query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B717D6A5-A742-C760-CD80-4F8FB89E017D}"/>
              </a:ext>
            </a:extLst>
          </p:cNvPr>
          <p:cNvSpPr txBox="1"/>
          <p:nvPr/>
        </p:nvSpPr>
        <p:spPr>
          <a:xfrm>
            <a:off x="8082203" y="5928897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Données demandées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(JSON)</a:t>
            </a:r>
          </a:p>
        </p:txBody>
      </p:sp>
      <p:pic>
        <p:nvPicPr>
          <p:cNvPr id="29" name="Picture 8">
            <a:extLst>
              <a:ext uri="{FF2B5EF4-FFF2-40B4-BE49-F238E27FC236}">
                <a16:creationId xmlns:a16="http://schemas.microsoft.com/office/drawing/2014/main" id="{9B1CC765-19DD-5BB8-25EC-C41C2CDAC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69296" y="4556085"/>
            <a:ext cx="737314" cy="95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8">
            <a:extLst>
              <a:ext uri="{FF2B5EF4-FFF2-40B4-BE49-F238E27FC236}">
                <a16:creationId xmlns:a16="http://schemas.microsoft.com/office/drawing/2014/main" id="{AAA85F14-75FC-17B5-E94A-03E694C7A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1996" y="5864185"/>
            <a:ext cx="737314" cy="95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58A387C7-7CC1-559B-94B2-5EE7F68A2142}"/>
              </a:ext>
            </a:extLst>
          </p:cNvPr>
          <p:cNvSpPr txBox="1"/>
          <p:nvPr/>
        </p:nvSpPr>
        <p:spPr>
          <a:xfrm>
            <a:off x="3868826" y="1788842"/>
            <a:ext cx="6405215" cy="400110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latin typeface="Open Sans" panose="020B0606030504020204" pitchFamily="34" charset="0"/>
              </a:rPr>
              <a:t>La sous-extraction </a:t>
            </a:r>
            <a:r>
              <a:rPr lang="fr-FR" sz="1600" b="1" dirty="0">
                <a:latin typeface="Open Sans" panose="020B0606030504020204" pitchFamily="34" charset="0"/>
              </a:rPr>
              <a:t>(l’envoi de plusieurs requêtes)</a:t>
            </a:r>
            <a:endParaRPr lang="fr-FR" sz="1800" b="1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95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Définition de données en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12</a:t>
            </a:fld>
            <a:endParaRPr lang="fr-FR" dirty="0">
              <a:latin typeface="+mn-lt"/>
            </a:endParaRPr>
          </a:p>
        </p:txBody>
      </p:sp>
      <p:sp>
        <p:nvSpPr>
          <p:cNvPr id="3" name="Google Shape;94;g25b1bb62912_0_14">
            <a:extLst>
              <a:ext uri="{FF2B5EF4-FFF2-40B4-BE49-F238E27FC236}">
                <a16:creationId xmlns:a16="http://schemas.microsoft.com/office/drawing/2014/main" id="{96BF8585-E8E8-9543-A972-493C9D8B1A4B}"/>
              </a:ext>
            </a:extLst>
          </p:cNvPr>
          <p:cNvSpPr txBox="1"/>
          <p:nvPr/>
        </p:nvSpPr>
        <p:spPr>
          <a:xfrm>
            <a:off x="542415" y="2413368"/>
            <a:ext cx="10005671" cy="3867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SzTx/>
              <a:buFont typeface="Wingdings" pitchFamily="2" charset="2"/>
              <a:buChar char="q"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SDL (</a:t>
            </a:r>
            <a:r>
              <a:rPr kumimoji="0" lang="fr-FR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Schema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fr-FR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Definition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fr-FR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Language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)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GraphQL</a:t>
            </a: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a son propre langage de définition:</a:t>
            </a:r>
          </a:p>
          <a:p>
            <a:pPr marL="6858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2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des données, leurs types ainsi que les opérations à exécuter (Requêtes, mutations ou </a:t>
            </a:r>
            <a:r>
              <a:rPr kumimoji="0" lang="fr-FR" sz="25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Subscription</a:t>
            </a:r>
            <a:r>
              <a:rPr kumimoji="0" lang="fr-FR" sz="2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).</a:t>
            </a: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La syntaxe pour écrire des schémas est appelée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Schema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Definition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Language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(SDL).</a:t>
            </a:r>
          </a:p>
        </p:txBody>
      </p:sp>
    </p:spTree>
    <p:extLst>
      <p:ext uri="{BB962C8B-B14F-4D97-AF65-F5344CB8AC3E}">
        <p14:creationId xmlns:p14="http://schemas.microsoft.com/office/powerpoint/2010/main" val="409075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>
                <a:sym typeface="Times New Roman"/>
              </a:rPr>
              <a:t>Schema</a:t>
            </a:r>
            <a:r>
              <a:rPr lang="fr-FR" dirty="0">
                <a:sym typeface="Times New Roman"/>
              </a:rPr>
              <a:t> en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13</a:t>
            </a:fld>
            <a:endParaRPr lang="fr-FR" dirty="0">
              <a:latin typeface="+mn-lt"/>
            </a:endParaRPr>
          </a:p>
        </p:txBody>
      </p:sp>
      <p:sp>
        <p:nvSpPr>
          <p:cNvPr id="3" name="Google Shape;94;g25b1bb62912_0_14">
            <a:extLst>
              <a:ext uri="{FF2B5EF4-FFF2-40B4-BE49-F238E27FC236}">
                <a16:creationId xmlns:a16="http://schemas.microsoft.com/office/drawing/2014/main" id="{96BF8585-E8E8-9543-A972-493C9D8B1A4B}"/>
              </a:ext>
            </a:extLst>
          </p:cNvPr>
          <p:cNvSpPr txBox="1"/>
          <p:nvPr/>
        </p:nvSpPr>
        <p:spPr>
          <a:xfrm>
            <a:off x="542415" y="2413368"/>
            <a:ext cx="10005671" cy="433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Elément central dans la conception d’une API </a:t>
            </a:r>
            <a:r>
              <a:rPr kumimoji="0" lang="fr-FR" sz="2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GraphQL</a:t>
            </a: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On y définit: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Les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objets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GraphQL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: leurs champs et types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Toutes les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requêtes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disponibles: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Query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Toutes 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actions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disponibles: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Mutations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Les mises à jour de données en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temps-réel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: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Subscriptions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Règles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métiers (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exp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: ! si champs obligatoire)</a:t>
            </a:r>
          </a:p>
        </p:txBody>
      </p:sp>
    </p:spTree>
    <p:extLst>
      <p:ext uri="{BB962C8B-B14F-4D97-AF65-F5344CB8AC3E}">
        <p14:creationId xmlns:p14="http://schemas.microsoft.com/office/powerpoint/2010/main" val="2523050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>
                <a:sym typeface="Times New Roman"/>
              </a:rPr>
              <a:t>Schema</a:t>
            </a:r>
            <a:r>
              <a:rPr lang="fr-FR" dirty="0">
                <a:sym typeface="Times New Roman"/>
              </a:rPr>
              <a:t> en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14</a:t>
            </a:fld>
            <a:endParaRPr lang="fr-FR" dirty="0">
              <a:latin typeface="+mn-lt"/>
            </a:endParaRPr>
          </a:p>
        </p:txBody>
      </p:sp>
      <p:sp>
        <p:nvSpPr>
          <p:cNvPr id="3" name="Google Shape;94;g25b1bb62912_0_14">
            <a:extLst>
              <a:ext uri="{FF2B5EF4-FFF2-40B4-BE49-F238E27FC236}">
                <a16:creationId xmlns:a16="http://schemas.microsoft.com/office/drawing/2014/main" id="{96BF8585-E8E8-9543-A972-493C9D8B1A4B}"/>
              </a:ext>
            </a:extLst>
          </p:cNvPr>
          <p:cNvSpPr txBox="1"/>
          <p:nvPr/>
        </p:nvSpPr>
        <p:spPr>
          <a:xfrm>
            <a:off x="542415" y="2413368"/>
            <a:ext cx="10005671" cy="411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SzTx/>
              <a:buFont typeface="Wingdings" pitchFamily="2" charset="2"/>
              <a:buChar char="q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Type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L'élément le plus basique de chaque schéma</a:t>
            </a:r>
          </a:p>
          <a:p>
            <a:pPr marL="6858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Permet de:</a:t>
            </a:r>
          </a:p>
          <a:p>
            <a:pPr marL="6858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fr-F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Etablir des relations entre différents éléments de schéma,</a:t>
            </a:r>
          </a:p>
          <a:p>
            <a:pPr marL="6858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fr-F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Définir les opérations </a:t>
            </a:r>
            <a:r>
              <a:rPr kumimoji="0" lang="fr-FR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GraphQL</a:t>
            </a:r>
            <a:r>
              <a:rPr kumimoji="0" lang="fr-F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autorisées à effectuer sur le serveur.</a:t>
            </a:r>
          </a:p>
          <a:p>
            <a:pPr marL="6858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fr-F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1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>
                <a:sym typeface="Times New Roman"/>
              </a:rPr>
              <a:t>Schema</a:t>
            </a:r>
            <a:r>
              <a:rPr lang="fr-FR" dirty="0">
                <a:sym typeface="Times New Roman"/>
              </a:rPr>
              <a:t> en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15</a:t>
            </a:fld>
            <a:endParaRPr lang="fr-FR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3E42B-20D2-618D-B7C3-654FEE8C448B}"/>
              </a:ext>
            </a:extLst>
          </p:cNvPr>
          <p:cNvSpPr/>
          <p:nvPr/>
        </p:nvSpPr>
        <p:spPr>
          <a:xfrm>
            <a:off x="1934504" y="3131416"/>
            <a:ext cx="3203848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200" dirty="0"/>
              <a:t>type  </a:t>
            </a:r>
            <a:r>
              <a:rPr lang="fr-FR" sz="2200" b="1" dirty="0">
                <a:solidFill>
                  <a:schemeClr val="accent2">
                    <a:lumMod val="50000"/>
                  </a:schemeClr>
                </a:solidFill>
              </a:rPr>
              <a:t>Book</a:t>
            </a:r>
            <a:r>
              <a:rPr lang="fr-FR" sz="2200" dirty="0"/>
              <a:t> {</a:t>
            </a:r>
          </a:p>
          <a:p>
            <a:r>
              <a:rPr lang="fr-FR" sz="2200" dirty="0"/>
              <a:t>           id: Int</a:t>
            </a:r>
            <a:r>
              <a:rPr lang="fr-FR" sz="2200" b="1" dirty="0">
                <a:solidFill>
                  <a:srgbClr val="3399FF"/>
                </a:solidFill>
              </a:rPr>
              <a:t>!</a:t>
            </a:r>
          </a:p>
          <a:p>
            <a:r>
              <a:rPr lang="fr-FR" sz="2200" dirty="0"/>
              <a:t>           </a:t>
            </a:r>
            <a:r>
              <a:rPr lang="fr-FR" sz="2200" dirty="0" err="1"/>
              <a:t>title</a:t>
            </a:r>
            <a:r>
              <a:rPr lang="fr-FR" sz="2200" dirty="0"/>
              <a:t>: String</a:t>
            </a:r>
          </a:p>
          <a:p>
            <a:r>
              <a:rPr lang="fr-FR" sz="2200" dirty="0"/>
              <a:t>           </a:t>
            </a:r>
            <a:r>
              <a:rPr lang="fr-FR" sz="2200" dirty="0" err="1"/>
              <a:t>pageCount</a:t>
            </a:r>
            <a:r>
              <a:rPr lang="fr-FR" sz="2200" dirty="0"/>
              <a:t>: Int</a:t>
            </a:r>
          </a:p>
          <a:p>
            <a:r>
              <a:rPr lang="fr-FR" sz="2200" dirty="0"/>
              <a:t>           </a:t>
            </a:r>
            <a:r>
              <a:rPr lang="fr-FR" sz="2200" dirty="0" err="1"/>
              <a:t>authors</a:t>
            </a:r>
            <a:r>
              <a:rPr lang="fr-FR" sz="2200" dirty="0"/>
              <a:t>: </a:t>
            </a:r>
            <a:r>
              <a:rPr lang="fr-FR" sz="2200" b="1" dirty="0">
                <a:solidFill>
                  <a:schemeClr val="accent3">
                    <a:lumMod val="75000"/>
                  </a:schemeClr>
                </a:solidFill>
              </a:rPr>
              <a:t>[</a:t>
            </a:r>
            <a:r>
              <a:rPr lang="fr-FR" sz="2200" b="1" dirty="0" err="1">
                <a:solidFill>
                  <a:schemeClr val="accent3">
                    <a:lumMod val="75000"/>
                  </a:schemeClr>
                </a:solidFill>
              </a:rPr>
              <a:t>Author</a:t>
            </a:r>
            <a:r>
              <a:rPr lang="fr-FR" sz="2200" dirty="0">
                <a:solidFill>
                  <a:schemeClr val="accent3">
                    <a:lumMod val="75000"/>
                  </a:schemeClr>
                </a:solidFill>
              </a:rPr>
              <a:t>]</a:t>
            </a:r>
            <a:endParaRPr lang="fr-FR" sz="2200" dirty="0"/>
          </a:p>
          <a:p>
            <a:r>
              <a:rPr lang="fr-FR" sz="2200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B2902-B815-AF4B-7A8B-4E8043B3DE48}"/>
              </a:ext>
            </a:extLst>
          </p:cNvPr>
          <p:cNvSpPr/>
          <p:nvPr/>
        </p:nvSpPr>
        <p:spPr>
          <a:xfrm>
            <a:off x="6795552" y="3084056"/>
            <a:ext cx="2987824" cy="17851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200" dirty="0"/>
              <a:t>type  </a:t>
            </a:r>
            <a:r>
              <a:rPr lang="fr-FR" sz="2200" b="1" dirty="0" err="1">
                <a:solidFill>
                  <a:schemeClr val="accent3">
                    <a:lumMod val="75000"/>
                  </a:schemeClr>
                </a:solidFill>
              </a:rPr>
              <a:t>Author</a:t>
            </a:r>
            <a:r>
              <a:rPr lang="fr-FR" sz="2200" dirty="0"/>
              <a:t>{</a:t>
            </a:r>
          </a:p>
          <a:p>
            <a:r>
              <a:rPr lang="fr-FR" sz="2200" dirty="0"/>
              <a:t>           </a:t>
            </a:r>
            <a:r>
              <a:rPr lang="fr-FR" sz="2200" dirty="0" err="1"/>
              <a:t>firstName</a:t>
            </a:r>
            <a:r>
              <a:rPr lang="fr-FR" sz="2200" dirty="0"/>
              <a:t>: String</a:t>
            </a:r>
          </a:p>
          <a:p>
            <a:r>
              <a:rPr lang="fr-FR" sz="2200" dirty="0"/>
              <a:t>           </a:t>
            </a:r>
            <a:r>
              <a:rPr lang="fr-FR" sz="2200" dirty="0" err="1"/>
              <a:t>lastName</a:t>
            </a:r>
            <a:r>
              <a:rPr lang="fr-FR" sz="2200" dirty="0"/>
              <a:t>: String</a:t>
            </a:r>
          </a:p>
          <a:p>
            <a:r>
              <a:rPr lang="fr-FR" sz="2200" dirty="0"/>
              <a:t>}</a:t>
            </a:r>
          </a:p>
          <a:p>
            <a:endParaRPr lang="fr-FR" sz="2200" dirty="0"/>
          </a:p>
        </p:txBody>
      </p:sp>
      <p:cxnSp>
        <p:nvCxnSpPr>
          <p:cNvPr id="6" name="Connecteur en angle 11">
            <a:extLst>
              <a:ext uri="{FF2B5EF4-FFF2-40B4-BE49-F238E27FC236}">
                <a16:creationId xmlns:a16="http://schemas.microsoft.com/office/drawing/2014/main" id="{46171199-880F-C78D-DEAB-642A51DA56E8}"/>
              </a:ext>
            </a:extLst>
          </p:cNvPr>
          <p:cNvCxnSpPr/>
          <p:nvPr/>
        </p:nvCxnSpPr>
        <p:spPr>
          <a:xfrm flipV="1">
            <a:off x="5246872" y="3316342"/>
            <a:ext cx="1368152" cy="115212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23EE4612-7373-C704-77D9-55B7C18CC3B5}"/>
              </a:ext>
            </a:extLst>
          </p:cNvPr>
          <p:cNvSpPr txBox="1"/>
          <p:nvPr/>
        </p:nvSpPr>
        <p:spPr>
          <a:xfrm>
            <a:off x="4742816" y="352307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Relation entre Objets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881F3A1-98E2-7815-61FD-E62900A7DB12}"/>
              </a:ext>
            </a:extLst>
          </p:cNvPr>
          <p:cNvSpPr txBox="1"/>
          <p:nvPr/>
        </p:nvSpPr>
        <p:spPr>
          <a:xfrm>
            <a:off x="2174243" y="5589240"/>
            <a:ext cx="3658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!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: exprime un champ optionnel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D025AFB-0C73-5620-01E5-5C2971E6520B}"/>
              </a:ext>
            </a:extLst>
          </p:cNvPr>
          <p:cNvSpPr txBox="1"/>
          <p:nvPr/>
        </p:nvSpPr>
        <p:spPr>
          <a:xfrm>
            <a:off x="516566" y="2455092"/>
            <a:ext cx="6098458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95A2">
                  <a:lumMod val="75000"/>
                </a:srgbClr>
              </a:buClr>
              <a:buSzTx/>
              <a:buFont typeface="Wingdings" pitchFamily="2" charset="2"/>
              <a:buChar char="q"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lang="fr-FR" sz="3600" b="1" dirty="0">
                <a:solidFill>
                  <a:prstClr val="black"/>
                </a:solidFill>
                <a:cs typeface="Arial" pitchFamily="34" charset="0"/>
              </a:rPr>
              <a:t>Les </a:t>
            </a: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Objets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82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>
                <a:sym typeface="Times New Roman"/>
              </a:rPr>
              <a:t>Schema</a:t>
            </a:r>
            <a:r>
              <a:rPr lang="fr-FR" dirty="0">
                <a:sym typeface="Times New Roman"/>
              </a:rPr>
              <a:t> en </a:t>
            </a:r>
            <a:r>
              <a:rPr lang="fr-FR" dirty="0" err="1">
                <a:sym typeface="Times New Roman"/>
              </a:rPr>
              <a:t>GraphQL</a:t>
            </a:r>
            <a:endParaRPr lang="fr-FR" dirty="0">
              <a:sym typeface="Times New Roman"/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16</a:t>
            </a:fld>
            <a:endParaRPr lang="fr-FR" dirty="0">
              <a:latin typeface="+mn-lt"/>
            </a:endParaRPr>
          </a:p>
        </p:txBody>
      </p:sp>
      <p:sp>
        <p:nvSpPr>
          <p:cNvPr id="3" name="Google Shape;94;g25b1bb62912_0_14">
            <a:extLst>
              <a:ext uri="{FF2B5EF4-FFF2-40B4-BE49-F238E27FC236}">
                <a16:creationId xmlns:a16="http://schemas.microsoft.com/office/drawing/2014/main" id="{96BF8585-E8E8-9543-A972-493C9D8B1A4B}"/>
              </a:ext>
            </a:extLst>
          </p:cNvPr>
          <p:cNvSpPr txBox="1"/>
          <p:nvPr/>
        </p:nvSpPr>
        <p:spPr>
          <a:xfrm>
            <a:off x="542415" y="2413368"/>
            <a:ext cx="10005671" cy="3682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SzTx/>
              <a:buFont typeface="Wingdings" pitchFamily="2" charset="2"/>
              <a:buChar char="q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fr-FR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Methodes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endParaRPr lang="fr-FR" sz="2000" dirty="0">
              <a:solidFill>
                <a:prstClr val="black"/>
              </a:solidFill>
              <a:cs typeface="Arial" pitchFamily="34" charset="0"/>
            </a:endParaRP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lang="fr-FR" sz="2900" b="1" dirty="0">
                <a:solidFill>
                  <a:prstClr val="black"/>
                </a:solidFill>
                <a:cs typeface="Arial" pitchFamily="34" charset="0"/>
              </a:rPr>
              <a:t>Q</a:t>
            </a:r>
            <a:r>
              <a:rPr kumimoji="0" lang="fr-FR" sz="2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uery</a:t>
            </a: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: correspond à l'action </a:t>
            </a:r>
            <a:r>
              <a:rPr kumimoji="0" lang="fr-FR" sz="2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read</a:t>
            </a: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, c'est-à-dire « GET » en REST.</a:t>
            </a: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endParaRPr kumimoji="0" lang="fr-FR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1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sz="2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Mutation</a:t>
            </a: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: Toutes les autres actions (</a:t>
            </a:r>
            <a:r>
              <a:rPr kumimoji="0" lang="fr-FR" sz="2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create</a:t>
            </a: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, update et </a:t>
            </a:r>
            <a:r>
              <a:rPr kumimoji="0" lang="fr-FR" sz="2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delete</a:t>
            </a:r>
            <a:r>
              <a:rPr kumimoji="0" lang="fr-FR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), c'est-à-dire « POST », « PUT » et « DELETE » en REST.</a:t>
            </a:r>
          </a:p>
          <a:p>
            <a:pPr marL="6858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fr-F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154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Exemple de </a:t>
            </a:r>
            <a:r>
              <a:rPr lang="fr-FR" dirty="0" err="1">
                <a:sym typeface="Times New Roman"/>
              </a:rPr>
              <a:t>Schema</a:t>
            </a:r>
            <a:r>
              <a:rPr lang="fr-FR" dirty="0">
                <a:sym typeface="Times New Roman"/>
              </a:rPr>
              <a:t> SDL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17</a:t>
            </a:fld>
            <a:endParaRPr lang="fr-FR" dirty="0">
              <a:latin typeface="+mn-lt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74C7AF9-587E-99D4-6723-BCABB6759D1B}"/>
              </a:ext>
            </a:extLst>
          </p:cNvPr>
          <p:cNvSpPr txBox="1"/>
          <p:nvPr/>
        </p:nvSpPr>
        <p:spPr>
          <a:xfrm>
            <a:off x="3655516" y="1790858"/>
            <a:ext cx="6048672" cy="5005626"/>
          </a:xfrm>
          <a:prstGeom prst="flowChartAlternateProcess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>
              <a:rot lat="0" lon="3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 </a:t>
            </a:r>
            <a:r>
              <a:rPr kumimoji="0" sz="18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book(id: Int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):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books : [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Mutation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createBook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title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String,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pageCount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Int,                           	            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authors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[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Author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]): [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1B0EC330-9303-6229-266D-2FD7B6E32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839377"/>
              </p:ext>
            </p:extLst>
          </p:nvPr>
        </p:nvGraphicFramePr>
        <p:xfrm>
          <a:off x="3799532" y="2147892"/>
          <a:ext cx="6096000" cy="2011680"/>
        </p:xfrm>
        <a:graphic>
          <a:graphicData uri="http://schemas.openxmlformats.org/drawingml/2006/table">
            <a:tbl>
              <a:tblPr firstRow="1" bandRow="1"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9912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type  </a:t>
                      </a: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Book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 {</a:t>
                      </a: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           id: Int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!</a:t>
                      </a: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           </a:t>
                      </a:r>
                      <a:r>
                        <a:rPr lang="fr-FR" b="0" dirty="0" err="1">
                          <a:solidFill>
                            <a:schemeClr val="bg1"/>
                          </a:solidFill>
                        </a:rPr>
                        <a:t>title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: String</a:t>
                      </a: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           </a:t>
                      </a:r>
                      <a:r>
                        <a:rPr lang="fr-FR" b="0" dirty="0" err="1">
                          <a:solidFill>
                            <a:schemeClr val="bg1"/>
                          </a:solidFill>
                        </a:rPr>
                        <a:t>pageCount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: Int</a:t>
                      </a: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           </a:t>
                      </a:r>
                      <a:r>
                        <a:rPr lang="fr-FR" b="0" dirty="0" err="1">
                          <a:solidFill>
                            <a:schemeClr val="bg1"/>
                          </a:solidFill>
                        </a:rPr>
                        <a:t>author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fr-FR" b="0" dirty="0" err="1">
                          <a:solidFill>
                            <a:srgbClr val="009242"/>
                          </a:solidFill>
                        </a:rPr>
                        <a:t>Author</a:t>
                      </a:r>
                      <a:endParaRPr lang="fr-FR" b="0" dirty="0">
                        <a:solidFill>
                          <a:srgbClr val="009242"/>
                        </a:solidFill>
                      </a:endParaRP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}</a:t>
                      </a:r>
                    </a:p>
                    <a:p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type  </a:t>
                      </a:r>
                      <a:r>
                        <a:rPr lang="fr-FR" b="0" dirty="0" err="1">
                          <a:solidFill>
                            <a:srgbClr val="009242"/>
                          </a:solidFill>
                        </a:rPr>
                        <a:t>Author</a:t>
                      </a:r>
                      <a:r>
                        <a:rPr lang="fr-FR" b="0" dirty="0">
                          <a:solidFill>
                            <a:srgbClr val="009242"/>
                          </a:solidFill>
                        </a:rPr>
                        <a:t> 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           </a:t>
                      </a:r>
                      <a:r>
                        <a:rPr lang="fr-FR" b="0" dirty="0" err="1">
                          <a:solidFill>
                            <a:schemeClr val="bg1"/>
                          </a:solidFill>
                        </a:rPr>
                        <a:t>firstName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: String</a:t>
                      </a: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           </a:t>
                      </a:r>
                      <a:r>
                        <a:rPr lang="fr-FR" b="0" dirty="0" err="1">
                          <a:solidFill>
                            <a:schemeClr val="bg1"/>
                          </a:solidFill>
                        </a:rPr>
                        <a:t>lastName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: String</a:t>
                      </a:r>
                    </a:p>
                    <a:p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}</a:t>
                      </a:r>
                    </a:p>
                    <a:p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Parenthèse ouvrante 21">
            <a:extLst>
              <a:ext uri="{FF2B5EF4-FFF2-40B4-BE49-F238E27FC236}">
                <a16:creationId xmlns:a16="http://schemas.microsoft.com/office/drawing/2014/main" id="{3FAD0D4E-DAC6-32DF-244B-DDA9756CEEAA}"/>
              </a:ext>
            </a:extLst>
          </p:cNvPr>
          <p:cNvSpPr/>
          <p:nvPr/>
        </p:nvSpPr>
        <p:spPr>
          <a:xfrm>
            <a:off x="3270796" y="2259980"/>
            <a:ext cx="72008" cy="1440160"/>
          </a:xfrm>
          <a:prstGeom prst="leftBracket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Parenthèse ouvrante 22">
            <a:extLst>
              <a:ext uri="{FF2B5EF4-FFF2-40B4-BE49-F238E27FC236}">
                <a16:creationId xmlns:a16="http://schemas.microsoft.com/office/drawing/2014/main" id="{90B5240F-AAF1-6C25-5FFD-D50F5496B9D1}"/>
              </a:ext>
            </a:extLst>
          </p:cNvPr>
          <p:cNvSpPr/>
          <p:nvPr/>
        </p:nvSpPr>
        <p:spPr>
          <a:xfrm>
            <a:off x="3270796" y="4060180"/>
            <a:ext cx="72008" cy="1008112"/>
          </a:xfrm>
          <a:prstGeom prst="leftBracket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Parenthèse ouvrante 23">
            <a:extLst>
              <a:ext uri="{FF2B5EF4-FFF2-40B4-BE49-F238E27FC236}">
                <a16:creationId xmlns:a16="http://schemas.microsoft.com/office/drawing/2014/main" id="{155D9615-FAE8-A2FD-EC06-E0DF7C59C5CA}"/>
              </a:ext>
            </a:extLst>
          </p:cNvPr>
          <p:cNvSpPr/>
          <p:nvPr/>
        </p:nvSpPr>
        <p:spPr>
          <a:xfrm>
            <a:off x="3270796" y="5356324"/>
            <a:ext cx="72008" cy="1008112"/>
          </a:xfrm>
          <a:prstGeom prst="leftBracket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6B7F0B2-6540-3FB6-B00E-A86E00A2AECF}"/>
              </a:ext>
            </a:extLst>
          </p:cNvPr>
          <p:cNvSpPr txBox="1"/>
          <p:nvPr/>
        </p:nvSpPr>
        <p:spPr>
          <a:xfrm>
            <a:off x="2334692" y="2908052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b="1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Objets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558CA7F-0018-ADF8-9D3F-7A1EEFF1B3CB}"/>
              </a:ext>
            </a:extLst>
          </p:cNvPr>
          <p:cNvSpPr txBox="1"/>
          <p:nvPr/>
        </p:nvSpPr>
        <p:spPr>
          <a:xfrm>
            <a:off x="2334692" y="4348212"/>
            <a:ext cx="97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b="1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Requête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20A08FC-8EBF-084B-F319-10C946E965A4}"/>
              </a:ext>
            </a:extLst>
          </p:cNvPr>
          <p:cNvSpPr txBox="1"/>
          <p:nvPr/>
        </p:nvSpPr>
        <p:spPr>
          <a:xfrm>
            <a:off x="2262684" y="5644356"/>
            <a:ext cx="1082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b="1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Mutation</a:t>
            </a:r>
          </a:p>
        </p:txBody>
      </p:sp>
    </p:spTree>
    <p:extLst>
      <p:ext uri="{BB962C8B-B14F-4D97-AF65-F5344CB8AC3E}">
        <p14:creationId xmlns:p14="http://schemas.microsoft.com/office/powerpoint/2010/main" val="2681023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661" y="4935185"/>
            <a:ext cx="7936230" cy="138076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Exercice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391FC73-D2BC-2874-2B93-6DAA14B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18</a:t>
            </a:fld>
            <a:endParaRPr lang="fr-FR" dirty="0">
              <a:latin typeface="+mn-lt"/>
            </a:endParaRPr>
          </a:p>
        </p:txBody>
      </p:sp>
      <p:pic>
        <p:nvPicPr>
          <p:cNvPr id="7" name="Espace réservé d’image 52" descr="Ampoules suspendues">
            <a:extLst>
              <a:ext uri="{FF2B5EF4-FFF2-40B4-BE49-F238E27FC236}">
                <a16:creationId xmlns:a16="http://schemas.microsoft.com/office/drawing/2014/main" id="{4A9FEE16-E411-A814-67BD-466FA009D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-32325" y="0"/>
            <a:ext cx="3586686" cy="6858000"/>
          </a:xfrm>
          <a:prstGeom prst="rect">
            <a:avLst/>
          </a:prstGeom>
        </p:spPr>
      </p:pic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DB31ED0C-91E3-0713-DEB3-339ED8148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077007"/>
              </p:ext>
            </p:extLst>
          </p:nvPr>
        </p:nvGraphicFramePr>
        <p:xfrm>
          <a:off x="6470849" y="511282"/>
          <a:ext cx="219324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REST 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AA6DAC6A-2F99-3191-3C3E-146CB4C65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50055"/>
              </p:ext>
            </p:extLst>
          </p:nvPr>
        </p:nvGraphicFramePr>
        <p:xfrm>
          <a:off x="9286160" y="517002"/>
          <a:ext cx="219324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/>
                        <a:t>GraphQL</a:t>
                      </a:r>
                      <a:endParaRPr lang="fr-FR" sz="20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B1C669CD-CB28-B509-44C2-06DD93048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62324"/>
              </p:ext>
            </p:extLst>
          </p:nvPr>
        </p:nvGraphicFramePr>
        <p:xfrm>
          <a:off x="3646661" y="1198922"/>
          <a:ext cx="8401844" cy="436982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95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7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154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Structure de réponse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>
                          <a:solidFill>
                            <a:schemeClr val="bg1"/>
                          </a:solidFill>
                        </a:rPr>
                        <a:t>Fixée par le serveur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>
                          <a:solidFill>
                            <a:schemeClr val="bg1"/>
                          </a:solidFill>
                        </a:rPr>
                        <a:t>Fixée par le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154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Point de terminaison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Plusieurs</a:t>
                      </a:r>
                      <a:endParaRPr lang="fr-FR" sz="2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1 seul</a:t>
                      </a:r>
                      <a:endParaRPr lang="fr-FR" sz="2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037957"/>
                  </a:ext>
                </a:extLst>
              </a:tr>
              <a:tr h="412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P. Transport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53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P. Communication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Formats de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XMM, JSON, TEXT,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378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Méthodes 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Toutes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197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Contrat</a:t>
                      </a:r>
                      <a:r>
                        <a:rPr lang="fr-FR" sz="2000" b="1" baseline="0" dirty="0">
                          <a:solidFill>
                            <a:schemeClr val="bg1"/>
                          </a:solidFill>
                        </a:rPr>
                        <a:t> standardisé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WADL,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Swagger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SDL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Temps de</a:t>
                      </a:r>
                      <a:r>
                        <a:rPr lang="fr-FR" sz="2000" b="1" baseline="0" dirty="0">
                          <a:solidFill>
                            <a:schemeClr val="bg1"/>
                          </a:solidFill>
                        </a:rPr>
                        <a:t>  réponse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Un peu 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Plus rapide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85794"/>
                  </a:ext>
                </a:extLst>
              </a:tr>
            </a:tbl>
          </a:graphicData>
        </a:graphic>
      </p:graphicFrame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2D1C491-D764-A21C-BB7A-AEFDBF534CF6}"/>
              </a:ext>
            </a:extLst>
          </p:cNvPr>
          <p:cNvCxnSpPr>
            <a:cxnSpLocks/>
          </p:cNvCxnSpPr>
          <p:nvPr/>
        </p:nvCxnSpPr>
        <p:spPr>
          <a:xfrm>
            <a:off x="8957459" y="629266"/>
            <a:ext cx="0" cy="352839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294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3482</TotalTime>
  <Words>857</Words>
  <Application>Microsoft Office PowerPoint</Application>
  <PresentationFormat>Grand écran</PresentationFormat>
  <Paragraphs>232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7" baseType="lpstr">
      <vt:lpstr>Arial</vt:lpstr>
      <vt:lpstr>Calibri</vt:lpstr>
      <vt:lpstr>Franklin Gothic Book</vt:lpstr>
      <vt:lpstr>Franklin Gothic Demi</vt:lpstr>
      <vt:lpstr>Open Sans</vt:lpstr>
      <vt:lpstr>Times New Roman</vt:lpstr>
      <vt:lpstr>Wingdings</vt:lpstr>
      <vt:lpstr>Personnalisé</vt:lpstr>
      <vt:lpstr>Formation SOA</vt:lpstr>
      <vt:lpstr>GraphQL</vt:lpstr>
      <vt:lpstr>Programme</vt:lpstr>
      <vt:lpstr>Présentation de GraphQL</vt:lpstr>
      <vt:lpstr>Présentation de GraphQL</vt:lpstr>
      <vt:lpstr>Pourquoi GraphQL ?</vt:lpstr>
      <vt:lpstr>REST vs GraphQL</vt:lpstr>
      <vt:lpstr>REST vs GraphQL</vt:lpstr>
      <vt:lpstr>REST vs GraphQL</vt:lpstr>
      <vt:lpstr>REST vs GraphQL</vt:lpstr>
      <vt:lpstr>REST vs GraphQL</vt:lpstr>
      <vt:lpstr>Définition de données en GraphQL</vt:lpstr>
      <vt:lpstr>Schema en GraphQL</vt:lpstr>
      <vt:lpstr>Schema en GraphQL</vt:lpstr>
      <vt:lpstr>Schema en GraphQL</vt:lpstr>
      <vt:lpstr>Schema en GraphQL</vt:lpstr>
      <vt:lpstr>Exemple de Schema SDL</vt:lpstr>
      <vt:lpstr>Exercice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ElMejid</dc:creator>
  <cp:lastModifiedBy>elmejid ines</cp:lastModifiedBy>
  <cp:revision>99</cp:revision>
  <dcterms:created xsi:type="dcterms:W3CDTF">2024-07-15T09:42:38Z</dcterms:created>
  <dcterms:modified xsi:type="dcterms:W3CDTF">2025-12-22T20:34:36Z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