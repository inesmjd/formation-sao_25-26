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51"/>
  </p:notesMasterIdLst>
  <p:handoutMasterIdLst>
    <p:handoutMasterId r:id="rId52"/>
  </p:handoutMasterIdLst>
  <p:sldIdLst>
    <p:sldId id="419" r:id="rId5"/>
    <p:sldId id="383" r:id="rId6"/>
    <p:sldId id="391" r:id="rId7"/>
    <p:sldId id="420" r:id="rId8"/>
    <p:sldId id="423" r:id="rId9"/>
    <p:sldId id="455" r:id="rId10"/>
    <p:sldId id="458" r:id="rId11"/>
    <p:sldId id="429" r:id="rId12"/>
    <p:sldId id="422" r:id="rId13"/>
    <p:sldId id="426" r:id="rId14"/>
    <p:sldId id="408" r:id="rId15"/>
    <p:sldId id="430" r:id="rId16"/>
    <p:sldId id="434" r:id="rId17"/>
    <p:sldId id="435" r:id="rId18"/>
    <p:sldId id="428" r:id="rId19"/>
    <p:sldId id="438" r:id="rId20"/>
    <p:sldId id="439" r:id="rId21"/>
    <p:sldId id="441" r:id="rId22"/>
    <p:sldId id="459" r:id="rId23"/>
    <p:sldId id="460" r:id="rId24"/>
    <p:sldId id="442" r:id="rId25"/>
    <p:sldId id="425" r:id="rId26"/>
    <p:sldId id="443" r:id="rId27"/>
    <p:sldId id="444" r:id="rId28"/>
    <p:sldId id="431" r:id="rId29"/>
    <p:sldId id="445" r:id="rId30"/>
    <p:sldId id="446" r:id="rId31"/>
    <p:sldId id="472" r:id="rId32"/>
    <p:sldId id="474" r:id="rId33"/>
    <p:sldId id="447" r:id="rId34"/>
    <p:sldId id="456" r:id="rId35"/>
    <p:sldId id="457" r:id="rId36"/>
    <p:sldId id="448" r:id="rId37"/>
    <p:sldId id="450" r:id="rId38"/>
    <p:sldId id="451" r:id="rId39"/>
    <p:sldId id="452" r:id="rId40"/>
    <p:sldId id="473" r:id="rId41"/>
    <p:sldId id="449" r:id="rId42"/>
    <p:sldId id="453" r:id="rId43"/>
    <p:sldId id="454" r:id="rId44"/>
    <p:sldId id="462" r:id="rId45"/>
    <p:sldId id="463" r:id="rId46"/>
    <p:sldId id="461" r:id="rId47"/>
    <p:sldId id="464" r:id="rId48"/>
    <p:sldId id="471" r:id="rId49"/>
    <p:sldId id="398" r:id="rId5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95A2"/>
    <a:srgbClr val="004620"/>
    <a:srgbClr val="009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87771" autoAdjust="0"/>
  </p:normalViewPr>
  <p:slideViewPr>
    <p:cSldViewPr snapToGrid="0">
      <p:cViewPr varScale="1">
        <p:scale>
          <a:sx n="72" d="100"/>
          <a:sy n="72" d="100"/>
        </p:scale>
        <p:origin x="51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commentAuthors" Target="commentAuthors.xml"/><Relationship Id="rId58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21/12/2025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21/12/2025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986F5E-69EC-4C9A-CFA1-C656469FE1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0003129-35D2-628B-DC52-4A889998E98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072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7E3588-AF02-08DE-9FFA-8F0A40F0542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4210E42-936C-F24F-91ED-0469716833B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6C5E0B-3BB3-BA09-9148-71BB9AE0D4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27DDF3DB-E265-AE50-FAA4-89E98E3E7CE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AD5C81-BCFE-68F5-EC57-FB9BF36EAB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36059DE-ADEA-A760-59EA-CE866185AA8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97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6EC03C-B601-9E84-23EC-95C6054495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EF2510DE-9259-9B4F-EAF9-62526AEF16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3661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0297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5686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92782E-D115-F5C8-D256-C814C305AA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C4AE899F-625A-A7F1-E9C0-492E2FB878B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15255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A1EFE6-B776-9EB9-DC75-8E2B2C3331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1251C46-B4D8-5DF9-2DD8-A38859DBD8C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9232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B68495-8ADB-FA57-0614-0089E9926A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9F39071E-22F7-3293-1260-9FE87032400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2286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2DF7A1-E9C5-7A69-E465-0000DF69EE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962ADD6-7839-5192-6E34-EA8B8CD7326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864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76FBDF-BC24-9D15-5F17-2B9D9D3135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1884CC3D-B50C-CBEC-97D5-AE6053985F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5550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95B6BB-9D9D-1D85-F95D-C21E51CD31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4619DA8D-1E75-F350-F32B-D0ED2810CF3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6469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3DB8AC-27D5-5E14-FA96-6A3EAC35EA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22C63A7-01DB-77C1-DF40-40F2E58D16C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5517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D01CC4-C950-86E1-14F9-1EC9D83DFE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7DF414F-9425-754D-8798-153620C75D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44923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614ADE-B143-3809-33EB-05D1F860A0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54DF7D1-3719-5421-10BC-2DC5FAE9DF5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543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E1C6D9-4C72-5767-30E5-26771CB24A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51E7A0C-E3B9-9650-5F3A-ED7B0AD4C02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69644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1123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0922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7199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311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1564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96644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4D36E0-E9BD-4D8C-09AF-C88AA77C28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38C2831A-AE87-4D38-4987-099B49FB066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16547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2003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71463D-9492-5380-BD49-23C432A394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801DC791-0ED5-1913-9856-47B7308072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4829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37266-B223-5B34-49E0-B6086E8A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E0DEB09-4D6C-131B-4750-0854ADCD0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FC8F346-FF0F-8C00-1273-AE5100C04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AE6A4E-BA02-F996-BA64-7841C7B1E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8A3CC6-D15A-6BE6-D05A-C5D1C41FDA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336C662-71B0-02CF-21FF-51252F4CDC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14413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D6F3-6ABE-11B4-B1AC-38B2695D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C86061B-5422-F76D-1587-347EC61D0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0E558D7-95D6-DC89-7532-9A5859363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4616661-78DA-CEFD-D10D-7082F9E3A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85D767-B2BD-2603-1696-B5F3DAD9D9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C78E2232-1813-9C75-B669-BA77188BA53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1560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52033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86660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EAB2-BACD-EAD2-EE97-5D0776042A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5FF5D407-07AA-27D9-5F45-2D36A564340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67906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68296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64332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34537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61107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A4F-E68F-5E2E-45D4-C48588445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CF0E3D1-3AEE-056E-4B3A-EB6D863AE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5A12087-5A2D-7BD9-CA06-21428E96A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8D62234-FFF7-3DA6-3198-3BB7965F3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37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5C93F8-8801-E329-566F-D34E088EF8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B70B1009-8AAF-CBEB-478D-4BB4F1B45B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84035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38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B7A7E5-8435-D2E7-0A5D-C263ACD53A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F05E5184-0116-7CA9-BC58-9141BF0960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167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39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88073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40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25637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517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42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01333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43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09053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44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34620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C16FB8-7EC6-8121-1384-235A92706C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D004BA35-5CEA-2D3D-E100-7EA6CF1D050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36274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8F6012-959C-7A28-55D5-D8CA104CED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endParaRPr lang="fr-FR" dirty="0"/>
          </a:p>
        </p:txBody>
      </p:sp>
      <p:sp>
        <p:nvSpPr>
          <p:cNvPr id="6" name="Espace réservé de l'en-tête 5">
            <a:extLst>
              <a:ext uri="{FF2B5EF4-FFF2-40B4-BE49-F238E27FC236}">
                <a16:creationId xmlns:a16="http://schemas.microsoft.com/office/drawing/2014/main" id="{6F454132-0F65-3A63-3CE4-0DED21AF1B5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F10A6BB3-71E6-7D42-5691-9A3F034A10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Formation SOA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450850" rtl="0"/>
            <a:r>
              <a:rPr lang="fr-FR" dirty="0"/>
              <a:t>Présentée par Ines ElMejid</a:t>
            </a:r>
          </a:p>
          <a:p>
            <a:pPr marL="450850" rtl="0"/>
            <a:r>
              <a:rPr lang="fr-FR" dirty="0"/>
              <a:t>UP-WEB</a:t>
            </a:r>
          </a:p>
        </p:txBody>
      </p:sp>
      <p:pic>
        <p:nvPicPr>
          <p:cNvPr id="10" name="Espace réservé pour une image  5" descr="Une image contenant texte, cercle, logo, clipart&#10;&#10;Description générée automatiquement">
            <a:extLst>
              <a:ext uri="{FF2B5EF4-FFF2-40B4-BE49-F238E27FC236}">
                <a16:creationId xmlns:a16="http://schemas.microsoft.com/office/drawing/2014/main" id="{9D5B1772-32B8-5377-1D06-B898C7F6F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11" y="1630265"/>
            <a:ext cx="3729580" cy="35974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140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5980" y="2192681"/>
            <a:ext cx="6169933" cy="4387190"/>
          </a:xfrm>
        </p:spPr>
        <p:txBody>
          <a:bodyPr tIns="457200"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2300" dirty="0"/>
              <a:t>Introduction</a:t>
            </a:r>
          </a:p>
          <a:p>
            <a:pPr rtl="0"/>
            <a:r>
              <a:rPr lang="fr-FR" sz="2300" dirty="0"/>
              <a:t>Historique d’évolution du Web</a:t>
            </a:r>
          </a:p>
          <a:p>
            <a:pPr rtl="0"/>
            <a:r>
              <a:rPr lang="fr-FR" sz="2300" dirty="0"/>
              <a:t>Technologies liées au Web</a:t>
            </a:r>
          </a:p>
          <a:p>
            <a:pPr rtl="0"/>
            <a:r>
              <a:rPr lang="fr-FR" sz="2300" dirty="0"/>
              <a:t>Le terme Service</a:t>
            </a:r>
          </a:p>
          <a:p>
            <a:pPr rtl="0"/>
            <a:r>
              <a:rPr lang="fr-FR" sz="2300" dirty="0"/>
              <a:t>Service Web : avantages et caractéristiques</a:t>
            </a:r>
          </a:p>
          <a:p>
            <a:pPr rtl="0"/>
            <a:r>
              <a:rPr lang="fr-FR" sz="2300" dirty="0"/>
              <a:t>Principe de fonctionnement des services web étendus SOAP</a:t>
            </a:r>
          </a:p>
          <a:p>
            <a:pPr rtl="0"/>
            <a:endParaRPr lang="fr-FR" sz="16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DC095E-5327-99BA-25AA-1B72B85B980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Introduction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5" name="Google Shape;91;g25b1bb62912_0_14">
            <a:extLst>
              <a:ext uri="{FF2B5EF4-FFF2-40B4-BE49-F238E27FC236}">
                <a16:creationId xmlns:a16="http://schemas.microsoft.com/office/drawing/2014/main" id="{00EEF836-08DA-D5EC-2C2F-6361BE7C68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883" y="2338389"/>
            <a:ext cx="9055000" cy="33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4;g25b1bb62912_0_14">
            <a:extLst>
              <a:ext uri="{FF2B5EF4-FFF2-40B4-BE49-F238E27FC236}">
                <a16:creationId xmlns:a16="http://schemas.microsoft.com/office/drawing/2014/main" id="{853AEFEC-1FC7-7915-D520-3AA80B87DCD8}"/>
              </a:ext>
            </a:extLst>
          </p:cNvPr>
          <p:cNvSpPr txBox="1"/>
          <p:nvPr/>
        </p:nvSpPr>
        <p:spPr>
          <a:xfrm>
            <a:off x="2171156" y="2338388"/>
            <a:ext cx="67029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entre un serveur et un client</a:t>
            </a:r>
            <a:r>
              <a:rPr lang="fr-FR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9" name="Google Shape;92;g25b1bb62912_0_14">
            <a:extLst>
              <a:ext uri="{FF2B5EF4-FFF2-40B4-BE49-F238E27FC236}">
                <a16:creationId xmlns:a16="http://schemas.microsoft.com/office/drawing/2014/main" id="{01D53417-4503-3BD7-04A2-E120D4D25EF6}"/>
              </a:ext>
            </a:extLst>
          </p:cNvPr>
          <p:cNvSpPr txBox="1"/>
          <p:nvPr/>
        </p:nvSpPr>
        <p:spPr>
          <a:xfrm>
            <a:off x="4246109" y="3502951"/>
            <a:ext cx="123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Requête</a:t>
            </a:r>
            <a:r>
              <a:rPr lang="fr-FR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3;g25b1bb62912_0_14">
            <a:extLst>
              <a:ext uri="{FF2B5EF4-FFF2-40B4-BE49-F238E27FC236}">
                <a16:creationId xmlns:a16="http://schemas.microsoft.com/office/drawing/2014/main" id="{CE2B21D1-5B68-21ED-6996-E204D4925D1B}"/>
              </a:ext>
            </a:extLst>
          </p:cNvPr>
          <p:cNvSpPr txBox="1"/>
          <p:nvPr/>
        </p:nvSpPr>
        <p:spPr>
          <a:xfrm>
            <a:off x="6589484" y="4120451"/>
            <a:ext cx="123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Réponse</a:t>
            </a:r>
            <a:r>
              <a:rPr lang="fr-FR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004994A-C2D6-3049-CC53-470A8CD679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ym typeface="Times New Roman"/>
              </a:rPr>
              <a:t>Historique d’évolution du Web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Google Shape;107;g25b1bb62912_0_108">
            <a:extLst>
              <a:ext uri="{FF2B5EF4-FFF2-40B4-BE49-F238E27FC236}">
                <a16:creationId xmlns:a16="http://schemas.microsoft.com/office/drawing/2014/main" id="{BCF2C17F-4CF0-CCF9-3C45-430CD312FFD4}"/>
              </a:ext>
            </a:extLst>
          </p:cNvPr>
          <p:cNvSpPr/>
          <p:nvPr/>
        </p:nvSpPr>
        <p:spPr>
          <a:xfrm>
            <a:off x="67949" y="3067887"/>
            <a:ext cx="2099301" cy="700346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Page web statique</a:t>
            </a:r>
            <a:br>
              <a:rPr lang="fr-FR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</a:br>
            <a:r>
              <a:rPr lang="fr-FR" sz="14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Début 1990 </a:t>
            </a:r>
            <a:endParaRPr lang="fr-FR" sz="20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18;g25b1bb62912_0_108">
            <a:extLst>
              <a:ext uri="{FF2B5EF4-FFF2-40B4-BE49-F238E27FC236}">
                <a16:creationId xmlns:a16="http://schemas.microsoft.com/office/drawing/2014/main" id="{3F63F637-89C0-EC1C-30F4-CCC5AFEE41B1}"/>
              </a:ext>
            </a:extLst>
          </p:cNvPr>
          <p:cNvSpPr/>
          <p:nvPr/>
        </p:nvSpPr>
        <p:spPr>
          <a:xfrm>
            <a:off x="2554855" y="3092634"/>
            <a:ext cx="2514300" cy="664843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web dynamique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1995</a:t>
            </a:r>
            <a:endParaRPr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" name="Google Shape;120;g25b1bb62912_0_108">
            <a:extLst>
              <a:ext uri="{FF2B5EF4-FFF2-40B4-BE49-F238E27FC236}">
                <a16:creationId xmlns:a16="http://schemas.microsoft.com/office/drawing/2014/main" id="{1C012A48-420E-C415-37AE-96646D59EDDD}"/>
              </a:ext>
            </a:extLst>
          </p:cNvPr>
          <p:cNvCxnSpPr>
            <a:cxnSpLocks/>
          </p:cNvCxnSpPr>
          <p:nvPr/>
        </p:nvCxnSpPr>
        <p:spPr>
          <a:xfrm>
            <a:off x="2179442" y="3450982"/>
            <a:ext cx="387605" cy="0"/>
          </a:xfrm>
          <a:prstGeom prst="straightConnector1">
            <a:avLst/>
          </a:prstGeom>
          <a:noFill/>
          <a:ln w="317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6038A08C-1706-A39C-84F8-ECD5D5C01F4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</a:t>
            </a:fld>
            <a:endParaRPr lang="fr-FR" dirty="0">
              <a:latin typeface="+mn-lt"/>
            </a:endParaRPr>
          </a:p>
        </p:txBody>
      </p:sp>
      <p:sp>
        <p:nvSpPr>
          <p:cNvPr id="10" name="Google Shape;107;g25b1bb62912_0_108">
            <a:extLst>
              <a:ext uri="{FF2B5EF4-FFF2-40B4-BE49-F238E27FC236}">
                <a16:creationId xmlns:a16="http://schemas.microsoft.com/office/drawing/2014/main" id="{F258DA96-7A45-53FE-B65F-2D6D0ED359BB}"/>
              </a:ext>
            </a:extLst>
          </p:cNvPr>
          <p:cNvSpPr/>
          <p:nvPr/>
        </p:nvSpPr>
        <p:spPr>
          <a:xfrm>
            <a:off x="5530003" y="3078916"/>
            <a:ext cx="2099300" cy="700346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fr-FR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Applications web</a:t>
            </a:r>
          </a:p>
          <a:p>
            <a:pPr algn="ctr"/>
            <a:r>
              <a:rPr lang="fr-FR" sz="14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Fin des années 1990 </a:t>
            </a:r>
          </a:p>
        </p:txBody>
      </p:sp>
      <p:sp>
        <p:nvSpPr>
          <p:cNvPr id="27" name="Google Shape;118;g25b1bb62912_0_108">
            <a:extLst>
              <a:ext uri="{FF2B5EF4-FFF2-40B4-BE49-F238E27FC236}">
                <a16:creationId xmlns:a16="http://schemas.microsoft.com/office/drawing/2014/main" id="{26638926-7891-0AD3-ECF5-A68267FA5A32}"/>
              </a:ext>
            </a:extLst>
          </p:cNvPr>
          <p:cNvSpPr/>
          <p:nvPr/>
        </p:nvSpPr>
        <p:spPr>
          <a:xfrm>
            <a:off x="8016910" y="3067887"/>
            <a:ext cx="1620235" cy="664843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web </a:t>
            </a:r>
            <a:br>
              <a:rPr lang="fr-FR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2000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118;g25b1bb62912_0_108">
            <a:extLst>
              <a:ext uri="{FF2B5EF4-FFF2-40B4-BE49-F238E27FC236}">
                <a16:creationId xmlns:a16="http://schemas.microsoft.com/office/drawing/2014/main" id="{921372B8-E35F-A453-8750-80EF9DB1A216}"/>
              </a:ext>
            </a:extLst>
          </p:cNvPr>
          <p:cNvSpPr/>
          <p:nvPr/>
        </p:nvSpPr>
        <p:spPr>
          <a:xfrm>
            <a:off x="10034686" y="3067886"/>
            <a:ext cx="1840321" cy="664843"/>
          </a:xfrm>
          <a:prstGeom prst="roundRect">
            <a:avLst>
              <a:gd name="adj" fmla="val 16667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 Services</a:t>
            </a:r>
            <a:br>
              <a:rPr lang="fr-FR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fr-FR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2014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" name="Google Shape;120;g25b1bb62912_0_108">
            <a:extLst>
              <a:ext uri="{FF2B5EF4-FFF2-40B4-BE49-F238E27FC236}">
                <a16:creationId xmlns:a16="http://schemas.microsoft.com/office/drawing/2014/main" id="{A9576CAD-B875-088A-7727-124C8FEE891C}"/>
              </a:ext>
            </a:extLst>
          </p:cNvPr>
          <p:cNvCxnSpPr>
            <a:cxnSpLocks/>
          </p:cNvCxnSpPr>
          <p:nvPr/>
        </p:nvCxnSpPr>
        <p:spPr>
          <a:xfrm>
            <a:off x="5123810" y="3444886"/>
            <a:ext cx="387605" cy="0"/>
          </a:xfrm>
          <a:prstGeom prst="straightConnector1">
            <a:avLst/>
          </a:prstGeom>
          <a:noFill/>
          <a:ln w="317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120;g25b1bb62912_0_108">
            <a:extLst>
              <a:ext uri="{FF2B5EF4-FFF2-40B4-BE49-F238E27FC236}">
                <a16:creationId xmlns:a16="http://schemas.microsoft.com/office/drawing/2014/main" id="{BB3B9E9B-A45F-1BC7-5687-0BC721F496A9}"/>
              </a:ext>
            </a:extLst>
          </p:cNvPr>
          <p:cNvCxnSpPr>
            <a:cxnSpLocks/>
          </p:cNvCxnSpPr>
          <p:nvPr/>
        </p:nvCxnSpPr>
        <p:spPr>
          <a:xfrm>
            <a:off x="7653650" y="3450982"/>
            <a:ext cx="387605" cy="0"/>
          </a:xfrm>
          <a:prstGeom prst="straightConnector1">
            <a:avLst/>
          </a:prstGeom>
          <a:noFill/>
          <a:ln w="317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" name="Google Shape;120;g25b1bb62912_0_108">
            <a:extLst>
              <a:ext uri="{FF2B5EF4-FFF2-40B4-BE49-F238E27FC236}">
                <a16:creationId xmlns:a16="http://schemas.microsoft.com/office/drawing/2014/main" id="{CB802DD0-64F3-137F-BD09-2AE26B001E2F}"/>
              </a:ext>
            </a:extLst>
          </p:cNvPr>
          <p:cNvCxnSpPr>
            <a:cxnSpLocks/>
          </p:cNvCxnSpPr>
          <p:nvPr/>
        </p:nvCxnSpPr>
        <p:spPr>
          <a:xfrm>
            <a:off x="9659234" y="3444886"/>
            <a:ext cx="387605" cy="0"/>
          </a:xfrm>
          <a:prstGeom prst="straightConnector1">
            <a:avLst/>
          </a:prstGeom>
          <a:noFill/>
          <a:ln w="3175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4296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7" grpId="0" animBg="1"/>
      <p:bldP spid="10" grpId="0" animBg="1"/>
      <p:bldP spid="27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Applications Web VS Services Web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7BF558-ACB7-452A-2A32-3775AAD477B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5</a:t>
            </a:fld>
            <a:endParaRPr lang="fr-FR" dirty="0">
              <a:latin typeface="+mn-lt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4FD420DE-976D-D1E3-7F7D-1FBAF8119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83404"/>
              </p:ext>
            </p:extLst>
          </p:nvPr>
        </p:nvGraphicFramePr>
        <p:xfrm>
          <a:off x="1243584" y="2315804"/>
          <a:ext cx="10338816" cy="399355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42075">
                  <a:extLst>
                    <a:ext uri="{9D8B030D-6E8A-4147-A177-3AD203B41FA5}">
                      <a16:colId xmlns:a16="http://schemas.microsoft.com/office/drawing/2014/main" val="1080624831"/>
                    </a:ext>
                  </a:extLst>
                </a:gridCol>
                <a:gridCol w="3922277">
                  <a:extLst>
                    <a:ext uri="{9D8B030D-6E8A-4147-A177-3AD203B41FA5}">
                      <a16:colId xmlns:a16="http://schemas.microsoft.com/office/drawing/2014/main" val="1767064309"/>
                    </a:ext>
                  </a:extLst>
                </a:gridCol>
                <a:gridCol w="4474464">
                  <a:extLst>
                    <a:ext uri="{9D8B030D-6E8A-4147-A177-3AD203B41FA5}">
                      <a16:colId xmlns:a16="http://schemas.microsoft.com/office/drawing/2014/main" val="76311567"/>
                    </a:ext>
                  </a:extLst>
                </a:gridCol>
              </a:tblGrid>
              <a:tr h="427396">
                <a:tc>
                  <a:txBody>
                    <a:bodyPr/>
                    <a:lstStyle/>
                    <a:p>
                      <a:pPr algn="l"/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Application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Service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132171"/>
                  </a:ext>
                </a:extLst>
              </a:tr>
              <a:tr h="923319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Définition</a:t>
                      </a: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Un programme en ligne qui permet à l’utilisateur de faire des actions complexes 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directement dans le navigateur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, comme s’il utilisait un vrai logiciel.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Composant web disponible sur Internet, que 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les applications peuvent appeler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pour échanger des données automatiquement en utilisant des protocoles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standarisés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545141"/>
                  </a:ext>
                </a:extLst>
              </a:tr>
              <a:tr h="773291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Particularités</a:t>
                      </a: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Destiné aux </a:t>
                      </a:r>
                      <a:r>
                        <a:rPr lang="fr-FR" b="1" dirty="0">
                          <a:solidFill>
                            <a:srgbClr val="C00000"/>
                          </a:solidFill>
                        </a:rPr>
                        <a:t>utilisateurs finaux</a:t>
                      </a:r>
                    </a:p>
                    <a:p>
                      <a:pPr algn="just"/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Permet la </a:t>
                      </a:r>
                      <a:r>
                        <a:rPr lang="fr-FR" b="1" dirty="0">
                          <a:solidFill>
                            <a:srgbClr val="C00000"/>
                          </a:solidFill>
                        </a:rPr>
                        <a:t>communication machine-à-machine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Tu peux les consommer depuis n’importe quel langage ou plateforme capable de faire des requêtes HTTP (</a:t>
                      </a:r>
                      <a:r>
                        <a:rPr lang="fr-FR" b="1" dirty="0">
                          <a:solidFill>
                            <a:srgbClr val="C00000"/>
                          </a:solidFill>
                        </a:rPr>
                        <a:t>Interopérables</a:t>
                      </a:r>
                      <a:r>
                        <a:rPr lang="fr-FR" b="0" dirty="0">
                          <a:solidFill>
                            <a:schemeClr val="bg1"/>
                          </a:solidFill>
                        </a:rPr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305424"/>
                  </a:ext>
                </a:extLst>
              </a:tr>
              <a:tr h="427396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Exemple</a:t>
                      </a:r>
                    </a:p>
                    <a:p>
                      <a:pPr algn="l"/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Gmail, Trello, 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API Google </a:t>
                      </a:r>
                      <a:r>
                        <a:rPr lang="fr-FR" sz="1800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Maps</a:t>
                      </a:r>
                      <a:r>
                        <a:rPr lang="fr-FR" sz="18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fr-FR" sz="1800" kern="1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Stripe</a:t>
                      </a:r>
                      <a:r>
                        <a:rPr lang="fr-FR" sz="18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PayPal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34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68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Question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 fontScale="92500" lnSpcReduction="20000"/>
          </a:bodyPr>
          <a:lstStyle>
            <a:defPPr>
              <a:defRPr lang="fr-FR"/>
            </a:defPPr>
          </a:lstStyle>
          <a:p>
            <a:pPr rtl="0"/>
            <a:r>
              <a:rPr lang="fr-FR" b="1" dirty="0"/>
              <a:t>Quelle est la principale différence entre un service Web et une application Web ?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services Web sont principalement destinés aux applications métiers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applications Web génèrent dynamiquement du contenu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services Web sont plus simples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applications Web sont présentées via un navigateur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6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457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Réponse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 fontScale="92500" lnSpcReduction="20000"/>
          </a:bodyPr>
          <a:lstStyle>
            <a:defPPr>
              <a:defRPr lang="fr-FR"/>
            </a:defPPr>
          </a:lstStyle>
          <a:p>
            <a:pPr rtl="0"/>
            <a:r>
              <a:rPr lang="fr-FR" b="1" dirty="0"/>
              <a:t>Quelle est la principale différence entre un service Web et une application Web ?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services Web sont principalement destinés aux applications métiers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applications Web génèrent dynamiquement du contenu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Les services Web sont plus simples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b="1" dirty="0">
                <a:solidFill>
                  <a:srgbClr val="009242"/>
                </a:solidFill>
              </a:rPr>
              <a:t>Les applications Web sont présentées via un navigateur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7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412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331" y="469352"/>
            <a:ext cx="4570298" cy="3291840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>
              <a:lnSpc>
                <a:spcPct val="100000"/>
              </a:lnSpc>
            </a:pPr>
            <a:r>
              <a:rPr lang="fr-FR" dirty="0" err="1">
                <a:sym typeface="Times New Roman"/>
              </a:rPr>
              <a:t>Standars</a:t>
            </a:r>
            <a:r>
              <a:rPr lang="fr-FR" dirty="0">
                <a:sym typeface="Times New Roman"/>
              </a:rPr>
              <a:t> liées au Web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029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146;g25b1bb62912_0_23">
            <a:extLst>
              <a:ext uri="{FF2B5EF4-FFF2-40B4-BE49-F238E27FC236}">
                <a16:creationId xmlns:a16="http://schemas.microsoft.com/office/drawing/2014/main" id="{225537D5-A89E-4A4F-A04D-E12E034BF1FE}"/>
              </a:ext>
            </a:extLst>
          </p:cNvPr>
          <p:cNvSpPr txBox="1"/>
          <p:nvPr/>
        </p:nvSpPr>
        <p:spPr>
          <a:xfrm>
            <a:off x="1549456" y="2534521"/>
            <a:ext cx="95862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Les standards liés au Web comprennent des formats de données tels que HTML, XML et JSON pour structurer et échanger des informations. 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Le transfert de ces données est réalisé via les protocoles HTTP et TCP, utilisant des URI/URL pour localiser les ressources. 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Char char="q"/>
            </a:pPr>
            <a:r>
              <a:rPr lang="fr-FR" sz="2000" dirty="0">
                <a:solidFill>
                  <a:schemeClr val="bg1"/>
                </a:solidFill>
                <a:sym typeface="Times New Roman"/>
              </a:rPr>
              <a:t>Les requêtes et réponses HTTP sont organisées selon une structure spécifique, et les méthodes HTTP permettent d'effectuer différentes actions sur les ressources du Web.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A1804FF-D4A3-B6E3-9989-D38842F4603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9</a:t>
            </a:fld>
            <a:endParaRPr lang="fr-FR" dirty="0">
              <a:latin typeface="+mn-lt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F1DD3F1-7F84-029F-A205-A5768DE6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Les Standards Fondamentaux du Web : </a:t>
            </a:r>
            <a:r>
              <a:rPr lang="fr-FR" sz="2400" dirty="0">
                <a:sym typeface="Times New Roman"/>
              </a:rPr>
              <a:t>Formats, Protocoles et Échanges</a:t>
            </a:r>
            <a:endParaRPr lang="fr-FR" sz="3200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34718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Formats d'échange de données sur le Web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pic>
        <p:nvPicPr>
          <p:cNvPr id="6" name="Google Shape;147;g25b1bb62912_0_23">
            <a:extLst>
              <a:ext uri="{FF2B5EF4-FFF2-40B4-BE49-F238E27FC236}">
                <a16:creationId xmlns:a16="http://schemas.microsoft.com/office/drawing/2014/main" id="{8F613692-42BB-3382-3DE1-5DAE9CAFE00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7089" y="2987860"/>
            <a:ext cx="862022" cy="87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8;g25b1bb62912_0_23">
            <a:extLst>
              <a:ext uri="{FF2B5EF4-FFF2-40B4-BE49-F238E27FC236}">
                <a16:creationId xmlns:a16="http://schemas.microsoft.com/office/drawing/2014/main" id="{FA8162D8-1196-1EDB-67B9-919C921B9C9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23103" y="4027442"/>
            <a:ext cx="980180" cy="987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49;g25b1bb62912_0_23">
            <a:extLst>
              <a:ext uri="{FF2B5EF4-FFF2-40B4-BE49-F238E27FC236}">
                <a16:creationId xmlns:a16="http://schemas.microsoft.com/office/drawing/2014/main" id="{4D8A1E87-68E9-E9A6-AFC8-7EBB2927431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08376" y="5175513"/>
            <a:ext cx="837605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46;g25b1bb62912_0_23">
            <a:extLst>
              <a:ext uri="{FF2B5EF4-FFF2-40B4-BE49-F238E27FC236}">
                <a16:creationId xmlns:a16="http://schemas.microsoft.com/office/drawing/2014/main" id="{60C47F40-C673-053E-0F7C-3CC9A957B830}"/>
              </a:ext>
            </a:extLst>
          </p:cNvPr>
          <p:cNvSpPr txBox="1"/>
          <p:nvPr/>
        </p:nvSpPr>
        <p:spPr>
          <a:xfrm>
            <a:off x="1549456" y="2823892"/>
            <a:ext cx="9199197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chemeClr val="bg1"/>
                </a:solidFill>
              </a:rPr>
              <a:t>TEXT</a:t>
            </a: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chemeClr val="bg1"/>
                </a:solidFill>
              </a:rPr>
              <a:t>HTML (HyperText Markup </a:t>
            </a:r>
            <a:r>
              <a:rPr lang="fr-FR" sz="2000" b="1" dirty="0" err="1">
                <a:solidFill>
                  <a:schemeClr val="bg1"/>
                </a:solidFill>
              </a:rPr>
              <a:t>Language</a:t>
            </a:r>
            <a:r>
              <a:rPr lang="fr-FR" sz="2000" b="1" dirty="0">
                <a:solidFill>
                  <a:schemeClr val="bg1"/>
                </a:solidFill>
              </a:rPr>
              <a:t>)</a:t>
            </a:r>
            <a:r>
              <a:rPr lang="fr-FR" sz="2000" dirty="0">
                <a:solidFill>
                  <a:schemeClr val="bg1"/>
                </a:solidFill>
              </a:rPr>
              <a:t>: Langage de base du Web pour la création de pages web.</a:t>
            </a:r>
            <a:r>
              <a:rPr lang="fr-FR" sz="2000" dirty="0">
                <a:solidFill>
                  <a:schemeClr val="bg1"/>
                </a:solidFill>
                <a:sym typeface="Times New Roman"/>
              </a:rPr>
              <a:t> </a:t>
            </a: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chemeClr val="bg1"/>
                </a:solidFill>
              </a:rPr>
              <a:t>XML (</a:t>
            </a:r>
            <a:r>
              <a:rPr lang="fr-FR" sz="2000" b="1" dirty="0" err="1">
                <a:solidFill>
                  <a:schemeClr val="bg1"/>
                </a:solidFill>
              </a:rPr>
              <a:t>eXtensible</a:t>
            </a:r>
            <a:r>
              <a:rPr lang="fr-FR" sz="2000" b="1" dirty="0">
                <a:solidFill>
                  <a:schemeClr val="bg1"/>
                </a:solidFill>
              </a:rPr>
              <a:t> Markup </a:t>
            </a:r>
            <a:r>
              <a:rPr lang="fr-FR" sz="2000" b="1" dirty="0" err="1">
                <a:solidFill>
                  <a:schemeClr val="bg1"/>
                </a:solidFill>
              </a:rPr>
              <a:t>Language</a:t>
            </a:r>
            <a:r>
              <a:rPr lang="fr-FR" sz="2000" b="1" dirty="0">
                <a:solidFill>
                  <a:schemeClr val="bg1"/>
                </a:solidFill>
              </a:rPr>
              <a:t>): </a:t>
            </a:r>
            <a:r>
              <a:rPr lang="fr-FR" sz="2000" dirty="0">
                <a:solidFill>
                  <a:schemeClr val="bg1"/>
                </a:solidFill>
              </a:rPr>
              <a:t>Langage de balisage utilisé principalement pour la structuration et l'échange de données.</a:t>
            </a: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r>
              <a:rPr lang="fr-FR" sz="2000" b="1" dirty="0">
                <a:solidFill>
                  <a:schemeClr val="bg1"/>
                </a:solidFill>
              </a:rPr>
              <a:t>JSON (JavaScript Object Notation): </a:t>
            </a:r>
            <a:r>
              <a:rPr lang="fr-FR" sz="2000" dirty="0">
                <a:solidFill>
                  <a:schemeClr val="bg1"/>
                </a:solidFill>
              </a:rPr>
              <a:t>Format léger et lisible pour l'échange de données structurées. Utilise des paires "clé : valeur".</a:t>
            </a: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 pitchFamily="49" charset="0"/>
              <a:buChar char="o"/>
            </a:pPr>
            <a:endParaRPr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EEC5A7-D6F5-C27D-DBB8-C4CF9F26DE1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10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827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Protocole de communication </a:t>
            </a:r>
            <a:br>
              <a:rPr lang="fr-FR" dirty="0">
                <a:sym typeface="Times New Roman"/>
              </a:rPr>
            </a:br>
            <a:r>
              <a:rPr lang="fr-FR" dirty="0">
                <a:sym typeface="Times New Roman"/>
              </a:rPr>
              <a:t>TCP vs HTTP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rtlCol="0"/>
          <a:lstStyle>
            <a:defPPr>
              <a:defRPr lang="fr-FR"/>
            </a:defPPr>
          </a:lstStyle>
          <a:p>
            <a:pPr algn="just" rtl="0"/>
            <a:r>
              <a:rPr lang="fr-FR" dirty="0"/>
              <a:t>Est un protocole de communication qui appartient à la </a:t>
            </a:r>
            <a:r>
              <a:rPr lang="fr-FR" b="1" dirty="0"/>
              <a:t>couche transport </a:t>
            </a:r>
            <a:r>
              <a:rPr lang="fr-FR" dirty="0"/>
              <a:t>du modèle OSI :</a:t>
            </a:r>
          </a:p>
          <a:p>
            <a:pPr lvl="1" algn="just" rtl="0"/>
            <a:endParaRPr lang="fr-FR" dirty="0"/>
          </a:p>
          <a:p>
            <a:pPr lvl="1" algn="just" rtl="0"/>
            <a:r>
              <a:rPr lang="fr-FR" dirty="0"/>
              <a:t>Fournit une infrastructure de communication robuste pour que HTTP puisse fonctionner efficacement</a:t>
            </a:r>
          </a:p>
          <a:p>
            <a:pPr lvl="1" algn="just" rtl="0"/>
            <a:r>
              <a:rPr lang="fr-FR" dirty="0"/>
              <a:t>Assure une communication fiable et orientée connexion entre les appareils sur un réseau.</a:t>
            </a:r>
          </a:p>
          <a:p>
            <a:pPr marL="0" lvl="1" indent="0" algn="just" rtl="0">
              <a:buNone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81898" y="2676525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 rtl="0"/>
            <a:r>
              <a:rPr lang="fr-FR" dirty="0"/>
              <a:t>Est un protocole de communication qui appartient à la </a:t>
            </a:r>
            <a:r>
              <a:rPr lang="fr-FR" b="1" dirty="0"/>
              <a:t>couche application </a:t>
            </a:r>
            <a:r>
              <a:rPr lang="fr-FR" dirty="0"/>
              <a:t>du modèle OSI:</a:t>
            </a:r>
          </a:p>
          <a:p>
            <a:pPr lvl="1" algn="just" rtl="0"/>
            <a:endParaRPr lang="fr-FR" dirty="0"/>
          </a:p>
          <a:p>
            <a:pPr lvl="1" algn="just" rtl="0"/>
            <a:r>
              <a:rPr lang="fr-FR" dirty="0"/>
              <a:t>Est spécifique pour le Web</a:t>
            </a:r>
          </a:p>
          <a:p>
            <a:pPr lvl="1" algn="just" rtl="0"/>
            <a:r>
              <a:rPr lang="fr-FR" dirty="0"/>
              <a:t>S'exécute au-dessus de TCP</a:t>
            </a:r>
          </a:p>
          <a:p>
            <a:pPr lvl="1" algn="just" rtl="0"/>
            <a:r>
              <a:rPr lang="fr-FR" dirty="0"/>
              <a:t>Définit le format et les règles de communication entre navigateurs et serveurs web.</a:t>
            </a:r>
          </a:p>
        </p:txBody>
      </p:sp>
      <p:sp>
        <p:nvSpPr>
          <p:cNvPr id="5" name="Google Shape;94;g25b1bb62912_0_14">
            <a:extLst>
              <a:ext uri="{FF2B5EF4-FFF2-40B4-BE49-F238E27FC236}">
                <a16:creationId xmlns:a16="http://schemas.microsoft.com/office/drawing/2014/main" id="{62CE1B20-05BB-0D80-F570-22FC27B20A3F}"/>
              </a:ext>
            </a:extLst>
          </p:cNvPr>
          <p:cNvSpPr txBox="1"/>
          <p:nvPr/>
        </p:nvSpPr>
        <p:spPr>
          <a:xfrm>
            <a:off x="339717" y="2211322"/>
            <a:ext cx="466054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TCP (Transmission Control Protocol)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4;g25b1bb62912_0_14">
            <a:extLst>
              <a:ext uri="{FF2B5EF4-FFF2-40B4-BE49-F238E27FC236}">
                <a16:creationId xmlns:a16="http://schemas.microsoft.com/office/drawing/2014/main" id="{E901329B-0B59-9260-F732-91CAB243B930}"/>
              </a:ext>
            </a:extLst>
          </p:cNvPr>
          <p:cNvSpPr txBox="1"/>
          <p:nvPr/>
        </p:nvSpPr>
        <p:spPr>
          <a:xfrm>
            <a:off x="5635316" y="2173825"/>
            <a:ext cx="530276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HTTP (HyperText Transfer Protocol)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11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Protocole de communication </a:t>
            </a:r>
            <a:br>
              <a:rPr lang="fr-FR" dirty="0">
                <a:sym typeface="Times New Roman"/>
              </a:rPr>
            </a:br>
            <a:r>
              <a:rPr lang="fr-FR" dirty="0">
                <a:sym typeface="Times New Roman"/>
              </a:rPr>
              <a:t>TCP vs HTTP</a:t>
            </a:r>
            <a:endParaRPr lang="fr-FR" dirty="0"/>
          </a:p>
        </p:txBody>
      </p:sp>
      <p:pic>
        <p:nvPicPr>
          <p:cNvPr id="14" name="Image 1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EF97E853-39C8-BDF6-B096-6D77D2164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92" y="3961326"/>
            <a:ext cx="9563100" cy="2247900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E2171B3F-ABDF-16F0-5B6F-5C59B4536BD0}"/>
              </a:ext>
            </a:extLst>
          </p:cNvPr>
          <p:cNvSpPr txBox="1"/>
          <p:nvPr/>
        </p:nvSpPr>
        <p:spPr>
          <a:xfrm>
            <a:off x="486727" y="2416539"/>
            <a:ext cx="106981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- HTTP s'appuie sur TCP pour assurer un transport fiable des données entre les navigateurs et les serveurs web: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chemeClr val="bg1"/>
                </a:solidFill>
              </a:rPr>
              <a:t>HTTP</a:t>
            </a:r>
            <a:r>
              <a:rPr lang="fr-FR" sz="2000" dirty="0">
                <a:solidFill>
                  <a:schemeClr val="bg1"/>
                </a:solidFill>
              </a:rPr>
              <a:t> utilise le </a:t>
            </a:r>
            <a:r>
              <a:rPr lang="fr-FR" sz="2000" b="1" dirty="0">
                <a:solidFill>
                  <a:schemeClr val="bg1"/>
                </a:solidFill>
              </a:rPr>
              <a:t>port 80 </a:t>
            </a:r>
            <a:r>
              <a:rPr lang="fr-FR" sz="2000" dirty="0">
                <a:solidFill>
                  <a:schemeClr val="bg1"/>
                </a:solidFill>
              </a:rPr>
              <a:t>en TCP pour le trafic web non chiffré (comme port standard pour le Web.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000" b="1" dirty="0">
                <a:solidFill>
                  <a:schemeClr val="bg1"/>
                </a:solidFill>
              </a:rPr>
              <a:t>HTTPS</a:t>
            </a:r>
            <a:r>
              <a:rPr lang="fr-FR" sz="2000" dirty="0">
                <a:solidFill>
                  <a:schemeClr val="bg1"/>
                </a:solidFill>
              </a:rPr>
              <a:t> utilise le </a:t>
            </a:r>
            <a:r>
              <a:rPr lang="fr-FR" sz="2000" b="1" dirty="0">
                <a:solidFill>
                  <a:schemeClr val="bg1"/>
                </a:solidFill>
              </a:rPr>
              <a:t>port 443 </a:t>
            </a:r>
            <a:r>
              <a:rPr lang="fr-FR" sz="2000" dirty="0">
                <a:solidFill>
                  <a:schemeClr val="bg1"/>
                </a:solidFill>
              </a:rPr>
              <a:t>en TCP pour le trafic web sécurisé (chiffré avec TLS).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682046AE-BF9B-1042-344D-ACE129BA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9315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HTTP: Méthodes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D01750-B515-147A-F5B7-BB780B397118}"/>
              </a:ext>
            </a:extLst>
          </p:cNvPr>
          <p:cNvSpPr txBox="1"/>
          <p:nvPr/>
        </p:nvSpPr>
        <p:spPr>
          <a:xfrm>
            <a:off x="1965039" y="2468119"/>
            <a:ext cx="9613688" cy="3088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Les méthodes HTTP spécifient l'action à effectuer sur la ressource:</a:t>
            </a:r>
          </a:p>
          <a:p>
            <a:endParaRPr lang="fr-FR" b="0" i="0" dirty="0">
              <a:solidFill>
                <a:srgbClr val="262626"/>
              </a:solidFill>
              <a:effectLst/>
              <a:highlight>
                <a:srgbClr val="FFFFFF"/>
              </a:highlight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GET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 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—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O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btenir des informations à partir d'un serveur Web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POST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Soumettre des données au serveur Web et potentiellement créer de nouveaux enregistrements.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PUT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M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ettre à jour une ressource existante </a:t>
            </a:r>
            <a:r>
              <a:rPr lang="fr-FR" b="0" u="sng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avec de nouvelles données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PATCH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M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ettre à jour une partie d'une ressource existante, </a:t>
            </a:r>
            <a:r>
              <a:rPr lang="fr-FR" b="0" i="0" u="sng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sans modifier l'intégralité de la ressource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.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E2D1AC4-7A24-7F74-FA4C-774EB3A593E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4069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HTTP: Méthodes 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D01750-B515-147A-F5B7-BB780B397118}"/>
              </a:ext>
            </a:extLst>
          </p:cNvPr>
          <p:cNvSpPr txBox="1"/>
          <p:nvPr/>
        </p:nvSpPr>
        <p:spPr>
          <a:xfrm>
            <a:off x="1999764" y="2525993"/>
            <a:ext cx="9613688" cy="3781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DELETE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 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—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 Supprimer des informations/enregistrements d'un serveur Web.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HEAD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R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écupérer les en-têtes de réponse d'une ressource, sans le corps de la réponse. 	 - Souvent pour vérifier si une ressource existe ou a été modifiée depuis la dernière demande.</a:t>
            </a:r>
          </a:p>
          <a:p>
            <a:pPr lvl="1" algn="just">
              <a:lnSpc>
                <a:spcPct val="150000"/>
              </a:lnSpc>
            </a:pP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	- 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Exemple: vérifier si une image est toujours disponible sur un serveur externe.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OPTIONS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Découvrir les méthodes HTTP prises en charge par une ressource. </a:t>
            </a:r>
          </a:p>
          <a:p>
            <a:pPr lvl="1" algn="just">
              <a:lnSpc>
                <a:spcPct val="150000"/>
              </a:lnSpc>
            </a:pP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          - </a:t>
            </a:r>
            <a:r>
              <a:rPr lang="fr-FR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Cela permet au client d'adapter ses requêtes ultérieures en fonction des actions possibles sur la ressource.</a:t>
            </a:r>
          </a:p>
          <a:p>
            <a:pPr lvl="1" algn="just">
              <a:lnSpc>
                <a:spcPct val="150000"/>
              </a:lnSpc>
            </a:pPr>
            <a:r>
              <a:rPr lang="fr-FR" dirty="0">
                <a:solidFill>
                  <a:srgbClr val="262626"/>
                </a:solidFill>
                <a:highlight>
                  <a:srgbClr val="FFFFFF"/>
                </a:highlight>
              </a:rPr>
              <a:t>         - Exemple: Un client qui rencontre une ressource pour la première fois. 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5F9A1E-6294-3F12-1B5D-7E3726BA113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14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91814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 descr="Une image contenant texte, capture d’écran, Police, nombre">
            <a:extLst>
              <a:ext uri="{FF2B5EF4-FFF2-40B4-BE49-F238E27FC236}">
                <a16:creationId xmlns:a16="http://schemas.microsoft.com/office/drawing/2014/main" id="{5120F7CD-07E0-524D-BE66-E7AC4841F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372" y="3125168"/>
            <a:ext cx="4995392" cy="2847372"/>
          </a:xfrm>
          <a:prstGeom prst="rect">
            <a:avLst/>
          </a:prstGeom>
          <a:noFill/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HTTP: Structure de Requête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597889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 rtl="0"/>
            <a:r>
              <a:rPr lang="fr-FR" sz="1900" b="0" i="0" dirty="0">
                <a:effectLst/>
                <a:highlight>
                  <a:srgbClr val="FFFFFF"/>
                </a:highlight>
              </a:rPr>
              <a:t>La requête HTTP est composée de trois parties principales :</a:t>
            </a:r>
            <a:endParaRPr lang="fr-FR" sz="19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Ligne de Requête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Indique la méthode HTTP, l'URL de la ressource demandée et la version du protocole HTTP.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En-têtes de Requête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Fournissent des informations supplémentaires sur la requête, telles que le type de contenu, les cookies,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Corps de Requête (facultatif)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Contient des données envoyées au serveur généralement utilisé avec les méthodes POST, PUT et PATCH).</a:t>
            </a:r>
          </a:p>
          <a:p>
            <a:pPr lvl="1" algn="just" rtl="0"/>
            <a:endParaRPr lang="fr-FR" sz="1900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BF97208E-DBBA-CA92-A42B-56A29C87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15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36868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HTTP: Structure de Réponse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2" y="2676525"/>
            <a:ext cx="597889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 rtl="0"/>
            <a:r>
              <a:rPr lang="fr-FR" sz="1900" b="0" i="0" dirty="0">
                <a:effectLst/>
                <a:highlight>
                  <a:srgbClr val="FFFFFF"/>
                </a:highlight>
              </a:rPr>
              <a:t>La réponse HTTP est aussi composée de trois parties principales :</a:t>
            </a:r>
            <a:endParaRPr lang="fr-FR" sz="19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Ligne de Statut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Indique la version du protocole HTTP, le code du statut HTTP et sa description..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En-têtes de Réponse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Fournissent des informations supplémentaires sur la réponse , telles que le type de contenu, la date de dernière modification et les cookies.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900" b="1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Corps de Réponse (facultatif)</a:t>
            </a:r>
            <a:r>
              <a:rPr lang="fr-FR" sz="1900" b="0" i="0" dirty="0">
                <a:solidFill>
                  <a:schemeClr val="accent1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 — </a:t>
            </a:r>
            <a:r>
              <a:rPr lang="fr-FR" sz="1900" b="0" i="0" dirty="0">
                <a:effectLst/>
                <a:highlight>
                  <a:srgbClr val="FFFFFF"/>
                </a:highlight>
              </a:rPr>
              <a:t>Contient le contenu demandé par le client, généralement du HTML, des images, des vidéos ou des données JSON.</a:t>
            </a:r>
            <a:endParaRPr lang="fr-FR" sz="1900" dirty="0"/>
          </a:p>
        </p:txBody>
      </p:sp>
      <p:pic>
        <p:nvPicPr>
          <p:cNvPr id="5" name="Image 4" descr="Une image contenant texte, Police, nombre, ligne">
            <a:extLst>
              <a:ext uri="{FF2B5EF4-FFF2-40B4-BE49-F238E27FC236}">
                <a16:creationId xmlns:a16="http://schemas.microsoft.com/office/drawing/2014/main" id="{2C4795E7-4748-F6C6-C559-17A24BC06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954" y="2985302"/>
            <a:ext cx="4554352" cy="305923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306BF3-4307-105C-63AB-5A1B9625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16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3017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HTTP: Structure de Réponse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942" y="2757551"/>
            <a:ext cx="5385700" cy="3793723"/>
          </a:xfrm>
        </p:spPr>
        <p:txBody>
          <a:bodyPr rtlCol="0">
            <a:normAutofit fontScale="92500" lnSpcReduction="10000"/>
          </a:bodyPr>
          <a:lstStyle>
            <a:defPPr>
              <a:defRPr lang="fr-FR"/>
            </a:defPPr>
          </a:lstStyle>
          <a:p>
            <a:pPr algn="just" rtl="0"/>
            <a:r>
              <a:rPr lang="fr-FR" sz="1900" b="0" i="0" dirty="0">
                <a:effectLst/>
                <a:highlight>
                  <a:srgbClr val="FFFFFF"/>
                </a:highlight>
              </a:rPr>
              <a:t>Les codes de statut HTTP indiquent le résultat de la requête. Ils sont divisés en cinq catégories :</a:t>
            </a:r>
            <a:endParaRPr lang="fr-FR" sz="1700" b="0" i="0" dirty="0">
              <a:effectLst/>
              <a:highlight>
                <a:srgbClr val="FFFFFF"/>
              </a:highlight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700" b="1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 1xx (Informationnel)</a:t>
            </a:r>
            <a:r>
              <a:rPr lang="fr-FR" sz="17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La requête a été reçue et le processus est en cours.</a:t>
            </a:r>
          </a:p>
          <a:p>
            <a:pPr marL="450850" indent="80963" algn="just">
              <a:buFont typeface="Wingdings" panose="05000000000000000000" pitchFamily="2" charset="2"/>
              <a:buChar char="Ø"/>
            </a:pP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fr-FR" sz="1700" b="1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Exemple: 100 Continue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700" b="1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 2xx (Succès)</a:t>
            </a:r>
            <a:r>
              <a:rPr lang="fr-FR" sz="17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La requête a été reçue, comprise et acceptée.</a:t>
            </a:r>
          </a:p>
          <a:p>
            <a:pPr marL="450850" indent="80963" algn="just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 Exemple: 200 OK | 201 </a:t>
            </a:r>
            <a:r>
              <a:rPr lang="fr-FR" sz="1700" b="1" dirty="0" err="1">
                <a:solidFill>
                  <a:srgbClr val="262626"/>
                </a:solidFill>
                <a:highlight>
                  <a:srgbClr val="FFFFFF"/>
                </a:highlight>
              </a:rPr>
              <a:t>Created</a:t>
            </a: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 | 204 No Content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700" b="1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 3xx (Redirection)</a:t>
            </a:r>
            <a:r>
              <a:rPr lang="fr-FR" sz="17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 —</a:t>
            </a: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Des actions supplémentaires doivent être prises par le client pour terminer la requête.</a:t>
            </a:r>
          </a:p>
          <a:p>
            <a:pPr marL="450850" indent="80963" algn="just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Exemple: 302 </a:t>
            </a:r>
            <a:r>
              <a:rPr lang="fr-FR" sz="1700" b="1" dirty="0" err="1">
                <a:solidFill>
                  <a:srgbClr val="262626"/>
                </a:solidFill>
                <a:highlight>
                  <a:srgbClr val="FFFFFF"/>
                </a:highlight>
              </a:rPr>
              <a:t>Found</a:t>
            </a: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 | 304 Not </a:t>
            </a:r>
            <a:r>
              <a:rPr lang="fr-FR" sz="1700" b="1" dirty="0" err="1">
                <a:solidFill>
                  <a:srgbClr val="262626"/>
                </a:solidFill>
                <a:highlight>
                  <a:srgbClr val="FFFFFF"/>
                </a:highlight>
              </a:rPr>
              <a:t>Modified</a:t>
            </a:r>
            <a:endParaRPr lang="fr-FR" sz="1700" b="1" dirty="0">
              <a:solidFill>
                <a:srgbClr val="262626"/>
              </a:solidFill>
              <a:highlight>
                <a:srgbClr val="FFFFFF"/>
              </a:highlight>
            </a:endParaRPr>
          </a:p>
        </p:txBody>
      </p:sp>
      <p:sp>
        <p:nvSpPr>
          <p:cNvPr id="4" name="Google Shape;94;g25b1bb62912_0_14">
            <a:extLst>
              <a:ext uri="{FF2B5EF4-FFF2-40B4-BE49-F238E27FC236}">
                <a16:creationId xmlns:a16="http://schemas.microsoft.com/office/drawing/2014/main" id="{05596BF6-CDCF-60A8-4E91-B52B8C1EC8BD}"/>
              </a:ext>
            </a:extLst>
          </p:cNvPr>
          <p:cNvSpPr txBox="1"/>
          <p:nvPr/>
        </p:nvSpPr>
        <p:spPr>
          <a:xfrm>
            <a:off x="432315" y="2184113"/>
            <a:ext cx="4660546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400" b="1" dirty="0">
                <a:solidFill>
                  <a:schemeClr val="bg1"/>
                </a:solidFill>
                <a:highlight>
                  <a:srgbClr val="FFFFFF"/>
                </a:highlight>
                <a:latin typeface="+mj-lt"/>
              </a:rPr>
              <a:t>Les codes de Statut HTTP:</a:t>
            </a:r>
            <a:endParaRPr lang="fr-FR" sz="2400" b="1" dirty="0">
              <a:solidFill>
                <a:schemeClr val="bg1"/>
              </a:solidFill>
              <a:highlight>
                <a:srgbClr val="FFFFFF"/>
              </a:highlight>
              <a:latin typeface="+mj-lt"/>
              <a:sym typeface="Calibri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61DC885-779D-B30C-864E-6FD658845B36}"/>
              </a:ext>
            </a:extLst>
          </p:cNvPr>
          <p:cNvSpPr txBox="1">
            <a:spLocks/>
          </p:cNvSpPr>
          <p:nvPr/>
        </p:nvSpPr>
        <p:spPr>
          <a:xfrm>
            <a:off x="6213103" y="4021123"/>
            <a:ext cx="5978897" cy="2530151"/>
          </a:xfrm>
          <a:prstGeom prst="rect">
            <a:avLst/>
          </a:prstGeom>
        </p:spPr>
        <p:txBody>
          <a:bodyPr vert="horz" lIns="0" tIns="45720" rIns="91440" bIns="45720" rtlCol="0">
            <a:normAutofit fontScale="92500" lnSpcReduction="20000"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fr-FR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0850" indent="80963" algn="just">
              <a:buFont typeface="Wingdings" panose="05000000000000000000" pitchFamily="2" charset="2"/>
              <a:buChar char="Ø"/>
            </a:pPr>
            <a:endParaRPr lang="fr-FR" sz="1700" b="1" i="0" dirty="0">
              <a:solidFill>
                <a:srgbClr val="262626"/>
              </a:solidFill>
              <a:effectLst/>
              <a:highlight>
                <a:srgbClr val="FFFFFF"/>
              </a:highlight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700" b="1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 4xx (Erreur Client)</a:t>
            </a:r>
            <a:r>
              <a:rPr lang="fr-FR" sz="17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 — </a:t>
            </a: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La requête contient une mauvaise syntaxe ou ne peut être satisfaite.</a:t>
            </a:r>
          </a:p>
          <a:p>
            <a:pPr marL="450850" indent="80963" algn="just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 Exemple: </a:t>
            </a:r>
            <a:r>
              <a:rPr lang="en-US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400 Bad Request | 401 Unauthorized | 404 Not Found</a:t>
            </a:r>
            <a:endParaRPr lang="fr-FR" sz="1700" b="1" dirty="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fr-FR" sz="1700" b="1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 5xx (Erreur Serveur)</a:t>
            </a:r>
            <a:r>
              <a:rPr lang="fr-FR" sz="1700" b="0" i="0" dirty="0">
                <a:solidFill>
                  <a:schemeClr val="accent3"/>
                </a:solidFill>
                <a:effectLst/>
                <a:highlight>
                  <a:srgbClr val="FFFFFF"/>
                </a:highlight>
              </a:rPr>
              <a:t> —</a:t>
            </a:r>
            <a:r>
              <a:rPr lang="fr-FR" sz="17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Le serveur a échoué à satisfaire une requête valide.</a:t>
            </a:r>
          </a:p>
          <a:p>
            <a:pPr marL="450850" indent="80963" algn="just">
              <a:buFont typeface="Wingdings" panose="05000000000000000000" pitchFamily="2" charset="2"/>
              <a:buChar char="Ø"/>
            </a:pP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Exemple: 500 </a:t>
            </a:r>
            <a:r>
              <a:rPr lang="fr-FR" sz="1700" b="1" dirty="0" err="1">
                <a:solidFill>
                  <a:srgbClr val="262626"/>
                </a:solidFill>
                <a:highlight>
                  <a:srgbClr val="FFFFFF"/>
                </a:highlight>
              </a:rPr>
              <a:t>Internal</a:t>
            </a:r>
            <a:r>
              <a:rPr lang="fr-FR" sz="1700" b="1" dirty="0">
                <a:solidFill>
                  <a:srgbClr val="262626"/>
                </a:solidFill>
                <a:highlight>
                  <a:srgbClr val="FFFFFF"/>
                </a:highlight>
              </a:rPr>
              <a:t> Server </a:t>
            </a:r>
            <a:r>
              <a:rPr lang="fr-FR" sz="1700" b="1" dirty="0" err="1">
                <a:solidFill>
                  <a:srgbClr val="262626"/>
                </a:solidFill>
                <a:highlight>
                  <a:srgbClr val="FFFFFF"/>
                </a:highlight>
              </a:rPr>
              <a:t>Error</a:t>
            </a:r>
            <a:endParaRPr lang="fr-FR" sz="1700" b="1" dirty="0">
              <a:solidFill>
                <a:srgbClr val="262626"/>
              </a:solidFill>
              <a:highlight>
                <a:srgbClr val="FFFFFF"/>
              </a:highlight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882184B-4773-5D51-47CE-8451BADC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17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7944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URL vs URI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2171B3F-ABDF-16F0-5B6F-5C59B4536BD0}"/>
              </a:ext>
            </a:extLst>
          </p:cNvPr>
          <p:cNvSpPr txBox="1"/>
          <p:nvPr/>
        </p:nvSpPr>
        <p:spPr>
          <a:xfrm>
            <a:off x="486727" y="2416539"/>
            <a:ext cx="738405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000" dirty="0">
                <a:solidFill>
                  <a:schemeClr val="bg1"/>
                </a:solidFill>
              </a:rPr>
              <a:t>Tous les URL sont des URI, mais tous les URI ne sont pas des URL.</a:t>
            </a: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</a:rPr>
              <a:t>URI (Uniform Resource Identifier) :</a:t>
            </a: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   </a:t>
            </a:r>
            <a:r>
              <a:rPr lang="fr-FR" dirty="0">
                <a:solidFill>
                  <a:schemeClr val="bg1"/>
                </a:solidFill>
              </a:rPr>
              <a:t>- Offre un moyen général d'identifier des ressources sur le Web ou dans un réseau.</a:t>
            </a:r>
          </a:p>
          <a:p>
            <a:pPr algn="just"/>
            <a:r>
              <a:rPr lang="fr-FR" dirty="0">
                <a:solidFill>
                  <a:schemeClr val="bg1"/>
                </a:solidFill>
              </a:rPr>
              <a:t>   - Il peut s'agir d'une page web, d'une image, d'une vidéo, d'un fichier ou de tout autre type de ressource accessible via un protocole réseau.</a:t>
            </a:r>
          </a:p>
          <a:p>
            <a:pPr algn="just"/>
            <a:r>
              <a:rPr lang="fr-FR" dirty="0">
                <a:solidFill>
                  <a:schemeClr val="bg1"/>
                </a:solidFill>
              </a:rPr>
              <a:t>  - Peut utiliser différents protocoles (HTTP, FTP, HTTPS, </a:t>
            </a:r>
            <a:r>
              <a:rPr lang="fr-FR" dirty="0" err="1">
                <a:solidFill>
                  <a:schemeClr val="bg1"/>
                </a:solidFill>
              </a:rPr>
              <a:t>etc</a:t>
            </a:r>
            <a:r>
              <a:rPr lang="fr-FR" dirty="0">
                <a:solidFill>
                  <a:schemeClr val="bg1"/>
                </a:solidFill>
              </a:rPr>
              <a:t>).</a:t>
            </a:r>
          </a:p>
          <a:p>
            <a:pPr algn="just"/>
            <a:endParaRPr lang="fr-FR" dirty="0">
              <a:solidFill>
                <a:schemeClr val="bg1"/>
              </a:solidFill>
            </a:endParaRPr>
          </a:p>
          <a:p>
            <a:pPr algn="just"/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</a:rPr>
              <a:t>URL (Uniform Resource Locator) :</a:t>
            </a:r>
            <a:r>
              <a:rPr lang="fr-FR" sz="2000" dirty="0">
                <a:solidFill>
                  <a:schemeClr val="bg1"/>
                </a:solidFill>
              </a:rPr>
              <a:t>  </a:t>
            </a:r>
          </a:p>
          <a:p>
            <a:pPr algn="just"/>
            <a:r>
              <a:rPr lang="fr-FR" dirty="0">
                <a:solidFill>
                  <a:schemeClr val="bg1"/>
                </a:solidFill>
              </a:rPr>
              <a:t>  - Un type spécifique de URI.</a:t>
            </a: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  </a:t>
            </a:r>
            <a:r>
              <a:rPr lang="fr-FR" dirty="0">
                <a:solidFill>
                  <a:schemeClr val="bg1"/>
                </a:solidFill>
              </a:rPr>
              <a:t>- Spécifiquement conçues pour localiser des ressources web via HTTP.</a:t>
            </a:r>
          </a:p>
          <a:p>
            <a:pPr algn="just"/>
            <a:r>
              <a:rPr lang="fr-FR" sz="2000" dirty="0">
                <a:solidFill>
                  <a:schemeClr val="bg1"/>
                </a:solidFill>
              </a:rPr>
              <a:t>  </a:t>
            </a:r>
            <a:r>
              <a:rPr lang="fr-FR" dirty="0">
                <a:solidFill>
                  <a:schemeClr val="bg1"/>
                </a:solidFill>
              </a:rPr>
              <a:t>- S'agit de l'adresse la plus courante utilisée pour accéder aux pages web sur Internet.</a:t>
            </a:r>
            <a:endParaRPr lang="fr-FR" sz="2000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texte, cercle, Police, capture d’écran&#10;&#10;Description générée automatiquement">
            <a:extLst>
              <a:ext uri="{FF2B5EF4-FFF2-40B4-BE49-F238E27FC236}">
                <a16:creationId xmlns:a16="http://schemas.microsoft.com/office/drawing/2014/main" id="{A09B1AF5-6D58-7120-7452-996859DAF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434" y="2792648"/>
            <a:ext cx="3084033" cy="3046988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5938F0-6804-1FB9-BB2E-8F18095E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360" y="6539484"/>
            <a:ext cx="523240" cy="247651"/>
          </a:xfrm>
        </p:spPr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18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660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Question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 lnSpcReduction="10000"/>
          </a:bodyPr>
          <a:lstStyle>
            <a:defPPr>
              <a:defRPr lang="fr-FR"/>
            </a:defPPr>
          </a:lstStyle>
          <a:p>
            <a:pPr algn="just" rtl="0"/>
            <a:r>
              <a:rPr lang="fr-FR" b="1" dirty="0"/>
              <a:t>Quelle est la méthode HTTP qui va permettre à un client de découvrir les méthodes HTTP prises en charge par une ressource à utiliser ?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GET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PATCH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HEAD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OPTIONS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19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8207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Réponse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 lnSpcReduction="10000"/>
          </a:bodyPr>
          <a:lstStyle>
            <a:defPPr>
              <a:defRPr lang="fr-FR"/>
            </a:defPPr>
          </a:lstStyle>
          <a:p>
            <a:pPr algn="just" rtl="0"/>
            <a:r>
              <a:rPr lang="fr-FR" b="1" dirty="0"/>
              <a:t>Quelle est la méthode HTTP qui va permettre à un client de découvrir les méthodes HTTP prises en charge par une ressource à utiliser ?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GET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PATCH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/>
              <a:t>HEAD</a:t>
            </a:r>
          </a:p>
          <a:p>
            <a:pPr marL="457200" indent="-457200" algn="just" rtl="0">
              <a:buFont typeface="+mj-lt"/>
              <a:buAutoNum type="alphaUcPeriod"/>
            </a:pPr>
            <a:r>
              <a:rPr lang="fr-FR" dirty="0">
                <a:solidFill>
                  <a:srgbClr val="009242"/>
                </a:solidFill>
              </a:rPr>
              <a:t>OPTIONS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20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2347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331" y="469352"/>
            <a:ext cx="4570298" cy="3291840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>
              <a:lnSpc>
                <a:spcPct val="100000"/>
              </a:lnSpc>
            </a:pPr>
            <a:r>
              <a:rPr lang="fr-FR" dirty="0">
                <a:sym typeface="Times New Roman"/>
              </a:rPr>
              <a:t>Le terme Service ?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3547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Service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117599" y="2413368"/>
            <a:ext cx="10005671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service </a:t>
            </a:r>
            <a:r>
              <a:rPr lang="fr-FR" sz="18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est une fonction offerte par une entité (personne, organisation, système) à une autre. Il représente une manière de répondre à un besoin ou d'accomplir une tâche.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  Exemples de services: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      - Une banque fournit des services financiers tels que des comptes et des prêts.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          - Un restaurant propose des repas et des boissons aux clients.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  <a:p>
            <a:pPr marL="457200" marR="0" lvl="0" indent="-317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Char char="❏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Times New Roman"/>
                <a:cs typeface="Times New Roman"/>
                <a:sym typeface="Times New Roman"/>
              </a:rPr>
              <a:t>En Informatique, un service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Times New Roman"/>
                <a:cs typeface="Times New Roman"/>
                <a:sym typeface="Times New Roman"/>
              </a:rPr>
              <a:t>désigne une unité logicielle autonome qui fournit des fonctionnalités métiers spécifiques à d'autres applications ou utilisateurs. </a:t>
            </a:r>
          </a:p>
          <a:p>
            <a:pPr marL="1397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tabLst/>
              <a:defRPr/>
            </a:pPr>
            <a:r>
              <a:rPr lang="fr-FR" dirty="0">
                <a:solidFill>
                  <a:srgbClr val="000000"/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      Ces services peuvent être à la fois </a:t>
            </a:r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locaux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 </a:t>
            </a:r>
            <a:r>
              <a:rPr lang="fr-FR" dirty="0">
                <a:solidFill>
                  <a:schemeClr val="bg1"/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et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 </a:t>
            </a:r>
            <a:r>
              <a:rPr lang="fr-FR" b="1" dirty="0">
                <a:solidFill>
                  <a:schemeClr val="accent6">
                    <a:lumMod val="50000"/>
                  </a:schemeClr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distants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Times New Roman"/>
              <a:cs typeface="Times New Roman"/>
              <a:sym typeface="Times New Roman"/>
            </a:endParaRPr>
          </a:p>
          <a:p>
            <a:pPr marL="1397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Times New Roman"/>
              <a:cs typeface="Times New Roman"/>
              <a:sym typeface="Times New Roman"/>
            </a:endParaRP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806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Types de Service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117599" y="2413368"/>
            <a:ext cx="10005671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Les services locaux:</a:t>
            </a:r>
          </a:p>
          <a:p>
            <a:pPr marL="914400" lvl="1" indent="-317500" algn="just">
              <a:buSzPts val="1400"/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Services système</a:t>
            </a: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: Services fournissant des fonctionnalités de base au sein d'un système d'exploitation, comme la gestion des fichiers, la communication réseau ou la sécurité.</a:t>
            </a:r>
          </a:p>
          <a:p>
            <a:pPr marL="914400" lvl="1" indent="-317500" algn="just">
              <a:buSzPts val="1400"/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Services d'Applications de bureau</a:t>
            </a: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: Traitement de texte, tableur, présentation.</a:t>
            </a:r>
          </a:p>
          <a:p>
            <a:pPr marL="596900" lvl="1" algn="just">
              <a:buSzPts val="1400"/>
            </a:pPr>
            <a:endParaRPr lang="fr-FR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  <a:p>
            <a:pPr marL="457200" marR="0" lvl="0" indent="-317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Char char="❏"/>
              <a:tabLst/>
              <a:defRPr/>
            </a:pPr>
            <a:r>
              <a:rPr lang="fr-FR" sz="1800" b="1" dirty="0">
                <a:solidFill>
                  <a:schemeClr val="accent6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Les services distants :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Franklin Gothic Book"/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Services Web</a:t>
            </a: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: Services accessibles via des protocoles internet standardisés comme SOAP, REST.</a:t>
            </a:r>
          </a:p>
          <a:p>
            <a:pPr marL="914400" lvl="1" indent="-317500" algn="just">
              <a:buSzPts val="1400"/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Services Cloud</a:t>
            </a:r>
            <a:r>
              <a:rPr lang="fr-FR" dirty="0">
                <a:solidFill>
                  <a:schemeClr val="bg1"/>
                </a:solidFill>
                <a:ea typeface="Calibri"/>
                <a:cs typeface="Calibri"/>
                <a:sym typeface="Calibri"/>
              </a:rPr>
              <a:t>: Services hébergés dans le cloud et accessibles via internet, comme le stockage cloud ou les bases de données en nuage.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9052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331" y="469352"/>
            <a:ext cx="4570298" cy="3291840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>
              <a:lnSpc>
                <a:spcPct val="100000"/>
              </a:lnSpc>
            </a:pPr>
            <a:r>
              <a:rPr lang="fr-FR" dirty="0">
                <a:sym typeface="Times New Roman"/>
              </a:rPr>
              <a:t>Les Services Web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14009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Définition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989351" y="3251023"/>
            <a:ext cx="8714574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Char char="❏"/>
              <a:tabLst/>
              <a:defRPr/>
            </a:pP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Fait référence aux services proposés sur Internet.</a:t>
            </a:r>
          </a:p>
          <a:p>
            <a:pPr marL="457200" marR="0" lvl="0" indent="-317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Char char="❏"/>
              <a:tabLst/>
              <a:defRPr/>
            </a:pP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Un </a:t>
            </a:r>
            <a:r>
              <a:rPr lang="fr-FR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programme informatique</a:t>
            </a: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, permettant la communication et l'échange de données entre applications et systèmes </a:t>
            </a:r>
            <a:r>
              <a:rPr lang="fr-FR" sz="2000" b="0" i="0" dirty="0">
                <a:solidFill>
                  <a:schemeClr val="accent6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hétérogènes</a:t>
            </a: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 dans des environnements </a:t>
            </a:r>
            <a:r>
              <a:rPr lang="fr-FR" sz="2000" b="0" i="0" dirty="0">
                <a:solidFill>
                  <a:schemeClr val="accent6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distribués</a:t>
            </a: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457200" marR="0" lvl="0" indent="-3175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Char char="❏"/>
              <a:tabLst/>
              <a:defRPr/>
            </a:pPr>
            <a:r>
              <a:rPr lang="fr-FR" sz="2000" b="0" i="0" dirty="0">
                <a:solidFill>
                  <a:srgbClr val="262626"/>
                </a:solidFill>
                <a:effectLst/>
                <a:highlight>
                  <a:srgbClr val="FFFFFF"/>
                </a:highlight>
              </a:rPr>
              <a:t>Un  type d'API (Interface de Programmation d'Applications) qui permet l'échange de données entre des systèmes via des protocoles web en </a:t>
            </a:r>
            <a:r>
              <a:rPr lang="fr-FR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interagissant </a:t>
            </a:r>
            <a:r>
              <a:rPr lang="fr-FR" sz="2000" i="0" dirty="0">
                <a:solidFill>
                  <a:schemeClr val="accent6">
                    <a:lumMod val="50000"/>
                  </a:schemeClr>
                </a:solidFill>
                <a:effectLst/>
                <a:highlight>
                  <a:srgbClr val="FFFFFF"/>
                </a:highlight>
              </a:rPr>
              <a:t>à travers l’échange de messages</a:t>
            </a:r>
            <a:r>
              <a:rPr lang="fr-FR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</a:rPr>
              <a:t>.</a:t>
            </a:r>
            <a:endParaRPr lang="fr-FR" sz="2000" b="0" i="0" dirty="0">
              <a:solidFill>
                <a:srgbClr val="262626"/>
              </a:solidFill>
              <a:effectLst/>
              <a:highlight>
                <a:srgbClr val="FFFFFF"/>
              </a:highlight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endParaRPr lang="fr-FR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504D26-81F7-DACC-B7E3-8CD81E35E9C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25</a:t>
            </a:fld>
            <a:endParaRPr lang="fr-FR" dirty="0">
              <a:latin typeface="+mn-l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58D56FD-05D7-EA80-F809-A3F8145BE64D}"/>
              </a:ext>
            </a:extLst>
          </p:cNvPr>
          <p:cNvSpPr txBox="1"/>
          <p:nvPr/>
        </p:nvSpPr>
        <p:spPr>
          <a:xfrm>
            <a:off x="2373973" y="2277552"/>
            <a:ext cx="6094070" cy="64633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just"/>
            <a:r>
              <a:rPr lang="fr-F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Service web = </a:t>
            </a:r>
            <a:r>
              <a:rPr lang="fr-FR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Open Sans" panose="020B0606030504020204" pitchFamily="34" charset="0"/>
              </a:rPr>
              <a:t>service + web</a:t>
            </a:r>
          </a:p>
          <a:p>
            <a:pPr algn="just"/>
            <a:endParaRPr lang="fr-FR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500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Service Web vs API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3116369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/>
            <a:r>
              <a:rPr lang="fr-FR" dirty="0"/>
              <a:t>Une interface qui permet à différentes applications ou systèmes de communiquer entre eux.</a:t>
            </a:r>
          </a:p>
          <a:p>
            <a:pPr lvl="1" algn="just"/>
            <a:r>
              <a:rPr lang="fr-FR" dirty="0"/>
              <a:t>Fournit un ensemble de données et fonctionnalités d'une application, permettant à d'autres applications de les utiliser sans avoir à connaître les détails de leur implémentation interne. </a:t>
            </a:r>
          </a:p>
          <a:p>
            <a:pPr lvl="1" algn="just"/>
            <a:r>
              <a:rPr lang="fr-FR" dirty="0"/>
              <a:t>Interopérabilité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dépendante</a:t>
            </a:r>
            <a:r>
              <a:rPr lang="fr-FR" dirty="0"/>
              <a:t>: Dépend de la manière dont l'API est conçue et implémentée.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4423" y="3116369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/>
            <a:r>
              <a:rPr lang="fr-FR" dirty="0"/>
              <a:t>Sous-ensemble d'API accessibles via le web, utilisant des standards et des protocoles internet.</a:t>
            </a:r>
          </a:p>
          <a:p>
            <a:pPr lvl="1" algn="just"/>
            <a:r>
              <a:rPr lang="fr-FR" dirty="0"/>
              <a:t>Basés sur des normes ouvertes comme XML, JSON, HTTP, SOAP ou REST.</a:t>
            </a:r>
          </a:p>
          <a:p>
            <a:pPr lvl="1" algn="just"/>
            <a:endParaRPr lang="fr-FR" dirty="0"/>
          </a:p>
          <a:p>
            <a:pPr lvl="1" algn="just"/>
            <a:r>
              <a:rPr lang="fr-FR" dirty="0"/>
              <a:t>Interopérabilité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favorisée</a:t>
            </a:r>
            <a:r>
              <a:rPr lang="fr-FR" dirty="0"/>
              <a:t>.</a:t>
            </a:r>
          </a:p>
        </p:txBody>
      </p:sp>
      <p:sp>
        <p:nvSpPr>
          <p:cNvPr id="5" name="Google Shape;94;g25b1bb62912_0_14">
            <a:extLst>
              <a:ext uri="{FF2B5EF4-FFF2-40B4-BE49-F238E27FC236}">
                <a16:creationId xmlns:a16="http://schemas.microsoft.com/office/drawing/2014/main" id="{62CE1B20-05BB-0D80-F570-22FC27B20A3F}"/>
              </a:ext>
            </a:extLst>
          </p:cNvPr>
          <p:cNvSpPr txBox="1"/>
          <p:nvPr/>
        </p:nvSpPr>
        <p:spPr>
          <a:xfrm>
            <a:off x="270266" y="2651166"/>
            <a:ext cx="498463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API (Application </a:t>
            </a:r>
            <a:r>
              <a:rPr lang="fr-FR" sz="2000" b="1" dirty="0" err="1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Programming</a:t>
            </a: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 Interface)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4;g25b1bb62912_0_14">
            <a:extLst>
              <a:ext uri="{FF2B5EF4-FFF2-40B4-BE49-F238E27FC236}">
                <a16:creationId xmlns:a16="http://schemas.microsoft.com/office/drawing/2014/main" id="{E901329B-0B59-9260-F732-91CAB243B930}"/>
              </a:ext>
            </a:extLst>
          </p:cNvPr>
          <p:cNvSpPr txBox="1"/>
          <p:nvPr/>
        </p:nvSpPr>
        <p:spPr>
          <a:xfrm>
            <a:off x="5947841" y="2613669"/>
            <a:ext cx="530276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Service Web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26</a:t>
            </a:fld>
            <a:endParaRPr lang="fr-FR" dirty="0">
              <a:latin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44DDEB-2808-618D-3EE8-002B5AE07886}"/>
              </a:ext>
            </a:extLst>
          </p:cNvPr>
          <p:cNvSpPr txBox="1"/>
          <p:nvPr/>
        </p:nvSpPr>
        <p:spPr>
          <a:xfrm>
            <a:off x="4278655" y="1828246"/>
            <a:ext cx="6094070" cy="64633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effectLst/>
                <a:latin typeface="Open Sans" panose="020B0606030504020204" pitchFamily="34" charset="0"/>
              </a:rPr>
              <a:t>​Tout service web est une API </a:t>
            </a:r>
          </a:p>
          <a:p>
            <a:pPr algn="ctr"/>
            <a:r>
              <a:rPr lang="fr-FR" b="1" i="0" dirty="0">
                <a:effectLst/>
                <a:latin typeface="Open Sans" panose="020B0606030504020204" pitchFamily="34" charset="0"/>
              </a:rPr>
              <a:t>Tout API n’est pas un forcément un service web </a:t>
            </a:r>
          </a:p>
        </p:txBody>
      </p:sp>
    </p:spTree>
    <p:extLst>
      <p:ext uri="{BB962C8B-B14F-4D97-AF65-F5344CB8AC3E}">
        <p14:creationId xmlns:p14="http://schemas.microsoft.com/office/powerpoint/2010/main" val="117721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/>
      <p:bldP spid="6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Service Web vs API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3116369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/>
            <a:r>
              <a:rPr lang="fr-FR" dirty="0"/>
              <a:t>Les API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ne nécessitent pas forcément </a:t>
            </a:r>
            <a:r>
              <a:rPr lang="fr-FR" dirty="0"/>
              <a:t>d'utiliser le réseau ou Internet.</a:t>
            </a:r>
          </a:p>
          <a:p>
            <a:pPr algn="just"/>
            <a:r>
              <a:rPr lang="fr-FR" dirty="0"/>
              <a:t>Exemples:</a:t>
            </a:r>
          </a:p>
          <a:p>
            <a:pPr marL="609600" lvl="1" indent="-342900" algn="just">
              <a:buFont typeface="Wingdings" panose="05000000000000000000" pitchFamily="2" charset="2"/>
              <a:buChar char="§"/>
            </a:pPr>
            <a:r>
              <a:rPr lang="fr-FR" dirty="0"/>
              <a:t>JDBC (Java </a:t>
            </a:r>
            <a:r>
              <a:rPr lang="fr-FR" dirty="0" err="1"/>
              <a:t>Database</a:t>
            </a:r>
            <a:r>
              <a:rPr lang="fr-FR" dirty="0"/>
              <a:t> Connectivity)</a:t>
            </a:r>
          </a:p>
          <a:p>
            <a:pPr marL="609600" lvl="1" indent="-342900" algn="just">
              <a:buFont typeface="Wingdings" panose="05000000000000000000" pitchFamily="2" charset="2"/>
              <a:buChar char="§"/>
            </a:pPr>
            <a:r>
              <a:rPr lang="fr-FR" dirty="0"/>
              <a:t>​PDO (PHP Data </a:t>
            </a:r>
            <a:r>
              <a:rPr lang="fr-FR" dirty="0" err="1"/>
              <a:t>Objects</a:t>
            </a:r>
            <a:r>
              <a:rPr lang="fr-FR" dirty="0"/>
              <a:t>)</a:t>
            </a:r>
          </a:p>
          <a:p>
            <a:pPr marL="609600" lvl="1" indent="-342900" algn="just">
              <a:buFont typeface="Wingdings" panose="05000000000000000000" pitchFamily="2" charset="2"/>
              <a:buChar char="§"/>
            </a:pPr>
            <a:r>
              <a:rPr lang="fr-FR" dirty="0" err="1"/>
              <a:t>PHPMailer</a:t>
            </a:r>
            <a:endParaRPr lang="fr-FR" dirty="0"/>
          </a:p>
          <a:p>
            <a:pPr marL="609600" lvl="1" indent="-342900" algn="just">
              <a:buFont typeface="Wingdings" panose="05000000000000000000" pitchFamily="2" charset="2"/>
              <a:buChar char="§"/>
            </a:pPr>
            <a:r>
              <a:rPr lang="fr-FR" dirty="0"/>
              <a:t>Symfony </a:t>
            </a:r>
            <a:r>
              <a:rPr lang="fr-FR" dirty="0" err="1"/>
              <a:t>Form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94423" y="3116369"/>
            <a:ext cx="4490827" cy="3597470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algn="just"/>
            <a:r>
              <a:rPr lang="fr-FR" dirty="0"/>
              <a:t>Fonctionnent sur des machines différentes, </a:t>
            </a:r>
            <a:r>
              <a:rPr lang="fr-FR" dirty="0">
                <a:solidFill>
                  <a:schemeClr val="accent2">
                    <a:lumMod val="50000"/>
                  </a:schemeClr>
                </a:solidFill>
              </a:rPr>
              <a:t>via Internet </a:t>
            </a:r>
            <a:r>
              <a:rPr lang="fr-FR" dirty="0"/>
              <a:t>ou un réseau internet</a:t>
            </a:r>
          </a:p>
          <a:p>
            <a:pPr algn="just"/>
            <a:r>
              <a:rPr lang="fr-FR" dirty="0"/>
              <a:t>Exemples:</a:t>
            </a:r>
          </a:p>
          <a:p>
            <a:pPr marL="684212" lvl="1" indent="-342900" algn="just">
              <a:buFont typeface="Wingdings" panose="05000000000000000000" pitchFamily="2" charset="2"/>
              <a:buChar char="§"/>
            </a:pPr>
            <a:r>
              <a:rPr lang="fr-FR" dirty="0" err="1"/>
              <a:t>Stripe</a:t>
            </a:r>
            <a:r>
              <a:rPr lang="fr-FR" dirty="0"/>
              <a:t> API </a:t>
            </a:r>
          </a:p>
          <a:p>
            <a:pPr marL="684212" lvl="1" indent="-342900" algn="just">
              <a:buFont typeface="Wingdings" panose="05000000000000000000" pitchFamily="2" charset="2"/>
              <a:buChar char="§"/>
            </a:pPr>
            <a:r>
              <a:rPr lang="fr-FR" dirty="0"/>
              <a:t>Google </a:t>
            </a:r>
            <a:r>
              <a:rPr lang="fr-FR" dirty="0" err="1"/>
              <a:t>Maps</a:t>
            </a:r>
            <a:r>
              <a:rPr lang="fr-FR" dirty="0"/>
              <a:t> API</a:t>
            </a:r>
          </a:p>
          <a:p>
            <a:pPr marL="684212" lvl="1" indent="-342900" algn="just">
              <a:buFont typeface="Wingdings" panose="05000000000000000000" pitchFamily="2" charset="2"/>
              <a:buChar char="§"/>
            </a:pPr>
            <a:r>
              <a:rPr lang="fr-FR" dirty="0"/>
              <a:t>PayPal Payments API</a:t>
            </a:r>
          </a:p>
        </p:txBody>
      </p:sp>
      <p:sp>
        <p:nvSpPr>
          <p:cNvPr id="5" name="Google Shape;94;g25b1bb62912_0_14">
            <a:extLst>
              <a:ext uri="{FF2B5EF4-FFF2-40B4-BE49-F238E27FC236}">
                <a16:creationId xmlns:a16="http://schemas.microsoft.com/office/drawing/2014/main" id="{62CE1B20-05BB-0D80-F570-22FC27B20A3F}"/>
              </a:ext>
            </a:extLst>
          </p:cNvPr>
          <p:cNvSpPr txBox="1"/>
          <p:nvPr/>
        </p:nvSpPr>
        <p:spPr>
          <a:xfrm>
            <a:off x="304990" y="2623957"/>
            <a:ext cx="498463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API (Application </a:t>
            </a:r>
            <a:r>
              <a:rPr lang="fr-FR" sz="2000" b="1" dirty="0" err="1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Programming</a:t>
            </a: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 Interface)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4;g25b1bb62912_0_14">
            <a:extLst>
              <a:ext uri="{FF2B5EF4-FFF2-40B4-BE49-F238E27FC236}">
                <a16:creationId xmlns:a16="http://schemas.microsoft.com/office/drawing/2014/main" id="{E901329B-0B59-9260-F732-91CAB243B930}"/>
              </a:ext>
            </a:extLst>
          </p:cNvPr>
          <p:cNvSpPr txBox="1"/>
          <p:nvPr/>
        </p:nvSpPr>
        <p:spPr>
          <a:xfrm>
            <a:off x="5947841" y="2613669"/>
            <a:ext cx="530276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algn="l" rtl="0"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fr-FR" sz="2000" b="1" dirty="0">
                <a:solidFill>
                  <a:schemeClr val="accent1">
                    <a:lumMod val="50000"/>
                  </a:schemeClr>
                </a:solidFill>
                <a:latin typeface="Times New Roman"/>
                <a:ea typeface="Calibri"/>
                <a:cs typeface="Times New Roman"/>
                <a:sym typeface="Times New Roman"/>
              </a:rPr>
              <a:t>Service Web</a:t>
            </a:r>
            <a:endParaRPr sz="2000" b="1" dirty="0">
              <a:solidFill>
                <a:schemeClr val="accent1">
                  <a:lumMod val="5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95E8A44-81DB-AC83-4288-B1662D05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27</a:t>
            </a:fld>
            <a:endParaRPr lang="fr-FR" dirty="0">
              <a:latin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44DDEB-2808-618D-3EE8-002B5AE07886}"/>
              </a:ext>
            </a:extLst>
          </p:cNvPr>
          <p:cNvSpPr txBox="1"/>
          <p:nvPr/>
        </p:nvSpPr>
        <p:spPr>
          <a:xfrm>
            <a:off x="4278654" y="1828246"/>
            <a:ext cx="6256823" cy="646331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algn="ctr"/>
            <a:r>
              <a:rPr lang="fr-FR" b="1" i="0" dirty="0">
                <a:effectLst/>
                <a:latin typeface="Open Sans" panose="020B0606030504020204" pitchFamily="34" charset="0"/>
              </a:rPr>
              <a:t>​Tout service web est une API  Web</a:t>
            </a:r>
          </a:p>
          <a:p>
            <a:pPr algn="ctr"/>
            <a:r>
              <a:rPr lang="fr-FR" b="1" i="0" dirty="0">
                <a:effectLst/>
                <a:latin typeface="Open Sans" panose="020B0606030504020204" pitchFamily="34" charset="0"/>
              </a:rPr>
              <a:t>Toute API Web n’est pas un forcément un service web </a:t>
            </a:r>
          </a:p>
        </p:txBody>
      </p:sp>
    </p:spTree>
    <p:extLst>
      <p:ext uri="{BB962C8B-B14F-4D97-AF65-F5344CB8AC3E}">
        <p14:creationId xmlns:p14="http://schemas.microsoft.com/office/powerpoint/2010/main" val="294677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/>
      <p:bldP spid="6" grpId="0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2909-CBC1-80E9-7329-FF9BAB2DD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61E8F9-728E-14A2-23F5-61639ABA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Service Web vs API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F5AF890-6CED-BA95-5FCE-ABAE32D7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28</a:t>
            </a:fld>
            <a:endParaRPr lang="fr-FR" dirty="0">
              <a:latin typeface="+mn-lt"/>
            </a:endParaRP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6594D647-CC36-DFBE-6C7A-BD884D590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88469"/>
              </p:ext>
            </p:extLst>
          </p:nvPr>
        </p:nvGraphicFramePr>
        <p:xfrm>
          <a:off x="212035" y="2943860"/>
          <a:ext cx="11595653" cy="3388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008805">
                  <a:extLst>
                    <a:ext uri="{9D8B030D-6E8A-4147-A177-3AD203B41FA5}">
                      <a16:colId xmlns:a16="http://schemas.microsoft.com/office/drawing/2014/main" val="1691158086"/>
                    </a:ext>
                  </a:extLst>
                </a:gridCol>
                <a:gridCol w="3601995">
                  <a:extLst>
                    <a:ext uri="{9D8B030D-6E8A-4147-A177-3AD203B41FA5}">
                      <a16:colId xmlns:a16="http://schemas.microsoft.com/office/drawing/2014/main" val="3724141683"/>
                    </a:ext>
                  </a:extLst>
                </a:gridCol>
                <a:gridCol w="2909304">
                  <a:extLst>
                    <a:ext uri="{9D8B030D-6E8A-4147-A177-3AD203B41FA5}">
                      <a16:colId xmlns:a16="http://schemas.microsoft.com/office/drawing/2014/main" val="3971450741"/>
                    </a:ext>
                  </a:extLst>
                </a:gridCol>
                <a:gridCol w="3075549">
                  <a:extLst>
                    <a:ext uri="{9D8B030D-6E8A-4147-A177-3AD203B41FA5}">
                      <a16:colId xmlns:a16="http://schemas.microsoft.com/office/drawing/2014/main" val="2090155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API 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API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Service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801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Définition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Interface logicielle intégrée dans ton projet. Dépend du langage/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framework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Interface exposée via HTTP/HTTPS.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API Web respectant des standards d’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interopérabilité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(REST, SOAP,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974435"/>
                  </a:ext>
                </a:extLst>
              </a:tr>
              <a:tr h="310874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Particularités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Pas de communication réseau.</a:t>
                      </a:r>
                    </a:p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L’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nternet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est nécessaire pour récupérer le code source ou compilé mais </a:t>
                      </a:r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l’API s’exécute  localement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Accessible via Internet</a:t>
                      </a:r>
                    </a:p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Certaines sont </a:t>
                      </a:r>
                      <a:r>
                        <a:rPr lang="fr-FR" b="0" dirty="0">
                          <a:solidFill>
                            <a:srgbClr val="C00000"/>
                          </a:solidFill>
                        </a:rPr>
                        <a:t>technologie-dépendantes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(limitées à une technologie donnée)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Sous-ensemble des API Web.</a:t>
                      </a:r>
                      <a:br>
                        <a:rPr lang="fr-FR" dirty="0">
                          <a:solidFill>
                            <a:schemeClr val="bg1"/>
                          </a:solidFill>
                        </a:rPr>
                      </a:b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Leur force 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est </a:t>
                      </a:r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l’indépendance technologique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043719"/>
                  </a:ext>
                </a:extLst>
              </a:tr>
              <a:tr h="307625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Exemple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.jar Java, Bundle Symfony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Maps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JS API</a:t>
                      </a:r>
                      <a:br>
                        <a:rPr lang="fr-FR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Google Maps (REST)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Google Maps (REST), Service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météo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SOAP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99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69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F2A5E-1A6A-98EF-62B3-C0BF720C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F9553-8898-EC41-02BC-1A1D4171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64877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>
                <a:sym typeface="Times New Roman"/>
              </a:rPr>
              <a:t>Service Web vs API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5727DEE-761C-3353-2D07-DED26EAD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29</a:t>
            </a:fld>
            <a:endParaRPr lang="fr-FR" dirty="0">
              <a:latin typeface="+mn-lt"/>
            </a:endParaRP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A6FA7A8C-9A3C-BF3C-FBBB-BC0E6455B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47942"/>
              </p:ext>
            </p:extLst>
          </p:nvPr>
        </p:nvGraphicFramePr>
        <p:xfrm>
          <a:off x="212035" y="2943860"/>
          <a:ext cx="11595653" cy="3388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008805">
                  <a:extLst>
                    <a:ext uri="{9D8B030D-6E8A-4147-A177-3AD203B41FA5}">
                      <a16:colId xmlns:a16="http://schemas.microsoft.com/office/drawing/2014/main" val="1691158086"/>
                    </a:ext>
                  </a:extLst>
                </a:gridCol>
                <a:gridCol w="3601995">
                  <a:extLst>
                    <a:ext uri="{9D8B030D-6E8A-4147-A177-3AD203B41FA5}">
                      <a16:colId xmlns:a16="http://schemas.microsoft.com/office/drawing/2014/main" val="3724141683"/>
                    </a:ext>
                  </a:extLst>
                </a:gridCol>
                <a:gridCol w="2909304">
                  <a:extLst>
                    <a:ext uri="{9D8B030D-6E8A-4147-A177-3AD203B41FA5}">
                      <a16:colId xmlns:a16="http://schemas.microsoft.com/office/drawing/2014/main" val="3971450741"/>
                    </a:ext>
                  </a:extLst>
                </a:gridCol>
                <a:gridCol w="3075549">
                  <a:extLst>
                    <a:ext uri="{9D8B030D-6E8A-4147-A177-3AD203B41FA5}">
                      <a16:colId xmlns:a16="http://schemas.microsoft.com/office/drawing/2014/main" val="2090155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API 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API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Service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801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Définition</a:t>
                      </a: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Interface logicielle intégrée dans ton projet. Dépend du langage/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framework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Interface exposée via HTTP/HTTPS.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API Web respectant des standards d’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interopérabilité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(REST, SOAP,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974435"/>
                  </a:ext>
                </a:extLst>
              </a:tr>
              <a:tr h="310874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Particularités</a:t>
                      </a: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Pas de communication réseau.</a:t>
                      </a:r>
                    </a:p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L’internet est nécessaire pour récupérer le code source ou compilé mais </a:t>
                      </a:r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l’API s’exécute  localement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Accessible via Internet</a:t>
                      </a:r>
                    </a:p>
                    <a:p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Certaines sont </a:t>
                      </a:r>
                      <a:r>
                        <a:rPr lang="fr-FR" b="0" dirty="0">
                          <a:solidFill>
                            <a:srgbClr val="C00000"/>
                          </a:solidFill>
                        </a:rPr>
                        <a:t>technologie-dépendantes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(limitées à une technologie donnée)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Sous-ensemble des API Web.</a:t>
                      </a:r>
                      <a:br>
                        <a:rPr lang="fr-FR" dirty="0">
                          <a:solidFill>
                            <a:schemeClr val="bg1"/>
                          </a:solidFill>
                        </a:rPr>
                      </a:b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Leur force 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est </a:t>
                      </a:r>
                      <a:r>
                        <a:rPr lang="fr-FR" dirty="0">
                          <a:solidFill>
                            <a:srgbClr val="C00000"/>
                          </a:solidFill>
                        </a:rPr>
                        <a:t>l’indépendance technologique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043719"/>
                  </a:ext>
                </a:extLst>
              </a:tr>
              <a:tr h="307625">
                <a:tc>
                  <a:txBody>
                    <a:bodyPr/>
                    <a:lstStyle/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Exemple</a:t>
                      </a:r>
                    </a:p>
                  </a:txBody>
                  <a:tcPr>
                    <a:solidFill>
                      <a:srgbClr val="4495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.jar Java, Bundle Symfony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Google </a:t>
                      </a:r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Maps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JS API</a:t>
                      </a:r>
                      <a:br>
                        <a:rPr lang="fr-FR" dirty="0">
                          <a:solidFill>
                            <a:schemeClr val="bg1"/>
                          </a:solidFill>
                        </a:rPr>
                      </a:b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Google Maps (REST)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Google Maps (REST), Service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météo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SOAP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99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12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Caractéristiques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30</a:t>
            </a:fld>
            <a:endParaRPr lang="fr-FR" dirty="0">
              <a:latin typeface="+mn-lt"/>
            </a:endParaRPr>
          </a:p>
        </p:txBody>
      </p:sp>
      <p:grpSp>
        <p:nvGrpSpPr>
          <p:cNvPr id="65" name="Google Shape;562;p24">
            <a:extLst>
              <a:ext uri="{FF2B5EF4-FFF2-40B4-BE49-F238E27FC236}">
                <a16:creationId xmlns:a16="http://schemas.microsoft.com/office/drawing/2014/main" id="{D4476B2D-B3C8-4480-A520-933717D6D7C2}"/>
              </a:ext>
            </a:extLst>
          </p:cNvPr>
          <p:cNvGrpSpPr/>
          <p:nvPr/>
        </p:nvGrpSpPr>
        <p:grpSpPr>
          <a:xfrm>
            <a:off x="4585217" y="2912146"/>
            <a:ext cx="5334000" cy="3126865"/>
            <a:chOff x="3810000" y="2159509"/>
            <a:chExt cx="5334000" cy="3126865"/>
          </a:xfrm>
        </p:grpSpPr>
        <p:sp>
          <p:nvSpPr>
            <p:cNvPr id="66" name="Google Shape;563;p24">
              <a:extLst>
                <a:ext uri="{FF2B5EF4-FFF2-40B4-BE49-F238E27FC236}">
                  <a16:creationId xmlns:a16="http://schemas.microsoft.com/office/drawing/2014/main" id="{C33DAC7C-B1A4-6CFA-DA06-1CC061B11785}"/>
                </a:ext>
              </a:extLst>
            </p:cNvPr>
            <p:cNvSpPr/>
            <p:nvPr/>
          </p:nvSpPr>
          <p:spPr>
            <a:xfrm>
              <a:off x="4133341" y="2173478"/>
              <a:ext cx="1230630" cy="1019175"/>
            </a:xfrm>
            <a:custGeom>
              <a:avLst/>
              <a:gdLst/>
              <a:ahLst/>
              <a:cxnLst/>
              <a:rect l="l" t="t" r="r" b="b"/>
              <a:pathLst>
                <a:path w="1230629" h="1019175" extrusionOk="0">
                  <a:moveTo>
                    <a:pt x="0" y="0"/>
                  </a:moveTo>
                  <a:lnTo>
                    <a:pt x="2540" y="9398"/>
                  </a:lnTo>
                  <a:lnTo>
                    <a:pt x="1220978" y="1019048"/>
                  </a:lnTo>
                  <a:lnTo>
                    <a:pt x="1230503" y="1012571"/>
                  </a:lnTo>
                  <a:lnTo>
                    <a:pt x="11937" y="29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564;p24">
              <a:extLst>
                <a:ext uri="{FF2B5EF4-FFF2-40B4-BE49-F238E27FC236}">
                  <a16:creationId xmlns:a16="http://schemas.microsoft.com/office/drawing/2014/main" id="{8EC04C75-262D-0E8E-AD84-F583407CE794}"/>
                </a:ext>
              </a:extLst>
            </p:cNvPr>
            <p:cNvSpPr/>
            <p:nvPr/>
          </p:nvSpPr>
          <p:spPr>
            <a:xfrm>
              <a:off x="4116324" y="2159509"/>
              <a:ext cx="127635" cy="9855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565;p24">
              <a:extLst>
                <a:ext uri="{FF2B5EF4-FFF2-40B4-BE49-F238E27FC236}">
                  <a16:creationId xmlns:a16="http://schemas.microsoft.com/office/drawing/2014/main" id="{94E3F0B7-1796-F77F-7C80-7DD48D5DA470}"/>
                </a:ext>
              </a:extLst>
            </p:cNvPr>
            <p:cNvSpPr/>
            <p:nvPr/>
          </p:nvSpPr>
          <p:spPr>
            <a:xfrm>
              <a:off x="4077588" y="3223767"/>
              <a:ext cx="782320" cy="210185"/>
            </a:xfrm>
            <a:custGeom>
              <a:avLst/>
              <a:gdLst/>
              <a:ahLst/>
              <a:cxnLst/>
              <a:rect l="l" t="t" r="r" b="b"/>
              <a:pathLst>
                <a:path w="782320" h="210185" extrusionOk="0">
                  <a:moveTo>
                    <a:pt x="12319" y="0"/>
                  </a:moveTo>
                  <a:lnTo>
                    <a:pt x="0" y="1905"/>
                  </a:lnTo>
                  <a:lnTo>
                    <a:pt x="8382" y="9144"/>
                  </a:lnTo>
                  <a:lnTo>
                    <a:pt x="777875" y="209804"/>
                  </a:lnTo>
                  <a:lnTo>
                    <a:pt x="782065" y="200914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566;p24">
              <a:extLst>
                <a:ext uri="{FF2B5EF4-FFF2-40B4-BE49-F238E27FC236}">
                  <a16:creationId xmlns:a16="http://schemas.microsoft.com/office/drawing/2014/main" id="{71484A8E-B8DE-47CA-1EB2-EFD59F040464}"/>
                </a:ext>
              </a:extLst>
            </p:cNvPr>
            <p:cNvSpPr/>
            <p:nvPr/>
          </p:nvSpPr>
          <p:spPr>
            <a:xfrm>
              <a:off x="4053840" y="3200401"/>
              <a:ext cx="134112" cy="9448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567;p24">
              <a:extLst>
                <a:ext uri="{FF2B5EF4-FFF2-40B4-BE49-F238E27FC236}">
                  <a16:creationId xmlns:a16="http://schemas.microsoft.com/office/drawing/2014/main" id="{976F716D-07F1-D1A8-0774-2762D85DB675}"/>
                </a:ext>
              </a:extLst>
            </p:cNvPr>
            <p:cNvSpPr/>
            <p:nvPr/>
          </p:nvSpPr>
          <p:spPr>
            <a:xfrm>
              <a:off x="3904488" y="4192017"/>
              <a:ext cx="135000" cy="9321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568;p24">
              <a:extLst>
                <a:ext uri="{FF2B5EF4-FFF2-40B4-BE49-F238E27FC236}">
                  <a16:creationId xmlns:a16="http://schemas.microsoft.com/office/drawing/2014/main" id="{8D0F2E03-A342-F157-5508-5836BC42F2AA}"/>
                </a:ext>
              </a:extLst>
            </p:cNvPr>
            <p:cNvSpPr/>
            <p:nvPr/>
          </p:nvSpPr>
          <p:spPr>
            <a:xfrm>
              <a:off x="3928110" y="3924300"/>
              <a:ext cx="1122680" cy="340995"/>
            </a:xfrm>
            <a:custGeom>
              <a:avLst/>
              <a:gdLst/>
              <a:ahLst/>
              <a:cxnLst/>
              <a:rect l="l" t="t" r="r" b="b"/>
              <a:pathLst>
                <a:path w="1122679" h="340995" extrusionOk="0">
                  <a:moveTo>
                    <a:pt x="1117727" y="0"/>
                  </a:moveTo>
                  <a:lnTo>
                    <a:pt x="7619" y="331850"/>
                  </a:lnTo>
                  <a:lnTo>
                    <a:pt x="0" y="339089"/>
                  </a:lnTo>
                  <a:lnTo>
                    <a:pt x="12318" y="340487"/>
                  </a:lnTo>
                  <a:lnTo>
                    <a:pt x="1122299" y="8762"/>
                  </a:lnTo>
                  <a:lnTo>
                    <a:pt x="1117727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569;p24">
              <a:extLst>
                <a:ext uri="{FF2B5EF4-FFF2-40B4-BE49-F238E27FC236}">
                  <a16:creationId xmlns:a16="http://schemas.microsoft.com/office/drawing/2014/main" id="{157396BC-902B-BE16-2E6E-3D2319C6BB88}"/>
                </a:ext>
              </a:extLst>
            </p:cNvPr>
            <p:cNvSpPr/>
            <p:nvPr/>
          </p:nvSpPr>
          <p:spPr>
            <a:xfrm>
              <a:off x="3810000" y="5193031"/>
              <a:ext cx="133096" cy="9334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570;p24">
              <a:extLst>
                <a:ext uri="{FF2B5EF4-FFF2-40B4-BE49-F238E27FC236}">
                  <a16:creationId xmlns:a16="http://schemas.microsoft.com/office/drawing/2014/main" id="{C0B4C98C-FF75-FCBE-B6DB-F89E22B21291}"/>
                </a:ext>
              </a:extLst>
            </p:cNvPr>
            <p:cNvSpPr/>
            <p:nvPr/>
          </p:nvSpPr>
          <p:spPr>
            <a:xfrm>
              <a:off x="3829685" y="2283840"/>
              <a:ext cx="5201920" cy="2990850"/>
            </a:xfrm>
            <a:custGeom>
              <a:avLst/>
              <a:gdLst/>
              <a:ahLst/>
              <a:cxnLst/>
              <a:rect l="l" t="t" r="r" b="b"/>
              <a:pathLst>
                <a:path w="5201920" h="2990850" extrusionOk="0">
                  <a:moveTo>
                    <a:pt x="1794764" y="1934464"/>
                  </a:moveTo>
                  <a:lnTo>
                    <a:pt x="1786763" y="1926971"/>
                  </a:lnTo>
                  <a:lnTo>
                    <a:pt x="4572" y="2982087"/>
                  </a:lnTo>
                  <a:lnTo>
                    <a:pt x="0" y="2990850"/>
                  </a:lnTo>
                  <a:lnTo>
                    <a:pt x="12573" y="2989580"/>
                  </a:lnTo>
                  <a:lnTo>
                    <a:pt x="1794764" y="1934464"/>
                  </a:lnTo>
                  <a:close/>
                </a:path>
                <a:path w="5201920" h="2990850" extrusionOk="0">
                  <a:moveTo>
                    <a:pt x="5201539" y="0"/>
                  </a:moveTo>
                  <a:lnTo>
                    <a:pt x="5189220" y="2286"/>
                  </a:lnTo>
                  <a:lnTo>
                    <a:pt x="3950335" y="902081"/>
                  </a:lnTo>
                  <a:lnTo>
                    <a:pt x="3959098" y="908812"/>
                  </a:lnTo>
                  <a:lnTo>
                    <a:pt x="5198110" y="9144"/>
                  </a:lnTo>
                  <a:lnTo>
                    <a:pt x="5201539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571;p24">
              <a:extLst>
                <a:ext uri="{FF2B5EF4-FFF2-40B4-BE49-F238E27FC236}">
                  <a16:creationId xmlns:a16="http://schemas.microsoft.com/office/drawing/2014/main" id="{B0B614BD-1C58-FC05-654C-55C80D6E6ED3}"/>
                </a:ext>
              </a:extLst>
            </p:cNvPr>
            <p:cNvSpPr/>
            <p:nvPr/>
          </p:nvSpPr>
          <p:spPr>
            <a:xfrm>
              <a:off x="8918828" y="2270760"/>
              <a:ext cx="130555" cy="9664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572;p24">
              <a:extLst>
                <a:ext uri="{FF2B5EF4-FFF2-40B4-BE49-F238E27FC236}">
                  <a16:creationId xmlns:a16="http://schemas.microsoft.com/office/drawing/2014/main" id="{8DC5B67C-2869-CCB0-A1E2-173714C4FC02}"/>
                </a:ext>
              </a:extLst>
            </p:cNvPr>
            <p:cNvSpPr/>
            <p:nvPr/>
          </p:nvSpPr>
          <p:spPr>
            <a:xfrm>
              <a:off x="8189976" y="3304413"/>
              <a:ext cx="930275" cy="200660"/>
            </a:xfrm>
            <a:custGeom>
              <a:avLst/>
              <a:gdLst/>
              <a:ahLst/>
              <a:cxnLst/>
              <a:rect l="l" t="t" r="r" b="b"/>
              <a:pathLst>
                <a:path w="930275" h="200660" extrusionOk="0">
                  <a:moveTo>
                    <a:pt x="917701" y="0"/>
                  </a:moveTo>
                  <a:lnTo>
                    <a:pt x="0" y="191135"/>
                  </a:lnTo>
                  <a:lnTo>
                    <a:pt x="3428" y="200406"/>
                  </a:lnTo>
                  <a:lnTo>
                    <a:pt x="921130" y="9144"/>
                  </a:lnTo>
                  <a:lnTo>
                    <a:pt x="929894" y="2412"/>
                  </a:lnTo>
                  <a:lnTo>
                    <a:pt x="917701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573;p24">
              <a:extLst>
                <a:ext uri="{FF2B5EF4-FFF2-40B4-BE49-F238E27FC236}">
                  <a16:creationId xmlns:a16="http://schemas.microsoft.com/office/drawing/2014/main" id="{1601C9C7-E062-4FC8-B11E-DE00614E5EF4}"/>
                </a:ext>
              </a:extLst>
            </p:cNvPr>
            <p:cNvSpPr/>
            <p:nvPr/>
          </p:nvSpPr>
          <p:spPr>
            <a:xfrm>
              <a:off x="9011158" y="3276601"/>
              <a:ext cx="132842" cy="9613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574;p24">
              <a:extLst>
                <a:ext uri="{FF2B5EF4-FFF2-40B4-BE49-F238E27FC236}">
                  <a16:creationId xmlns:a16="http://schemas.microsoft.com/office/drawing/2014/main" id="{FC253482-4BCB-EAF8-6C2F-D2B88A53537A}"/>
                </a:ext>
              </a:extLst>
            </p:cNvPr>
            <p:cNvSpPr/>
            <p:nvPr/>
          </p:nvSpPr>
          <p:spPr>
            <a:xfrm>
              <a:off x="9009126" y="4121659"/>
              <a:ext cx="134493" cy="93724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575;p24">
              <a:extLst>
                <a:ext uri="{FF2B5EF4-FFF2-40B4-BE49-F238E27FC236}">
                  <a16:creationId xmlns:a16="http://schemas.microsoft.com/office/drawing/2014/main" id="{9A6EC68F-4FC7-9822-C09F-3E9B7268AACB}"/>
                </a:ext>
              </a:extLst>
            </p:cNvPr>
            <p:cNvSpPr/>
            <p:nvPr/>
          </p:nvSpPr>
          <p:spPr>
            <a:xfrm>
              <a:off x="8189976" y="3924299"/>
              <a:ext cx="943610" cy="269875"/>
            </a:xfrm>
            <a:custGeom>
              <a:avLst/>
              <a:gdLst/>
              <a:ahLst/>
              <a:cxnLst/>
              <a:rect l="l" t="t" r="r" b="b"/>
              <a:pathLst>
                <a:path w="943609" h="269875" extrusionOk="0">
                  <a:moveTo>
                    <a:pt x="943356" y="266573"/>
                  </a:moveTo>
                  <a:lnTo>
                    <a:pt x="922147" y="260477"/>
                  </a:lnTo>
                  <a:lnTo>
                    <a:pt x="4445" y="0"/>
                  </a:lnTo>
                  <a:lnTo>
                    <a:pt x="0" y="9017"/>
                  </a:lnTo>
                  <a:lnTo>
                    <a:pt x="917702" y="269494"/>
                  </a:lnTo>
                  <a:lnTo>
                    <a:pt x="930021" y="267970"/>
                  </a:lnTo>
                  <a:lnTo>
                    <a:pt x="940816" y="266573"/>
                  </a:lnTo>
                  <a:lnTo>
                    <a:pt x="943356" y="266573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576;p24">
              <a:extLst>
                <a:ext uri="{FF2B5EF4-FFF2-40B4-BE49-F238E27FC236}">
                  <a16:creationId xmlns:a16="http://schemas.microsoft.com/office/drawing/2014/main" id="{72F13B45-E1EE-5A37-8D93-1A81521C04E0}"/>
                </a:ext>
              </a:extLst>
            </p:cNvPr>
            <p:cNvSpPr/>
            <p:nvPr/>
          </p:nvSpPr>
          <p:spPr>
            <a:xfrm>
              <a:off x="9010522" y="5136895"/>
              <a:ext cx="133096" cy="93472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577;p24">
              <a:extLst>
                <a:ext uri="{FF2B5EF4-FFF2-40B4-BE49-F238E27FC236}">
                  <a16:creationId xmlns:a16="http://schemas.microsoft.com/office/drawing/2014/main" id="{5FFE6F4C-B98C-16AF-CE31-93638B2056E2}"/>
                </a:ext>
              </a:extLst>
            </p:cNvPr>
            <p:cNvSpPr/>
            <p:nvPr/>
          </p:nvSpPr>
          <p:spPr>
            <a:xfrm>
              <a:off x="7424928" y="4210811"/>
              <a:ext cx="1699260" cy="1007744"/>
            </a:xfrm>
            <a:custGeom>
              <a:avLst/>
              <a:gdLst/>
              <a:ahLst/>
              <a:cxnLst/>
              <a:rect l="l" t="t" r="r" b="b"/>
              <a:pathLst>
                <a:path w="1699259" h="1007745" extrusionOk="0">
                  <a:moveTo>
                    <a:pt x="7747" y="0"/>
                  </a:moveTo>
                  <a:lnTo>
                    <a:pt x="0" y="7493"/>
                  </a:lnTo>
                  <a:lnTo>
                    <a:pt x="1686560" y="1006475"/>
                  </a:lnTo>
                  <a:lnTo>
                    <a:pt x="1699005" y="1007744"/>
                  </a:lnTo>
                  <a:lnTo>
                    <a:pt x="1694433" y="998982"/>
                  </a:lnTo>
                  <a:lnTo>
                    <a:pt x="7747" y="0"/>
                  </a:lnTo>
                  <a:close/>
                </a:path>
              </a:pathLst>
            </a:custGeom>
            <a:solidFill>
              <a:srgbClr val="B6DCD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578;p24">
              <a:extLst>
                <a:ext uri="{FF2B5EF4-FFF2-40B4-BE49-F238E27FC236}">
                  <a16:creationId xmlns:a16="http://schemas.microsoft.com/office/drawing/2014/main" id="{D7A23BBA-1F12-9DE1-A1B3-F08018368345}"/>
                </a:ext>
              </a:extLst>
            </p:cNvPr>
            <p:cNvSpPr/>
            <p:nvPr/>
          </p:nvSpPr>
          <p:spPr>
            <a:xfrm>
              <a:off x="4792980" y="2979419"/>
              <a:ext cx="3558539" cy="1383791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579;p24">
            <a:extLst>
              <a:ext uri="{FF2B5EF4-FFF2-40B4-BE49-F238E27FC236}">
                <a16:creationId xmlns:a16="http://schemas.microsoft.com/office/drawing/2014/main" id="{2816DCA0-6CD1-6C90-D1F8-9D430E3013BC}"/>
              </a:ext>
            </a:extLst>
          </p:cNvPr>
          <p:cNvSpPr txBox="1"/>
          <p:nvPr/>
        </p:nvSpPr>
        <p:spPr>
          <a:xfrm>
            <a:off x="6368677" y="4110085"/>
            <a:ext cx="1458595" cy="51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sz="3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554;p24">
            <a:extLst>
              <a:ext uri="{FF2B5EF4-FFF2-40B4-BE49-F238E27FC236}">
                <a16:creationId xmlns:a16="http://schemas.microsoft.com/office/drawing/2014/main" id="{DF9EF2CD-02BB-4D3D-F109-2D5C02BF1410}"/>
              </a:ext>
            </a:extLst>
          </p:cNvPr>
          <p:cNvSpPr txBox="1"/>
          <p:nvPr/>
        </p:nvSpPr>
        <p:spPr>
          <a:xfrm>
            <a:off x="1182089" y="2563209"/>
            <a:ext cx="3837088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Auto-description(Contrat standardisé)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555;p24">
            <a:extLst>
              <a:ext uri="{FF2B5EF4-FFF2-40B4-BE49-F238E27FC236}">
                <a16:creationId xmlns:a16="http://schemas.microsoft.com/office/drawing/2014/main" id="{5BF6F4F4-5A35-ECD6-406A-CDCD595C2A31}"/>
              </a:ext>
            </a:extLst>
          </p:cNvPr>
          <p:cNvSpPr txBox="1"/>
          <p:nvPr/>
        </p:nvSpPr>
        <p:spPr>
          <a:xfrm>
            <a:off x="1833063" y="3749392"/>
            <a:ext cx="2131060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Couplage</a:t>
            </a:r>
            <a:r>
              <a:rPr lang="fr-F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800" dirty="0">
                <a:solidFill>
                  <a:schemeClr val="dk1"/>
                </a:solidFill>
              </a:rPr>
              <a:t>lâche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5" name="Google Shape;556;p24">
            <a:extLst>
              <a:ext uri="{FF2B5EF4-FFF2-40B4-BE49-F238E27FC236}">
                <a16:creationId xmlns:a16="http://schemas.microsoft.com/office/drawing/2014/main" id="{6A4B2018-ED7D-1D00-8ACD-BA116857425A}"/>
              </a:ext>
            </a:extLst>
          </p:cNvPr>
          <p:cNvSpPr txBox="1"/>
          <p:nvPr/>
        </p:nvSpPr>
        <p:spPr>
          <a:xfrm>
            <a:off x="2484890" y="4803556"/>
            <a:ext cx="155321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Abstraction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6" name="Google Shape;557;p24">
            <a:extLst>
              <a:ext uri="{FF2B5EF4-FFF2-40B4-BE49-F238E27FC236}">
                <a16:creationId xmlns:a16="http://schemas.microsoft.com/office/drawing/2014/main" id="{5AC7B836-D9A7-A696-F4F0-69854D6A5371}"/>
              </a:ext>
            </a:extLst>
          </p:cNvPr>
          <p:cNvSpPr txBox="1"/>
          <p:nvPr/>
        </p:nvSpPr>
        <p:spPr>
          <a:xfrm>
            <a:off x="2211586" y="5804189"/>
            <a:ext cx="1821814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Réutilisabilité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7" name="Google Shape;558;p24">
            <a:extLst>
              <a:ext uri="{FF2B5EF4-FFF2-40B4-BE49-F238E27FC236}">
                <a16:creationId xmlns:a16="http://schemas.microsoft.com/office/drawing/2014/main" id="{682F0FF3-D87E-9233-8E39-E5BAB08BAB5C}"/>
              </a:ext>
            </a:extLst>
          </p:cNvPr>
          <p:cNvSpPr txBox="1"/>
          <p:nvPr/>
        </p:nvSpPr>
        <p:spPr>
          <a:xfrm>
            <a:off x="9933313" y="2801654"/>
            <a:ext cx="1486535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Autonomie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88" name="Google Shape;559;p24">
            <a:extLst>
              <a:ext uri="{FF2B5EF4-FFF2-40B4-BE49-F238E27FC236}">
                <a16:creationId xmlns:a16="http://schemas.microsoft.com/office/drawing/2014/main" id="{0C618ACF-1B8D-128C-76C1-3CEFB05A3616}"/>
              </a:ext>
            </a:extLst>
          </p:cNvPr>
          <p:cNvSpPr txBox="1"/>
          <p:nvPr/>
        </p:nvSpPr>
        <p:spPr>
          <a:xfrm>
            <a:off x="10028436" y="3836070"/>
            <a:ext cx="2481581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2700" indent="0">
              <a:buNone/>
              <a:defRPr sz="1800">
                <a:solidFill>
                  <a:schemeClr val="dk1"/>
                </a:solidFill>
              </a:defRPr>
            </a:lvl1pPr>
          </a:lstStyle>
          <a:p>
            <a:r>
              <a:rPr lang="fr-FR" dirty="0"/>
              <a:t>Sans état(Stateless)</a:t>
            </a:r>
            <a:endParaRPr dirty="0"/>
          </a:p>
        </p:txBody>
      </p:sp>
      <p:sp>
        <p:nvSpPr>
          <p:cNvPr id="89" name="Google Shape;560;p24">
            <a:extLst>
              <a:ext uri="{FF2B5EF4-FFF2-40B4-BE49-F238E27FC236}">
                <a16:creationId xmlns:a16="http://schemas.microsoft.com/office/drawing/2014/main" id="{1D0E4DCE-A439-2F4B-C66C-61072BA0B9BA}"/>
              </a:ext>
            </a:extLst>
          </p:cNvPr>
          <p:cNvSpPr txBox="1"/>
          <p:nvPr/>
        </p:nvSpPr>
        <p:spPr>
          <a:xfrm>
            <a:off x="10028436" y="4732258"/>
            <a:ext cx="173736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Découvrable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0" name="Google Shape;561;p24">
            <a:extLst>
              <a:ext uri="{FF2B5EF4-FFF2-40B4-BE49-F238E27FC236}">
                <a16:creationId xmlns:a16="http://schemas.microsoft.com/office/drawing/2014/main" id="{BFA120AA-3975-C6D0-5602-523FA6B9CB08}"/>
              </a:ext>
            </a:extLst>
          </p:cNvPr>
          <p:cNvSpPr txBox="1"/>
          <p:nvPr/>
        </p:nvSpPr>
        <p:spPr>
          <a:xfrm>
            <a:off x="10028436" y="5766089"/>
            <a:ext cx="1736725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Composable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1" name="Google Shape;555;p24">
            <a:extLst>
              <a:ext uri="{FF2B5EF4-FFF2-40B4-BE49-F238E27FC236}">
                <a16:creationId xmlns:a16="http://schemas.microsoft.com/office/drawing/2014/main" id="{7FA80DC9-9A74-44C5-E749-46817424F44F}"/>
              </a:ext>
            </a:extLst>
          </p:cNvPr>
          <p:cNvSpPr txBox="1"/>
          <p:nvPr/>
        </p:nvSpPr>
        <p:spPr>
          <a:xfrm>
            <a:off x="6834133" y="2470873"/>
            <a:ext cx="213106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Modularité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92" name="Google Shape;555;p24">
            <a:extLst>
              <a:ext uri="{FF2B5EF4-FFF2-40B4-BE49-F238E27FC236}">
                <a16:creationId xmlns:a16="http://schemas.microsoft.com/office/drawing/2014/main" id="{6BC9AE0F-A805-C81F-8152-BCC6E396D654}"/>
              </a:ext>
            </a:extLst>
          </p:cNvPr>
          <p:cNvSpPr txBox="1"/>
          <p:nvPr/>
        </p:nvSpPr>
        <p:spPr>
          <a:xfrm>
            <a:off x="6834133" y="6105778"/>
            <a:ext cx="2131060" cy="289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Interopérabilité</a:t>
            </a:r>
            <a:endParaRPr sz="1800" dirty="0">
              <a:solidFill>
                <a:schemeClr val="dk1"/>
              </a:solidFill>
            </a:endParaRP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6350413C-0B6A-B72C-2B97-65438121B153}"/>
              </a:ext>
            </a:extLst>
          </p:cNvPr>
          <p:cNvCxnSpPr/>
          <p:nvPr/>
        </p:nvCxnSpPr>
        <p:spPr>
          <a:xfrm>
            <a:off x="7293695" y="5148808"/>
            <a:ext cx="0" cy="824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5590862C-29FE-EF35-F361-981833480B90}"/>
              </a:ext>
            </a:extLst>
          </p:cNvPr>
          <p:cNvCxnSpPr/>
          <p:nvPr/>
        </p:nvCxnSpPr>
        <p:spPr>
          <a:xfrm flipH="1" flipV="1">
            <a:off x="7312743" y="2818311"/>
            <a:ext cx="1" cy="879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2145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Question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b="1" dirty="0"/>
              <a:t>Parmi ces caractéristiques, lesquelles sont souhaitables pour un service web ?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modulaire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composable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simple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 err="1"/>
              <a:t>independant</a:t>
            </a:r>
            <a:r>
              <a:rPr lang="fr-FR" dirty="0"/>
              <a:t> de la plateforme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31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946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Réponse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b="1" dirty="0"/>
              <a:t>Parmi ces caractéristiques, lesquelles sont souhaitables pour un service web ?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>
                <a:solidFill>
                  <a:srgbClr val="009242"/>
                </a:solidFill>
              </a:rPr>
              <a:t>modulaire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>
                <a:solidFill>
                  <a:srgbClr val="009242"/>
                </a:solidFill>
              </a:rPr>
              <a:t>composable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/>
              <a:t>simple</a:t>
            </a:r>
          </a:p>
          <a:p>
            <a:pPr marL="457200" indent="-457200" rtl="0">
              <a:buFont typeface="+mj-lt"/>
              <a:buAutoNum type="alphaUcPeriod"/>
            </a:pPr>
            <a:r>
              <a:rPr lang="fr-FR" dirty="0">
                <a:solidFill>
                  <a:srgbClr val="009242"/>
                </a:solidFill>
              </a:rPr>
              <a:t>indépendant de la plateforme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5821D0-2910-C528-1830-F2314C12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7284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6253" y="469352"/>
            <a:ext cx="7303626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dirty="0">
                <a:sym typeface="Times New Roman"/>
              </a:rPr>
              <a:t>Historique des architectures des systèmes basés sur le Web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4876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Couches pour le contenu Web statique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34</a:t>
            </a:fld>
            <a:endParaRPr lang="fr-FR" dirty="0">
              <a:latin typeface="+mn-lt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4034D5DC-4CB9-A0F6-FED7-19D3C6A58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28248" y="3501008"/>
            <a:ext cx="227330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CE2EC56-A723-8414-FD6C-80B550A524AA}"/>
              </a:ext>
            </a:extLst>
          </p:cNvPr>
          <p:cNvCxnSpPr/>
          <p:nvPr/>
        </p:nvCxnSpPr>
        <p:spPr>
          <a:xfrm>
            <a:off x="6096000" y="4293096"/>
            <a:ext cx="2232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arenthèse ouvrante 5">
            <a:extLst>
              <a:ext uri="{FF2B5EF4-FFF2-40B4-BE49-F238E27FC236}">
                <a16:creationId xmlns:a16="http://schemas.microsoft.com/office/drawing/2014/main" id="{F89C5AA9-5910-2492-B0AD-4A045846BFFE}"/>
              </a:ext>
            </a:extLst>
          </p:cNvPr>
          <p:cNvSpPr/>
          <p:nvPr/>
        </p:nvSpPr>
        <p:spPr>
          <a:xfrm rot="5400000" flipH="1">
            <a:off x="8905072" y="3501767"/>
            <a:ext cx="216023" cy="3094825"/>
          </a:xfrm>
          <a:prstGeom prst="leftBracket">
            <a:avLst>
              <a:gd name="adj" fmla="val 131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7EB17C-C12C-B683-D61E-D2B632ACB5DA}"/>
              </a:ext>
            </a:extLst>
          </p:cNvPr>
          <p:cNvSpPr txBox="1"/>
          <p:nvPr/>
        </p:nvSpPr>
        <p:spPr>
          <a:xfrm>
            <a:off x="8616280" y="530120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Niveau  Données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484C3C4-C214-E1F0-1DF6-FF752A0F1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08015" y="3922427"/>
            <a:ext cx="812715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B2A62256-D4CB-6574-34F6-63B9250B1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08015" y="3258033"/>
            <a:ext cx="86042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5DC0A4EB-7926-A2B0-13A4-3D65239A1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20383" y="3058331"/>
            <a:ext cx="1368152" cy="184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3DA8B8E-519A-25CC-CDEE-915955D5F7D2}"/>
              </a:ext>
            </a:extLst>
          </p:cNvPr>
          <p:cNvCxnSpPr/>
          <p:nvPr/>
        </p:nvCxnSpPr>
        <p:spPr>
          <a:xfrm>
            <a:off x="2716127" y="4282467"/>
            <a:ext cx="24482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renthèse ouvrante 13">
            <a:extLst>
              <a:ext uri="{FF2B5EF4-FFF2-40B4-BE49-F238E27FC236}">
                <a16:creationId xmlns:a16="http://schemas.microsoft.com/office/drawing/2014/main" id="{13522EB4-E612-F6A2-72C5-3E13DAA1606C}"/>
              </a:ext>
            </a:extLst>
          </p:cNvPr>
          <p:cNvSpPr/>
          <p:nvPr/>
        </p:nvSpPr>
        <p:spPr>
          <a:xfrm rot="5400000" flipH="1">
            <a:off x="4056111" y="2558806"/>
            <a:ext cx="239660" cy="4935853"/>
          </a:xfrm>
          <a:prstGeom prst="leftBracket">
            <a:avLst>
              <a:gd name="adj" fmla="val 131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14F3FA-7DA6-8663-68AF-CEB2B87964A1}"/>
              </a:ext>
            </a:extLst>
          </p:cNvPr>
          <p:cNvSpPr txBox="1"/>
          <p:nvPr/>
        </p:nvSpPr>
        <p:spPr>
          <a:xfrm>
            <a:off x="2788135" y="5290579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Niveau Présentation</a:t>
            </a:r>
          </a:p>
        </p:txBody>
      </p:sp>
    </p:spTree>
    <p:extLst>
      <p:ext uri="{BB962C8B-B14F-4D97-AF65-F5344CB8AC3E}">
        <p14:creationId xmlns:p14="http://schemas.microsoft.com/office/powerpoint/2010/main" val="601318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Couches pour le contenu Web dynamique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35560" y="5670540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35</a:t>
            </a:fld>
            <a:endParaRPr lang="fr-FR" dirty="0">
              <a:latin typeface="+mn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575DE3-9DFB-1C71-CCC7-049BCCF66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3512" y="3933056"/>
            <a:ext cx="812715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8B7925-A4CA-9A18-4CE1-C29BB3E6D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03512" y="3284984"/>
            <a:ext cx="860425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E17A9-05ED-21B0-4DD8-69BCC0E9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91744" y="3068960"/>
            <a:ext cx="1368152" cy="184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E3205F9-28E5-51A9-8A01-45DAAFB3D608}"/>
              </a:ext>
            </a:extLst>
          </p:cNvPr>
          <p:cNvCxnSpPr/>
          <p:nvPr/>
        </p:nvCxnSpPr>
        <p:spPr>
          <a:xfrm>
            <a:off x="2711624" y="4293096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8F6E098-423E-E6B7-1322-73FD3950359C}"/>
              </a:ext>
            </a:extLst>
          </p:cNvPr>
          <p:cNvCxnSpPr/>
          <p:nvPr/>
        </p:nvCxnSpPr>
        <p:spPr>
          <a:xfrm>
            <a:off x="7608168" y="4293096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renthèse ouvrante 8">
            <a:extLst>
              <a:ext uri="{FF2B5EF4-FFF2-40B4-BE49-F238E27FC236}">
                <a16:creationId xmlns:a16="http://schemas.microsoft.com/office/drawing/2014/main" id="{64288920-0708-56B8-8619-BCC3A263E563}"/>
              </a:ext>
            </a:extLst>
          </p:cNvPr>
          <p:cNvSpPr/>
          <p:nvPr/>
        </p:nvSpPr>
        <p:spPr>
          <a:xfrm rot="5400000" flipH="1">
            <a:off x="3071664" y="3573016"/>
            <a:ext cx="216024" cy="2952328"/>
          </a:xfrm>
          <a:prstGeom prst="leftBracket">
            <a:avLst>
              <a:gd name="adj" fmla="val 131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Parenthèse ouvrante 9">
            <a:extLst>
              <a:ext uri="{FF2B5EF4-FFF2-40B4-BE49-F238E27FC236}">
                <a16:creationId xmlns:a16="http://schemas.microsoft.com/office/drawing/2014/main" id="{22A002FB-0BE0-BF21-FA0D-755A6B0B2176}"/>
              </a:ext>
            </a:extLst>
          </p:cNvPr>
          <p:cNvSpPr/>
          <p:nvPr/>
        </p:nvSpPr>
        <p:spPr>
          <a:xfrm rot="5400000" flipH="1">
            <a:off x="9732404" y="4329100"/>
            <a:ext cx="216024" cy="1296144"/>
          </a:xfrm>
          <a:prstGeom prst="leftBracket">
            <a:avLst>
              <a:gd name="adj" fmla="val 131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3AE0F8-4B48-88CD-5834-E42BA59F210E}"/>
              </a:ext>
            </a:extLst>
          </p:cNvPr>
          <p:cNvSpPr txBox="1"/>
          <p:nvPr/>
        </p:nvSpPr>
        <p:spPr>
          <a:xfrm>
            <a:off x="2135560" y="530120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Niveau Présentation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D50AB65-D168-6E50-FD56-5E3A8C7F7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879976" y="3284984"/>
            <a:ext cx="1872208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DBBD59A3-AC99-BC50-8EC8-5FC9ED018045}"/>
              </a:ext>
            </a:extLst>
          </p:cNvPr>
          <p:cNvCxnSpPr/>
          <p:nvPr/>
        </p:nvCxnSpPr>
        <p:spPr>
          <a:xfrm>
            <a:off x="5087888" y="4293096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>
            <a:extLst>
              <a:ext uri="{FF2B5EF4-FFF2-40B4-BE49-F238E27FC236}">
                <a16:creationId xmlns:a16="http://schemas.microsoft.com/office/drawing/2014/main" id="{B5412900-E985-F574-4D05-DB31E2E0A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192344" y="3212976"/>
            <a:ext cx="1224136" cy="153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Parenthèse ouvrante 15">
            <a:extLst>
              <a:ext uri="{FF2B5EF4-FFF2-40B4-BE49-F238E27FC236}">
                <a16:creationId xmlns:a16="http://schemas.microsoft.com/office/drawing/2014/main" id="{E70C9E90-0CEA-79EB-081E-A2DBF5D6C760}"/>
              </a:ext>
            </a:extLst>
          </p:cNvPr>
          <p:cNvSpPr/>
          <p:nvPr/>
        </p:nvSpPr>
        <p:spPr>
          <a:xfrm rot="5400000" flipH="1">
            <a:off x="6816080" y="4221088"/>
            <a:ext cx="216024" cy="1512168"/>
          </a:xfrm>
          <a:prstGeom prst="leftBracket">
            <a:avLst>
              <a:gd name="adj" fmla="val 131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56FD533-459D-7C53-23B5-51750BE0DA5E}"/>
              </a:ext>
            </a:extLst>
          </p:cNvPr>
          <p:cNvSpPr txBox="1"/>
          <p:nvPr/>
        </p:nvSpPr>
        <p:spPr>
          <a:xfrm>
            <a:off x="6096000" y="5229200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Niveau Application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6EBF6F0-499E-3361-6D7D-622FD347B12D}"/>
              </a:ext>
            </a:extLst>
          </p:cNvPr>
          <p:cNvSpPr txBox="1"/>
          <p:nvPr/>
        </p:nvSpPr>
        <p:spPr>
          <a:xfrm>
            <a:off x="9106201" y="5183409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2060"/>
                </a:solidFill>
              </a:rPr>
              <a:t>Niveau  Données</a:t>
            </a:r>
          </a:p>
        </p:txBody>
      </p:sp>
    </p:spTree>
    <p:extLst>
      <p:ext uri="{BB962C8B-B14F-4D97-AF65-F5344CB8AC3E}">
        <p14:creationId xmlns:p14="http://schemas.microsoft.com/office/powerpoint/2010/main" val="4274734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Couches </a:t>
            </a:r>
            <a:r>
              <a:rPr lang="fr-FR" dirty="0"/>
              <a:t>de vue de Services</a:t>
            </a:r>
            <a:endParaRPr lang="fr-FR" dirty="0">
              <a:sym typeface="Times New Roman"/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36</a:t>
            </a:fld>
            <a:endParaRPr lang="fr-FR" dirty="0">
              <a:latin typeface="+mn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2E1679C-1253-04C4-345B-4B4980868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2308" y="3081843"/>
            <a:ext cx="1498974" cy="101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16DDA6-ADA9-9254-7B11-E3CA9BAC3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48328" y="2996952"/>
            <a:ext cx="1022702" cy="128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251679D-9E15-8E04-56C2-E2FBB19448B5}"/>
              </a:ext>
            </a:extLst>
          </p:cNvPr>
          <p:cNvCxnSpPr/>
          <p:nvPr/>
        </p:nvCxnSpPr>
        <p:spPr>
          <a:xfrm>
            <a:off x="6960096" y="5445224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7">
            <a:extLst>
              <a:ext uri="{FF2B5EF4-FFF2-40B4-BE49-F238E27FC236}">
                <a16:creationId xmlns:a16="http://schemas.microsoft.com/office/drawing/2014/main" id="{14514637-E3C0-86B2-8985-C5CCA9165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0248" y="1702436"/>
            <a:ext cx="993903" cy="937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3640632F-8F43-C409-318F-9DE016B31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84032" y="5733256"/>
            <a:ext cx="1080120" cy="101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DDE3CAC-EE21-A502-F414-02BEC73A9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820171" y="3491794"/>
            <a:ext cx="668699" cy="651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8FB505FE-DFD1-BEDD-7BA8-5BFF4B572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20171" y="3063402"/>
            <a:ext cx="716409" cy="26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FFA091C0-11D7-EB8E-10AA-0FBBC6339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36395" y="2847378"/>
            <a:ext cx="1048388" cy="1416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7D504C4-8643-2438-F0D6-1B97BF2E6783}"/>
              </a:ext>
            </a:extLst>
          </p:cNvPr>
          <p:cNvCxnSpPr/>
          <p:nvPr/>
        </p:nvCxnSpPr>
        <p:spPr>
          <a:xfrm>
            <a:off x="2684267" y="3711474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F9FE4FF6-103E-993D-73E1-6129E637674A}"/>
              </a:ext>
            </a:extLst>
          </p:cNvPr>
          <p:cNvCxnSpPr/>
          <p:nvPr/>
        </p:nvCxnSpPr>
        <p:spPr>
          <a:xfrm>
            <a:off x="7731282" y="3711474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CE2E168D-476C-A26C-6CC4-9952ACDC7F83}"/>
              </a:ext>
            </a:extLst>
          </p:cNvPr>
          <p:cNvCxnSpPr/>
          <p:nvPr/>
        </p:nvCxnSpPr>
        <p:spPr>
          <a:xfrm>
            <a:off x="4803328" y="3711474"/>
            <a:ext cx="12241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C7433F8-1483-34D9-76A6-CFD6532938FD}"/>
              </a:ext>
            </a:extLst>
          </p:cNvPr>
          <p:cNvCxnSpPr/>
          <p:nvPr/>
        </p:nvCxnSpPr>
        <p:spPr>
          <a:xfrm>
            <a:off x="6932739" y="2640748"/>
            <a:ext cx="0" cy="42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8047D0-650F-077A-8C86-EEAA3701D8FD}"/>
              </a:ext>
            </a:extLst>
          </p:cNvPr>
          <p:cNvCxnSpPr/>
          <p:nvPr/>
        </p:nvCxnSpPr>
        <p:spPr>
          <a:xfrm>
            <a:off x="6932739" y="4111355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7">
            <a:extLst>
              <a:ext uri="{FF2B5EF4-FFF2-40B4-BE49-F238E27FC236}">
                <a16:creationId xmlns:a16="http://schemas.microsoft.com/office/drawing/2014/main" id="{5FDB6B97-29F9-1C56-3080-D86D96B9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56675" y="4421016"/>
            <a:ext cx="1080120" cy="101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1031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91E3-BB2C-1484-48D6-696AC12A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B04E33C-3294-75C8-7A8B-C55AD81F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Evolution de l'architecture logicielle 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4C541ED7-8912-C43D-18C4-249EF64CB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B7430963-87D9-0E3F-71CF-80D82528D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5E3BEBD0-07B4-1AB6-E7F3-0E0C0AEAE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1F43D53C-E49D-E1A2-AAB2-CA6A27BBE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FB5C6C50-F5B2-7F48-86CE-449D988CD136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E8943A7-7001-0AC9-FC7F-63CAC0ED3D8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37</a:t>
            </a:fld>
            <a:endParaRPr lang="fr-FR" dirty="0">
              <a:latin typeface="+mn-lt"/>
            </a:endParaRPr>
          </a:p>
        </p:txBody>
      </p:sp>
      <p:pic>
        <p:nvPicPr>
          <p:cNvPr id="23" name="Image 22" descr="Une image contenant texte, capture d’écran, diagramme">
            <a:extLst>
              <a:ext uri="{FF2B5EF4-FFF2-40B4-BE49-F238E27FC236}">
                <a16:creationId xmlns:a16="http://schemas.microsoft.com/office/drawing/2014/main" id="{81DDBF0E-E06A-A177-C5ED-01EB545A2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353" y="1945077"/>
            <a:ext cx="8069100" cy="481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8608" y="469352"/>
            <a:ext cx="5660021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>
              <a:lnSpc>
                <a:spcPct val="100000"/>
              </a:lnSpc>
            </a:pPr>
            <a:r>
              <a:rPr lang="fr-FR" dirty="0">
                <a:sym typeface="Times New Roman"/>
              </a:rPr>
              <a:t>Introduction à l’architecture SOA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45987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Présentation de SOA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Constitue un 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style d’architecture 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basée  sur le principe de séparation de l’activité métier en 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une série de  services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Ces services peuvent être assemblés et liés entre eux selon le principe  </a:t>
            </a:r>
            <a:r>
              <a:rPr lang="fr-FR" sz="2400" b="1" dirty="0">
                <a:solidFill>
                  <a:schemeClr val="accent2">
                    <a:lumMod val="50000"/>
                  </a:schemeClr>
                </a:solidFill>
                <a:ea typeface="Times New Roman"/>
                <a:cs typeface="Times New Roman"/>
                <a:sym typeface="Times New Roman"/>
              </a:rPr>
              <a:t>de couplage lâche</a:t>
            </a:r>
            <a:r>
              <a:rPr lang="fr-FR" sz="24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pour exécuter l’application désirée. 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  <a:p>
            <a:pPr marL="139700"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tabLst/>
              <a:defRPr/>
            </a:pPr>
            <a:r>
              <a:rPr lang="fr-FR" sz="2400" b="1" dirty="0">
                <a:solidFill>
                  <a:srgbClr val="000000"/>
                </a:solidFill>
                <a:latin typeface="Franklin Gothic Book"/>
                <a:ea typeface="Times New Roman"/>
                <a:cs typeface="Times New Roman"/>
                <a:sym typeface="Wingdings" panose="05000000000000000000" pitchFamily="2" charset="2"/>
              </a:rPr>
              <a:t> </a:t>
            </a:r>
            <a:r>
              <a:rPr lang="fr-FR" sz="2400" b="1" dirty="0">
                <a:solidFill>
                  <a:srgbClr val="000000"/>
                </a:solidFill>
                <a:latin typeface="Franklin Gothic Book"/>
                <a:ea typeface="Times New Roman"/>
                <a:cs typeface="Times New Roman"/>
                <a:sym typeface="Times New Roman"/>
              </a:rPr>
              <a:t>C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Times New Roman"/>
                <a:cs typeface="Times New Roman"/>
                <a:sym typeface="Times New Roman"/>
              </a:rPr>
              <a:t>oncerne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/>
                <a:ea typeface="Times New Roman"/>
                <a:cs typeface="Times New Roman"/>
                <a:sym typeface="Times New Roman"/>
              </a:rPr>
              <a:t> la manière de créer, d'utiliser et de combiner des services.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/>
              <a:ea typeface="Times New Roman"/>
              <a:cs typeface="Times New Roman"/>
              <a:sym typeface="Times New Roman"/>
            </a:endParaRP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sz="2400" dirty="0">
              <a:solidFill>
                <a:schemeClr val="bg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39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90122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Eléments de SOA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accent3"/>
                </a:solidFill>
                <a:ea typeface="Times New Roman"/>
                <a:cs typeface="Times New Roman"/>
                <a:sym typeface="Times New Roman"/>
              </a:rPr>
              <a:t>Le fournisseur de service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crée le service Web, puis publie son interface ainsi que les informations d'accès au service, dans un registre de services Web.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accent3"/>
                </a:solidFill>
                <a:ea typeface="Times New Roman"/>
                <a:cs typeface="Times New Roman"/>
                <a:sym typeface="Times New Roman"/>
              </a:rPr>
              <a:t>Le consommateur de service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accède au registre de service pour effectuer une recherche afin de trouver les services désirés. Ensuite, il se lie au fournisseur pour invoquer le service.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accent3"/>
                </a:solidFill>
                <a:ea typeface="Times New Roman"/>
                <a:cs typeface="Times New Roman"/>
                <a:sym typeface="Times New Roman"/>
              </a:rPr>
              <a:t>Le registre de service 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définit comme un répertoire centralisé où les services sont enregistrés, décrits et rendus disponibles pour découverte et utilisation par d'autres services et applications.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40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11641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Architecture SOA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41</a:t>
            </a:fld>
            <a:endParaRPr lang="fr-FR" dirty="0">
              <a:latin typeface="+mn-l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6EB0E90-C37B-984E-B5FD-4AAA7B5FCF45}"/>
              </a:ext>
            </a:extLst>
          </p:cNvPr>
          <p:cNvSpPr/>
          <p:nvPr/>
        </p:nvSpPr>
        <p:spPr>
          <a:xfrm>
            <a:off x="2604304" y="2422341"/>
            <a:ext cx="8836016" cy="39098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05524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Enregistrement des Services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4370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Tout nouveau service créé est enregistré dans le registre avec son contrat et métadonnée.</a:t>
            </a:r>
            <a:endParaRPr lang="fr-FR" sz="2000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Char char="❏"/>
            </a:pP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Contrat du service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: définit les interfaces des services, les opérations disponibles, les paramètres d'entrée et de sortie, et les protocoles de communication. </a:t>
            </a:r>
          </a:p>
          <a:p>
            <a:pPr marL="596900" lvl="1" algn="just">
              <a:buSzPts val="1400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- Exemple:  WSDL pour les services SOAP ou </a:t>
            </a:r>
            <a:r>
              <a:rPr lang="fr-FR" sz="20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OpenAPI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/</a:t>
            </a:r>
            <a:r>
              <a:rPr lang="fr-FR" sz="20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Swagger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pour les services REST.</a:t>
            </a:r>
          </a:p>
          <a:p>
            <a:pPr marL="596900" lvl="1" algn="just">
              <a:buSzPts val="1400"/>
            </a:pPr>
            <a:endParaRPr lang="fr-FR" sz="2000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Char char="❏"/>
            </a:pP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Métadonnées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du service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: Incluent des informations supplémentaires sur le service, telles que le propriétaire du service, nom, description, protocoles, </a:t>
            </a:r>
            <a:r>
              <a:rPr lang="fr-FR" sz="20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endpoint</a:t>
            </a: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. Ainsi que les politiques de sécurité, les versions, et les informations de déploiement.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42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2428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Découverte des Services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227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Les consommateurs de services peuvent interroger le registre pour découvrir quels services sont disponibles et obtenir les informations nécessaires pour les utiliser.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Char char="❏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Recherche des services en fonction de divers critères, tels que le nom du service, les capacités, les versions, ou les mots-clés.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43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16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Gestion des Versions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413368"/>
            <a:ext cx="9230167" cy="283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Le registre de services gère les différentes versions des services pour assurer la compatibilité et faciliter les mises à jour.</a:t>
            </a:r>
          </a:p>
          <a:p>
            <a:pPr marL="139700" lvl="0" algn="just" rtl="0">
              <a:spcBef>
                <a:spcPts val="0"/>
              </a:spcBef>
              <a:spcAft>
                <a:spcPts val="0"/>
              </a:spcAft>
              <a:buSzPts val="1400"/>
            </a:pPr>
            <a:endParaRPr lang="fr-FR" sz="2400" b="1" dirty="0">
              <a:solidFill>
                <a:schemeClr val="bg1"/>
              </a:solidFill>
              <a:ea typeface="Times New Roman"/>
              <a:cs typeface="Times New Roman"/>
              <a:sym typeface="Times New Roman"/>
            </a:endParaRPr>
          </a:p>
          <a:p>
            <a:pPr marL="914400" lvl="1" indent="-317500" algn="just">
              <a:buSzPts val="1400"/>
              <a:buChar char="❏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Permet de maintenir plusieurs versions d'un même service pour que les services des clients continuent à fonctionner même si le service est mis à jour ou modifié. 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La gestion des versions permet d'assurer que les changements n'interrompent pas les opérations des clients existants.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44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25072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>
              <a:lnSpc>
                <a:spcPct val="107916"/>
              </a:lnSpc>
              <a:spcBef>
                <a:spcPts val="0"/>
              </a:spcBef>
            </a:pPr>
            <a:r>
              <a:rPr lang="fr-FR" dirty="0">
                <a:sym typeface="Times New Roman"/>
              </a:rPr>
              <a:t>Architecture SOA ou micro-services ?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Google Shape;96;g25b1bb62912_0_14">
            <a:extLst>
              <a:ext uri="{FF2B5EF4-FFF2-40B4-BE49-F238E27FC236}">
                <a16:creationId xmlns:a16="http://schemas.microsoft.com/office/drawing/2014/main" id="{0C99311C-DB02-DC45-982D-6034FB559DFD}"/>
              </a:ext>
            </a:extLst>
          </p:cNvPr>
          <p:cNvSpPr txBox="1"/>
          <p:nvPr/>
        </p:nvSpPr>
        <p:spPr>
          <a:xfrm>
            <a:off x="2115606" y="5745238"/>
            <a:ext cx="8069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1800" dirty="0">
                <a:latin typeface="Times New Roman"/>
                <a:ea typeface="Times New Roman"/>
                <a:cs typeface="Times New Roman"/>
                <a:sym typeface="Times New Roman"/>
              </a:rPr>
              <a:t>Le Web est désormais indispensable pour accéder à l'information, établir des communications et interagir avec divers services en ligne à l'échelle mondiale.</a:t>
            </a:r>
            <a:endParaRPr dirty="0"/>
          </a:p>
        </p:txBody>
      </p:sp>
      <p:sp>
        <p:nvSpPr>
          <p:cNvPr id="2" name="Google Shape;94;g25b1bb62912_0_14">
            <a:extLst>
              <a:ext uri="{FF2B5EF4-FFF2-40B4-BE49-F238E27FC236}">
                <a16:creationId xmlns:a16="http://schemas.microsoft.com/office/drawing/2014/main" id="{E15B2BFA-7A8B-CEEB-EC12-FDE8DA72E0CB}"/>
              </a:ext>
            </a:extLst>
          </p:cNvPr>
          <p:cNvSpPr txBox="1"/>
          <p:nvPr/>
        </p:nvSpPr>
        <p:spPr>
          <a:xfrm>
            <a:off x="1418542" y="2251318"/>
            <a:ext cx="10179098" cy="4678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accent3"/>
                </a:solidFill>
                <a:ea typeface="Times New Roman"/>
                <a:cs typeface="Times New Roman"/>
                <a:sym typeface="Times New Roman"/>
              </a:rPr>
              <a:t>L'architecture SOA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Permet une interopérabilité transparente entre les différents services.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Un service web est une application monolithique :</a:t>
            </a:r>
          </a:p>
          <a:p>
            <a:pPr marL="1397000" lvl="2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développée en un seul bloc;</a:t>
            </a:r>
          </a:p>
          <a:p>
            <a:pPr marL="1397000" lvl="2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déployée d’une manière unitaire dans un serveur d’application.</a:t>
            </a: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fr-FR" sz="2400" b="1" dirty="0">
                <a:solidFill>
                  <a:schemeClr val="accent3"/>
                </a:solidFill>
                <a:ea typeface="Times New Roman"/>
                <a:cs typeface="Times New Roman"/>
                <a:sym typeface="Times New Roman"/>
              </a:rPr>
              <a:t>L’architecture micro-services</a:t>
            </a:r>
            <a:r>
              <a:rPr lang="fr-FR" sz="24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est un modèle d’architecture lié à une application,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Se compose d’un ensemble de petits services </a:t>
            </a:r>
            <a:r>
              <a:rPr lang="fr-FR" sz="2300" dirty="0">
                <a:solidFill>
                  <a:schemeClr val="accent5"/>
                </a:solidFill>
                <a:ea typeface="Times New Roman"/>
                <a:cs typeface="Times New Roman"/>
                <a:sym typeface="Times New Roman"/>
              </a:rPr>
              <a:t>différents</a:t>
            </a: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et </a:t>
            </a:r>
            <a:r>
              <a:rPr lang="fr-FR" sz="2300" dirty="0">
                <a:solidFill>
                  <a:schemeClr val="accent5"/>
                </a:solidFill>
                <a:ea typeface="Times New Roman"/>
                <a:cs typeface="Times New Roman"/>
                <a:sym typeface="Times New Roman"/>
              </a:rPr>
              <a:t>indépendants</a:t>
            </a: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 (langages, architecture, </a:t>
            </a:r>
            <a:r>
              <a:rPr lang="fr-FR" sz="2300" dirty="0" err="1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etc</a:t>
            </a: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).</a:t>
            </a:r>
          </a:p>
          <a:p>
            <a:pPr marL="914400" lvl="1" indent="-317500" algn="just">
              <a:buSzPts val="1400"/>
              <a:buChar char="❏"/>
            </a:pPr>
            <a:r>
              <a:rPr lang="fr-FR" sz="23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Chaque micro-service:</a:t>
            </a:r>
          </a:p>
          <a:p>
            <a:pPr marL="1397000" lvl="2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est géré par une équipe;</a:t>
            </a:r>
          </a:p>
          <a:p>
            <a:pPr marL="1397000" lvl="2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est séparément déployé;</a:t>
            </a:r>
          </a:p>
          <a:p>
            <a:pPr marL="1397000" lvl="2" indent="-342900" algn="just">
              <a:buSzPts val="1400"/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chemeClr val="bg1"/>
                </a:solidFill>
                <a:ea typeface="Times New Roman"/>
                <a:cs typeface="Times New Roman"/>
                <a:sym typeface="Times New Roman"/>
              </a:rPr>
              <a:t>s’exécute dans un processus qui lui est propre.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2436220B-5AB2-0A60-57E8-B7FE4EEAA0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294A09A9-5501-47C1-A89A-A340965A2BE2}" type="slidenum">
              <a:rPr lang="fr-FR" smtClean="0"/>
              <a:pPr rtl="0"/>
              <a:t>45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7882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wiss">
    <a:dk1>
      <a:srgbClr val="000000"/>
    </a:dk1>
    <a:lt1>
      <a:srgbClr val="FFFFFF"/>
    </a:lt1>
    <a:dk2>
      <a:srgbClr val="E4E4E4"/>
    </a:dk2>
    <a:lt2>
      <a:srgbClr val="7CA655"/>
    </a:lt2>
    <a:accent1>
      <a:srgbClr val="A9D4DB"/>
    </a:accent1>
    <a:accent2>
      <a:srgbClr val="FBE284"/>
    </a:accent2>
    <a:accent3>
      <a:srgbClr val="4495A2"/>
    </a:accent3>
    <a:accent4>
      <a:srgbClr val="AA5881"/>
    </a:accent4>
    <a:accent5>
      <a:srgbClr val="E06742"/>
    </a:accent5>
    <a:accent6>
      <a:srgbClr val="F9D448"/>
    </a:accent6>
    <a:hlink>
      <a:srgbClr val="4495A2"/>
    </a:hlink>
    <a:folHlink>
      <a:srgbClr val="AA588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3369</TotalTime>
  <Words>3137</Words>
  <Application>Microsoft Office PowerPoint</Application>
  <PresentationFormat>Grand écran</PresentationFormat>
  <Paragraphs>404</Paragraphs>
  <Slides>46</Slides>
  <Notes>46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55" baseType="lpstr">
      <vt:lpstr>Arial</vt:lpstr>
      <vt:lpstr>Calibri</vt:lpstr>
      <vt:lpstr>Courier New</vt:lpstr>
      <vt:lpstr>Franklin Gothic Book</vt:lpstr>
      <vt:lpstr>Franklin Gothic Demi</vt:lpstr>
      <vt:lpstr>Open Sans</vt:lpstr>
      <vt:lpstr>Times New Roman</vt:lpstr>
      <vt:lpstr>Wingdings</vt:lpstr>
      <vt:lpstr>Personnalisé</vt:lpstr>
      <vt:lpstr>Formation SOA</vt:lpstr>
      <vt:lpstr>Programme</vt:lpstr>
      <vt:lpstr>Introduction </vt:lpstr>
      <vt:lpstr>Historique d’évolution du Web</vt:lpstr>
      <vt:lpstr>Applications Web VS Services Web</vt:lpstr>
      <vt:lpstr>Question</vt:lpstr>
      <vt:lpstr>Réponse</vt:lpstr>
      <vt:lpstr>Standars liées au Web</vt:lpstr>
      <vt:lpstr>Les Standards Fondamentaux du Web : Formats, Protocoles et Échanges</vt:lpstr>
      <vt:lpstr>Formats d'échange de données sur le Web</vt:lpstr>
      <vt:lpstr>Protocole de communication  TCP vs HTTP</vt:lpstr>
      <vt:lpstr>Protocole de communication  TCP vs HTTP</vt:lpstr>
      <vt:lpstr>HTTP: Méthodes </vt:lpstr>
      <vt:lpstr>HTTP: Méthodes </vt:lpstr>
      <vt:lpstr>HTTP: Structure de Requête </vt:lpstr>
      <vt:lpstr>HTTP: Structure de Réponse </vt:lpstr>
      <vt:lpstr>HTTP: Structure de Réponse </vt:lpstr>
      <vt:lpstr>URL vs URI</vt:lpstr>
      <vt:lpstr>Question</vt:lpstr>
      <vt:lpstr>Réponse</vt:lpstr>
      <vt:lpstr>Le terme Service ?</vt:lpstr>
      <vt:lpstr>Service</vt:lpstr>
      <vt:lpstr>Types de Service</vt:lpstr>
      <vt:lpstr>Les Services Web</vt:lpstr>
      <vt:lpstr>Définition</vt:lpstr>
      <vt:lpstr>Service Web vs API</vt:lpstr>
      <vt:lpstr>Service Web vs API</vt:lpstr>
      <vt:lpstr>Service Web vs API</vt:lpstr>
      <vt:lpstr>Service Web vs API</vt:lpstr>
      <vt:lpstr>Caractéristiques</vt:lpstr>
      <vt:lpstr>Question</vt:lpstr>
      <vt:lpstr>Réponse</vt:lpstr>
      <vt:lpstr>Historique des architectures des systèmes basés sur le Web </vt:lpstr>
      <vt:lpstr>Couches pour le contenu Web statique</vt:lpstr>
      <vt:lpstr>Couches pour le contenu Web dynamique</vt:lpstr>
      <vt:lpstr>Couches de vue de Services</vt:lpstr>
      <vt:lpstr>Evolution de l'architecture logicielle </vt:lpstr>
      <vt:lpstr>Introduction à l’architecture SOA</vt:lpstr>
      <vt:lpstr>Présentation de SOA</vt:lpstr>
      <vt:lpstr>Eléments de SOA</vt:lpstr>
      <vt:lpstr>Architecture SOA</vt:lpstr>
      <vt:lpstr>Enregistrement des Services</vt:lpstr>
      <vt:lpstr>Découverte des Services</vt:lpstr>
      <vt:lpstr>Gestion des Versions</vt:lpstr>
      <vt:lpstr>Architecture SOA ou micro-services ?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ElMejid</dc:creator>
  <cp:lastModifiedBy>elmejid ines</cp:lastModifiedBy>
  <cp:revision>68</cp:revision>
  <dcterms:created xsi:type="dcterms:W3CDTF">2024-07-15T09:42:38Z</dcterms:created>
  <dcterms:modified xsi:type="dcterms:W3CDTF">2025-12-22T01:43:48Z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