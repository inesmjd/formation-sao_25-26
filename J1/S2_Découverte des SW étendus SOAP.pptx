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419" r:id="rId5"/>
    <p:sldId id="466" r:id="rId6"/>
    <p:sldId id="383" r:id="rId7"/>
    <p:sldId id="468" r:id="rId8"/>
    <p:sldId id="465" r:id="rId9"/>
    <p:sldId id="467" r:id="rId10"/>
    <p:sldId id="469" r:id="rId11"/>
    <p:sldId id="471" r:id="rId12"/>
    <p:sldId id="472" r:id="rId13"/>
    <p:sldId id="473" r:id="rId14"/>
    <p:sldId id="474" r:id="rId15"/>
    <p:sldId id="470" r:id="rId16"/>
    <p:sldId id="398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42"/>
    <a:srgbClr val="004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201" autoAdjust="0"/>
  </p:normalViewPr>
  <p:slideViewPr>
    <p:cSldViewPr snapToGrid="0">
      <p:cViewPr varScale="1">
        <p:scale>
          <a:sx n="79" d="100"/>
          <a:sy n="79" d="100"/>
        </p:scale>
        <p:origin x="93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22/12/2025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22/12/2025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986F5E-69EC-4C9A-CFA1-C656469FE1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0003129-35D2-628B-DC52-4A889998E98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0725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7A7E5-8435-D2E7-0A5D-C263ACD53A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05E5184-0116-7CA9-BC58-9141BF0960A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468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7E3588-AF02-08DE-9FFA-8F0A40F054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4210E42-936C-F24F-91ED-0469716833B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8271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2957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134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1832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8B68B-1721-B597-2728-A928DF9A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6263ECE-E1F0-F37A-6623-20A008804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C212869-23E6-319D-6E0E-94BDB2089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A09BEB-F5E6-36CC-E5F2-AD5B12BD3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AEF322-1186-1B1E-873C-8C0CB26221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0D0AC1A-0450-399B-5953-ABADBD35ABB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256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BDDA2-3829-37DE-E03B-3106F4F0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F581CC5-D4A3-667A-377D-90AB962F9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860F2EC-2F2B-8087-A627-63907EF00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4B8EDE-205A-201C-9FC6-B2FD539CA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9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B0ACA9-D602-C007-2BE7-CCD249149B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C5F44551-577D-69C1-82AE-7243EE0EDED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5664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9232F-5A0E-0826-0C4D-A1A6CBFEB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3C3BF54-4CB1-748A-7546-0829B1FBB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CF7F924-1770-6D43-E536-E0119CBFA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D69869-F433-7CFE-2A4A-55FC66F96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10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426B65-66BE-ADA6-4874-85C45C814C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22A33516-747B-1795-706F-C88B0D56CB6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7578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9A60-1D1A-09D1-FC73-FE0324DA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CCF0EBF-8F5C-DF2B-C7B1-822A7E934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11252FC-206C-86ED-ECB4-B89EF556E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873E5F-9951-1B83-8E98-DC1C21910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4E050A-7D63-03A9-2A6B-8C5F8AAE02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A4C56598-1F6C-484F-3E9F-C5A37491746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5899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9EAB2-BACD-EAD2-EE97-5D0776042A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FF5D407-07AA-27D9-5F45-2D36A56434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7272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8F6012-959C-7A28-55D5-D8CA104CED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6F454132-0F65-3A63-3CE4-0DED21AF1B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neonline.com/calculator.asmx?wsd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F10A6BB3-71E6-7D42-5691-9A3F034A10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Formation SOA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450850" rtl="0"/>
            <a:r>
              <a:rPr lang="fr-FR" dirty="0"/>
              <a:t>Présentée par Ines ElMejid</a:t>
            </a:r>
          </a:p>
          <a:p>
            <a:pPr marL="450850" rtl="0"/>
            <a:r>
              <a:rPr lang="fr-FR" dirty="0"/>
              <a:t>UP-WEB</a:t>
            </a:r>
          </a:p>
        </p:txBody>
      </p:sp>
      <p:pic>
        <p:nvPicPr>
          <p:cNvPr id="10" name="Espace réservé pour une image  5" descr="Une image contenant texte, cercle, logo, clipart&#10;&#10;Description générée automatiquement">
            <a:extLst>
              <a:ext uri="{FF2B5EF4-FFF2-40B4-BE49-F238E27FC236}">
                <a16:creationId xmlns:a16="http://schemas.microsoft.com/office/drawing/2014/main" id="{9D5B1772-32B8-5377-1D06-B898C7F6F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11" y="1630265"/>
            <a:ext cx="3729580" cy="35974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140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8608" y="469352"/>
            <a:ext cx="5660021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lnSpc>
                <a:spcPct val="100000"/>
              </a:lnSpc>
            </a:pPr>
            <a:r>
              <a:rPr lang="fr-FR" sz="6000" dirty="0"/>
              <a:t>Découverte des services web étendus SOAP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984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Programme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5980" y="2192681"/>
            <a:ext cx="6169933" cy="4387190"/>
          </a:xfrm>
        </p:spPr>
        <p:txBody>
          <a:bodyPr tIns="457200"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sz="2300" dirty="0"/>
              <a:t>Principe de fonctionnement des services web étendus SOAP </a:t>
            </a:r>
          </a:p>
          <a:p>
            <a:pPr marL="0" indent="0" rtl="0">
              <a:buNone/>
            </a:pPr>
            <a:endParaRPr lang="fr-FR" sz="2300" dirty="0"/>
          </a:p>
          <a:p>
            <a:r>
              <a:rPr lang="fr-FR" sz="2300" dirty="0"/>
              <a:t>Présenter le contrat standardisé WSDL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DC095E-5327-99BA-25AA-1B72B85B980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Les standards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418542" y="2413368"/>
            <a:ext cx="923016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Afin de mettre en œuvre un service web étendu, trois composants sont nécessaires :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endParaRPr lang="fr-FR" sz="2400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 langage de description de services </a:t>
            </a:r>
            <a:r>
              <a:rPr lang="fr-FR" sz="2400" b="1" dirty="0">
                <a:solidFill>
                  <a:schemeClr val="accent5"/>
                </a:solidFill>
                <a:ea typeface="Times New Roman"/>
                <a:cs typeface="Times New Roman"/>
                <a:sym typeface="Times New Roman"/>
              </a:rPr>
              <a:t>WSDL 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(Web Service Description Langage)</a:t>
            </a:r>
          </a:p>
          <a:p>
            <a:pPr marL="914400" lvl="1" indent="-317500" algn="just"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 protocole de communication </a:t>
            </a:r>
            <a:r>
              <a:rPr lang="fr-FR" sz="2400" b="1" dirty="0">
                <a:solidFill>
                  <a:schemeClr val="accent5"/>
                </a:solidFill>
                <a:ea typeface="Times New Roman"/>
                <a:cs typeface="Times New Roman"/>
                <a:sym typeface="Times New Roman"/>
              </a:rPr>
              <a:t>SOAP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(Simple Object </a:t>
            </a:r>
            <a:r>
              <a:rPr lang="fr-FR" sz="2400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Acces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Protocol)</a:t>
            </a:r>
          </a:p>
          <a:p>
            <a:pPr marL="914400" lvl="1" indent="-317500" algn="just"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 annuaire </a:t>
            </a:r>
            <a:r>
              <a:rPr lang="fr-FR" sz="2400" dirty="0">
                <a:solidFill>
                  <a:schemeClr val="accent5"/>
                </a:solidFill>
                <a:ea typeface="Times New Roman"/>
                <a:cs typeface="Times New Roman"/>
                <a:sym typeface="Times New Roman"/>
              </a:rPr>
              <a:t>UDDI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(Universal Description, Discovery and </a:t>
            </a:r>
            <a:r>
              <a:rPr lang="fr-FR" sz="2400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Integration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)  pour le référencement du Web Service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023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400" dirty="0"/>
              <a:t>Fonctionnement 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5</a:t>
            </a:fld>
            <a:endParaRPr lang="fr-FR" dirty="0">
              <a:latin typeface="+mn-lt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2D454E2-671B-3C40-AF37-3AFDF5C42CA1}"/>
              </a:ext>
            </a:extLst>
          </p:cNvPr>
          <p:cNvSpPr/>
          <p:nvPr/>
        </p:nvSpPr>
        <p:spPr>
          <a:xfrm>
            <a:off x="4087742" y="2058109"/>
            <a:ext cx="3105149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srgbClr val="002060"/>
                </a:solidFill>
              </a:rPr>
              <a:t>Registre de Service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0E5C898-EEA4-42AC-C29B-FBBBDB6F084C}"/>
              </a:ext>
            </a:extLst>
          </p:cNvPr>
          <p:cNvSpPr/>
          <p:nvPr/>
        </p:nvSpPr>
        <p:spPr>
          <a:xfrm>
            <a:off x="765444" y="4917198"/>
            <a:ext cx="3129682" cy="12125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srgbClr val="002060"/>
                </a:solidFill>
              </a:rPr>
              <a:t>Consommateur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D1675E-2929-6D30-719F-A7C604BAE619}"/>
              </a:ext>
            </a:extLst>
          </p:cNvPr>
          <p:cNvSpPr/>
          <p:nvPr/>
        </p:nvSpPr>
        <p:spPr>
          <a:xfrm>
            <a:off x="8312609" y="4917198"/>
            <a:ext cx="3238925" cy="11166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2000" b="1" dirty="0">
                <a:solidFill>
                  <a:srgbClr val="002060"/>
                </a:solidFill>
              </a:rPr>
              <a:t>Fournisseur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AF124B76-BF2E-D815-4622-ACEA525790A7}"/>
              </a:ext>
            </a:extLst>
          </p:cNvPr>
          <p:cNvCxnSpPr/>
          <p:nvPr/>
        </p:nvCxnSpPr>
        <p:spPr>
          <a:xfrm flipV="1">
            <a:off x="1880059" y="2540710"/>
            <a:ext cx="2302933" cy="2376487"/>
          </a:xfrm>
          <a:prstGeom prst="straightConnector1">
            <a:avLst/>
          </a:prstGeom>
          <a:ln w="31750">
            <a:solidFill>
              <a:srgbClr val="00206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B6F31F8-6B56-B62A-67E1-90E3D2AC718D}"/>
              </a:ext>
            </a:extLst>
          </p:cNvPr>
          <p:cNvCxnSpPr/>
          <p:nvPr/>
        </p:nvCxnSpPr>
        <p:spPr>
          <a:xfrm>
            <a:off x="7449009" y="2540710"/>
            <a:ext cx="2783417" cy="2376487"/>
          </a:xfrm>
          <a:prstGeom prst="straightConnector1">
            <a:avLst/>
          </a:prstGeom>
          <a:ln w="31750">
            <a:solidFill>
              <a:srgbClr val="00206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208E6EE-6FDF-518E-91F9-02C3616859BD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3895126" y="5475546"/>
            <a:ext cx="4417483" cy="47918"/>
          </a:xfrm>
          <a:prstGeom prst="straightConnector1">
            <a:avLst/>
          </a:prstGeom>
          <a:ln w="31750">
            <a:solidFill>
              <a:srgbClr val="00206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27">
            <a:extLst>
              <a:ext uri="{FF2B5EF4-FFF2-40B4-BE49-F238E27FC236}">
                <a16:creationId xmlns:a16="http://schemas.microsoft.com/office/drawing/2014/main" id="{1C848E1B-4FC2-EC57-2AAC-C11357ADD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1309" y="3443468"/>
            <a:ext cx="287866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b="1" dirty="0">
                <a:solidFill>
                  <a:schemeClr val="accent3">
                    <a:lumMod val="50000"/>
                  </a:schemeClr>
                </a:solidFill>
              </a:rPr>
              <a:t>Publication du contrat</a:t>
            </a:r>
          </a:p>
        </p:txBody>
      </p:sp>
      <p:sp>
        <p:nvSpPr>
          <p:cNvPr id="13" name="ZoneTexte 28">
            <a:extLst>
              <a:ext uri="{FF2B5EF4-FFF2-40B4-BE49-F238E27FC236}">
                <a16:creationId xmlns:a16="http://schemas.microsoft.com/office/drawing/2014/main" id="{68108934-1D6D-DFFF-AE6B-91C446796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662" y="3216955"/>
            <a:ext cx="19198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b="1" dirty="0">
                <a:solidFill>
                  <a:schemeClr val="accent3">
                    <a:lumMod val="50000"/>
                  </a:schemeClr>
                </a:solidFill>
              </a:rPr>
              <a:t>Recherche &amp; Découverte</a:t>
            </a:r>
          </a:p>
        </p:txBody>
      </p:sp>
      <p:sp>
        <p:nvSpPr>
          <p:cNvPr id="14" name="Carré corné 30">
            <a:extLst>
              <a:ext uri="{FF2B5EF4-FFF2-40B4-BE49-F238E27FC236}">
                <a16:creationId xmlns:a16="http://schemas.microsoft.com/office/drawing/2014/main" id="{C113B07B-1FB7-40F7-F49A-7B99B7AFC807}"/>
              </a:ext>
            </a:extLst>
          </p:cNvPr>
          <p:cNvSpPr/>
          <p:nvPr/>
        </p:nvSpPr>
        <p:spPr>
          <a:xfrm>
            <a:off x="10466575" y="1852927"/>
            <a:ext cx="1076927" cy="687781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srgbClr val="FF6600"/>
                </a:solidFill>
              </a:rPr>
              <a:t>WSDL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B59738F-AD4E-59F9-590B-82DF6A18CC79}"/>
              </a:ext>
            </a:extLst>
          </p:cNvPr>
          <p:cNvCxnSpPr/>
          <p:nvPr/>
        </p:nvCxnSpPr>
        <p:spPr>
          <a:xfrm flipV="1">
            <a:off x="11032848" y="2554997"/>
            <a:ext cx="31749" cy="2397125"/>
          </a:xfrm>
          <a:prstGeom prst="straightConnector1">
            <a:avLst/>
          </a:prstGeom>
          <a:ln w="31750"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4F8630D-E779-6E41-A1F1-3177ECCAF5A1}"/>
              </a:ext>
            </a:extLst>
          </p:cNvPr>
          <p:cNvCxnSpPr/>
          <p:nvPr/>
        </p:nvCxnSpPr>
        <p:spPr>
          <a:xfrm flipH="1" flipV="1">
            <a:off x="7639509" y="2324810"/>
            <a:ext cx="2688167" cy="34925"/>
          </a:xfrm>
          <a:prstGeom prst="straightConnector1">
            <a:avLst/>
          </a:prstGeom>
          <a:ln w="31750"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9CE352EF-5E7A-9DFD-11FF-D3F373AF3154}"/>
              </a:ext>
            </a:extLst>
          </p:cNvPr>
          <p:cNvSpPr/>
          <p:nvPr/>
        </p:nvSpPr>
        <p:spPr>
          <a:xfrm>
            <a:off x="4980185" y="4657414"/>
            <a:ext cx="1728192" cy="680091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srgbClr val="FF0000"/>
                </a:solidFill>
              </a:rPr>
              <a:t>SOAP</a:t>
            </a:r>
          </a:p>
        </p:txBody>
      </p:sp>
      <p:sp>
        <p:nvSpPr>
          <p:cNvPr id="18" name="Carré corné 26">
            <a:extLst>
              <a:ext uri="{FF2B5EF4-FFF2-40B4-BE49-F238E27FC236}">
                <a16:creationId xmlns:a16="http://schemas.microsoft.com/office/drawing/2014/main" id="{A6E3D364-3AB4-1854-A697-2C685D9F2442}"/>
              </a:ext>
            </a:extLst>
          </p:cNvPr>
          <p:cNvSpPr/>
          <p:nvPr/>
        </p:nvSpPr>
        <p:spPr>
          <a:xfrm>
            <a:off x="837398" y="4511818"/>
            <a:ext cx="939934" cy="653766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srgbClr val="FF6600"/>
                </a:solidFill>
              </a:rPr>
              <a:t>WSDL</a:t>
            </a:r>
          </a:p>
        </p:txBody>
      </p:sp>
      <p:sp>
        <p:nvSpPr>
          <p:cNvPr id="23" name="Carré corné 51">
            <a:extLst>
              <a:ext uri="{FF2B5EF4-FFF2-40B4-BE49-F238E27FC236}">
                <a16:creationId xmlns:a16="http://schemas.microsoft.com/office/drawing/2014/main" id="{22DA96C8-5288-94A7-B4E8-CB02BB4831F4}"/>
              </a:ext>
            </a:extLst>
          </p:cNvPr>
          <p:cNvSpPr/>
          <p:nvPr/>
        </p:nvSpPr>
        <p:spPr>
          <a:xfrm>
            <a:off x="6212340" y="5023177"/>
            <a:ext cx="985654" cy="310641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200" b="1" dirty="0">
                <a:solidFill>
                  <a:srgbClr val="FF6600"/>
                </a:solidFill>
              </a:rPr>
              <a:t>XML</a:t>
            </a:r>
            <a:endParaRPr lang="fr-FR" b="1" dirty="0">
              <a:solidFill>
                <a:srgbClr val="FF6600"/>
              </a:solidFill>
            </a:endParaRPr>
          </a:p>
        </p:txBody>
      </p:sp>
      <p:sp>
        <p:nvSpPr>
          <p:cNvPr id="24" name="Arrondir un rectangle avec un coin diagonal 29">
            <a:extLst>
              <a:ext uri="{FF2B5EF4-FFF2-40B4-BE49-F238E27FC236}">
                <a16:creationId xmlns:a16="http://schemas.microsoft.com/office/drawing/2014/main" id="{603BA31C-239C-9F1E-9757-54DAA40EC2D7}"/>
              </a:ext>
            </a:extLst>
          </p:cNvPr>
          <p:cNvSpPr/>
          <p:nvPr/>
        </p:nvSpPr>
        <p:spPr>
          <a:xfrm>
            <a:off x="7832126" y="5852234"/>
            <a:ext cx="2082800" cy="576262"/>
          </a:xfrm>
          <a:prstGeom prst="round2DiagRect">
            <a:avLst/>
          </a:prstGeom>
          <a:gradFill rotWithShape="1">
            <a:gsLst>
              <a:gs pos="0">
                <a:sysClr val="windowText" lastClr="000000">
                  <a:lumMod val="110000"/>
                  <a:satMod val="105000"/>
                  <a:tint val="67000"/>
                </a:sysClr>
              </a:gs>
              <a:gs pos="50000">
                <a:sysClr val="windowText" lastClr="000000">
                  <a:lumMod val="105000"/>
                  <a:satMod val="103000"/>
                  <a:tint val="73000"/>
                </a:sysClr>
              </a:gs>
              <a:gs pos="100000">
                <a:sysClr val="windowText" lastClr="000000">
                  <a:lumMod val="105000"/>
                  <a:satMod val="109000"/>
                  <a:tint val="81000"/>
                </a:sysClr>
              </a:gs>
            </a:gsLst>
            <a:lin ang="5400000" scaled="0"/>
          </a:gra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FFC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Service</a:t>
            </a:r>
          </a:p>
        </p:txBody>
      </p:sp>
      <p:sp>
        <p:nvSpPr>
          <p:cNvPr id="25" name="Arrondir un rectangle avec un coin diagonal 31">
            <a:extLst>
              <a:ext uri="{FF2B5EF4-FFF2-40B4-BE49-F238E27FC236}">
                <a16:creationId xmlns:a16="http://schemas.microsoft.com/office/drawing/2014/main" id="{B03E7B79-3CE3-40E2-AC53-7E0D1C4D40DA}"/>
              </a:ext>
            </a:extLst>
          </p:cNvPr>
          <p:cNvSpPr/>
          <p:nvPr/>
        </p:nvSpPr>
        <p:spPr>
          <a:xfrm>
            <a:off x="2936275" y="5852234"/>
            <a:ext cx="2082800" cy="576262"/>
          </a:xfrm>
          <a:prstGeom prst="round2DiagRect">
            <a:avLst/>
          </a:prstGeom>
          <a:gradFill rotWithShape="1">
            <a:gsLst>
              <a:gs pos="0">
                <a:sysClr val="windowText" lastClr="000000">
                  <a:lumMod val="110000"/>
                  <a:satMod val="105000"/>
                  <a:tint val="67000"/>
                </a:sysClr>
              </a:gs>
              <a:gs pos="50000">
                <a:sysClr val="windowText" lastClr="000000">
                  <a:lumMod val="105000"/>
                  <a:satMod val="103000"/>
                  <a:tint val="73000"/>
                </a:sysClr>
              </a:gs>
              <a:gs pos="100000">
                <a:sysClr val="windowText" lastClr="000000">
                  <a:lumMod val="105000"/>
                  <a:satMod val="109000"/>
                  <a:tint val="81000"/>
                </a:sysClr>
              </a:gs>
            </a:gsLst>
            <a:lin ang="5400000" scaled="0"/>
          </a:gra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FFC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Programme Client</a:t>
            </a:r>
          </a:p>
        </p:txBody>
      </p:sp>
      <p:sp>
        <p:nvSpPr>
          <p:cNvPr id="26" name="Arrondir un rectangle avec un coin diagonal 33">
            <a:extLst>
              <a:ext uri="{FF2B5EF4-FFF2-40B4-BE49-F238E27FC236}">
                <a16:creationId xmlns:a16="http://schemas.microsoft.com/office/drawing/2014/main" id="{BC85F7BC-57E8-117C-3E04-9C49AEDD0D22}"/>
              </a:ext>
            </a:extLst>
          </p:cNvPr>
          <p:cNvSpPr/>
          <p:nvPr/>
        </p:nvSpPr>
        <p:spPr>
          <a:xfrm>
            <a:off x="5004956" y="2689520"/>
            <a:ext cx="1703421" cy="597152"/>
          </a:xfrm>
          <a:prstGeom prst="round2DiagRect">
            <a:avLst/>
          </a:prstGeom>
          <a:gradFill rotWithShape="1">
            <a:gsLst>
              <a:gs pos="0">
                <a:sysClr val="windowText" lastClr="000000">
                  <a:lumMod val="110000"/>
                  <a:satMod val="105000"/>
                  <a:tint val="67000"/>
                </a:sysClr>
              </a:gs>
              <a:gs pos="50000">
                <a:sysClr val="windowText" lastClr="000000">
                  <a:lumMod val="105000"/>
                  <a:satMod val="103000"/>
                  <a:tint val="73000"/>
                </a:sysClr>
              </a:gs>
              <a:gs pos="100000">
                <a:sysClr val="windowText" lastClr="000000">
                  <a:lumMod val="105000"/>
                  <a:satMod val="109000"/>
                  <a:tint val="81000"/>
                </a:sysClr>
              </a:gs>
            </a:gsLst>
            <a:lin ang="5400000" scaled="0"/>
          </a:gra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FFC000">
                    <a:lumMod val="65000"/>
                    <a:lumOff val="35000"/>
                  </a:srgbClr>
                </a:solidFill>
                <a:latin typeface="Calibri"/>
                <a:ea typeface="+mn-ea"/>
                <a:cs typeface="+mn-cs"/>
              </a:rPr>
              <a:t>UDDI</a:t>
            </a:r>
            <a:endParaRPr kumimoji="0" lang="fr-FR" sz="1800" b="1" i="0" u="none" strike="noStrike" kern="0" cap="none" spc="0" normalizeH="0" baseline="0" noProof="0" dirty="0">
              <a:ln>
                <a:noFill/>
              </a:ln>
              <a:solidFill>
                <a:srgbClr val="FFC000">
                  <a:lumMod val="65000"/>
                  <a:lumOff val="3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06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sz="4400" dirty="0"/>
              <a:t>Fonctionnement </a:t>
            </a:r>
            <a:endParaRPr lang="fr-FR" dirty="0">
              <a:sym typeface="Times New Roman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6</a:t>
            </a:fld>
            <a:endParaRPr lang="fr-FR" dirty="0">
              <a:latin typeface="+mn-lt"/>
            </a:endParaRPr>
          </a:p>
        </p:txBody>
      </p:sp>
      <p:sp>
        <p:nvSpPr>
          <p:cNvPr id="4" name="Rectangle à coins arrondis 24">
            <a:extLst>
              <a:ext uri="{FF2B5EF4-FFF2-40B4-BE49-F238E27FC236}">
                <a16:creationId xmlns:a16="http://schemas.microsoft.com/office/drawing/2014/main" id="{C71C375E-5C43-6FBA-0686-F6B7A48470C9}"/>
              </a:ext>
            </a:extLst>
          </p:cNvPr>
          <p:cNvSpPr/>
          <p:nvPr/>
        </p:nvSpPr>
        <p:spPr>
          <a:xfrm>
            <a:off x="142935" y="2411313"/>
            <a:ext cx="5183716" cy="316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" name="Rectangle à coins arrondis 25">
            <a:extLst>
              <a:ext uri="{FF2B5EF4-FFF2-40B4-BE49-F238E27FC236}">
                <a16:creationId xmlns:a16="http://schemas.microsoft.com/office/drawing/2014/main" id="{2923DA88-98D2-8CAB-7EB0-F931BEF48100}"/>
              </a:ext>
            </a:extLst>
          </p:cNvPr>
          <p:cNvSpPr/>
          <p:nvPr/>
        </p:nvSpPr>
        <p:spPr>
          <a:xfrm>
            <a:off x="6575483" y="2411313"/>
            <a:ext cx="5520267" cy="316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1E9FDEA3-6431-9EC1-F484-26F0CF3EE73B}"/>
              </a:ext>
            </a:extLst>
          </p:cNvPr>
          <p:cNvSpPr/>
          <p:nvPr/>
        </p:nvSpPr>
        <p:spPr>
          <a:xfrm>
            <a:off x="8687917" y="2771675"/>
            <a:ext cx="1729317" cy="259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7" name="Picture 6" descr="C:\Users\user\Desktop\can-stock-photo_csp2482297.jpg">
            <a:extLst>
              <a:ext uri="{FF2B5EF4-FFF2-40B4-BE49-F238E27FC236}">
                <a16:creationId xmlns:a16="http://schemas.microsoft.com/office/drawing/2014/main" id="{0CEC4C0B-33CA-CB32-4065-92730D325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48584" y="3300314"/>
            <a:ext cx="986367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 descr="C:\Users\user\Desktop\can-stock-photo_csp2482297.jpg">
            <a:extLst>
              <a:ext uri="{FF2B5EF4-FFF2-40B4-BE49-F238E27FC236}">
                <a16:creationId xmlns:a16="http://schemas.microsoft.com/office/drawing/2014/main" id="{1D09CA04-16A5-F57E-2FFD-E81C47837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48584" y="3995638"/>
            <a:ext cx="98636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 descr="C:\Users\user\Desktop\can-stock-photo_csp2482297.jpg">
            <a:extLst>
              <a:ext uri="{FF2B5EF4-FFF2-40B4-BE49-F238E27FC236}">
                <a16:creationId xmlns:a16="http://schemas.microsoft.com/office/drawing/2014/main" id="{F792CA5F-8151-B443-2E22-465F9E87A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9935" y="3300314"/>
            <a:ext cx="986367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 descr="C:\Users\user\Desktop\can-stock-photo_csp2482297.jpg">
            <a:extLst>
              <a:ext uri="{FF2B5EF4-FFF2-40B4-BE49-F238E27FC236}">
                <a16:creationId xmlns:a16="http://schemas.microsoft.com/office/drawing/2014/main" id="{0F124CF0-0557-39E3-0F78-6711ABE1F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935" y="3995638"/>
            <a:ext cx="98636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F2773C9-882F-1AF3-C75C-890207E49E01}"/>
              </a:ext>
            </a:extLst>
          </p:cNvPr>
          <p:cNvCxnSpPr/>
          <p:nvPr/>
        </p:nvCxnSpPr>
        <p:spPr>
          <a:xfrm flipH="1">
            <a:off x="3118968" y="4282975"/>
            <a:ext cx="960967" cy="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D3C7AAE-9AD9-890C-8A5F-4A69EE1E78CE}"/>
              </a:ext>
            </a:extLst>
          </p:cNvPr>
          <p:cNvCxnSpPr/>
          <p:nvPr/>
        </p:nvCxnSpPr>
        <p:spPr>
          <a:xfrm>
            <a:off x="3118968" y="3779738"/>
            <a:ext cx="960967" cy="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7" descr="C:\Users\user\Desktop\clip-art-enveloppe_420058.jpg">
            <a:extLst>
              <a:ext uri="{FF2B5EF4-FFF2-40B4-BE49-F238E27FC236}">
                <a16:creationId xmlns:a16="http://schemas.microsoft.com/office/drawing/2014/main" id="{B89AFAEA-A003-4DD7-4156-355C6E09E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880535" y="3490814"/>
            <a:ext cx="1051983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ZoneTexte 88">
            <a:extLst>
              <a:ext uri="{FF2B5EF4-FFF2-40B4-BE49-F238E27FC236}">
                <a16:creationId xmlns:a16="http://schemas.microsoft.com/office/drawing/2014/main" id="{2AA19D03-7CF8-EA5F-E49C-003179151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217" y="2843114"/>
            <a:ext cx="1153584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/>
              <a:t>Appel</a:t>
            </a:r>
          </a:p>
        </p:txBody>
      </p:sp>
      <p:sp>
        <p:nvSpPr>
          <p:cNvPr id="18" name="ZoneTexte 89">
            <a:extLst>
              <a:ext uri="{FF2B5EF4-FFF2-40B4-BE49-F238E27FC236}">
                <a16:creationId xmlns:a16="http://schemas.microsoft.com/office/drawing/2014/main" id="{258AD9EB-10B0-87EF-DFBA-0B2F70F94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216" y="4787800"/>
            <a:ext cx="1441451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1600" b="1"/>
              <a:t>Réponse</a:t>
            </a:r>
          </a:p>
        </p:txBody>
      </p:sp>
      <p:sp>
        <p:nvSpPr>
          <p:cNvPr id="23" name="ZoneTexte 91">
            <a:extLst>
              <a:ext uri="{FF2B5EF4-FFF2-40B4-BE49-F238E27FC236}">
                <a16:creationId xmlns:a16="http://schemas.microsoft.com/office/drawing/2014/main" id="{8E6C06E5-456C-D05C-8BC6-CACCEAD9D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379" y="3738430"/>
            <a:ext cx="115146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 dirty="0">
                <a:solidFill>
                  <a:srgbClr val="FF0000"/>
                </a:solidFill>
              </a:rPr>
              <a:t>HTTP</a:t>
            </a:r>
          </a:p>
        </p:txBody>
      </p:sp>
      <p:sp>
        <p:nvSpPr>
          <p:cNvPr id="24" name="ZoneTexte 92">
            <a:extLst>
              <a:ext uri="{FF2B5EF4-FFF2-40B4-BE49-F238E27FC236}">
                <a16:creationId xmlns:a16="http://schemas.microsoft.com/office/drawing/2014/main" id="{93F3A37E-0EF2-2EAC-764B-AC5080D27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84" y="5643464"/>
            <a:ext cx="172931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>
                <a:solidFill>
                  <a:schemeClr val="accent3">
                    <a:lumMod val="50000"/>
                  </a:schemeClr>
                </a:solidFill>
              </a:rPr>
              <a:t>Client</a:t>
            </a:r>
          </a:p>
        </p:txBody>
      </p:sp>
      <p:sp>
        <p:nvSpPr>
          <p:cNvPr id="25" name="ZoneTexte 93">
            <a:extLst>
              <a:ext uri="{FF2B5EF4-FFF2-40B4-BE49-F238E27FC236}">
                <a16:creationId xmlns:a16="http://schemas.microsoft.com/office/drawing/2014/main" id="{03CD30F2-F602-93DE-B3DC-C8D68ACD1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2667" y="5714900"/>
            <a:ext cx="1727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 dirty="0">
                <a:solidFill>
                  <a:schemeClr val="accent3">
                    <a:lumMod val="50000"/>
                  </a:schemeClr>
                </a:solidFill>
              </a:rPr>
              <a:t>Serveur</a:t>
            </a:r>
          </a:p>
        </p:txBody>
      </p:sp>
      <p:sp>
        <p:nvSpPr>
          <p:cNvPr id="26" name="Carré corné 58">
            <a:extLst>
              <a:ext uri="{FF2B5EF4-FFF2-40B4-BE49-F238E27FC236}">
                <a16:creationId xmlns:a16="http://schemas.microsoft.com/office/drawing/2014/main" id="{9DE06164-4F98-FE0F-2220-15B34392A134}"/>
              </a:ext>
            </a:extLst>
          </p:cNvPr>
          <p:cNvSpPr/>
          <p:nvPr/>
        </p:nvSpPr>
        <p:spPr>
          <a:xfrm>
            <a:off x="8975784" y="4787800"/>
            <a:ext cx="960967" cy="503238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200" b="1" dirty="0">
                <a:solidFill>
                  <a:srgbClr val="FF0000"/>
                </a:solidFill>
              </a:rPr>
              <a:t>Parseur XML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62DE9E1D-B30D-FB7E-CCA9-697C713CA32B}"/>
              </a:ext>
            </a:extLst>
          </p:cNvPr>
          <p:cNvCxnSpPr/>
          <p:nvPr/>
        </p:nvCxnSpPr>
        <p:spPr>
          <a:xfrm flipV="1">
            <a:off x="9549401" y="4427438"/>
            <a:ext cx="2116" cy="36036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9594D31-F9D5-13C5-C6F5-A91F0ACF1C60}"/>
              </a:ext>
            </a:extLst>
          </p:cNvPr>
          <p:cNvSpPr/>
          <p:nvPr/>
        </p:nvSpPr>
        <p:spPr>
          <a:xfrm>
            <a:off x="10512483" y="3274914"/>
            <a:ext cx="1583267" cy="10810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</a:rPr>
              <a:t>Serveur d’application</a:t>
            </a:r>
          </a:p>
        </p:txBody>
      </p:sp>
      <p:sp>
        <p:nvSpPr>
          <p:cNvPr id="29" name="ZoneTexte 90">
            <a:extLst>
              <a:ext uri="{FF2B5EF4-FFF2-40B4-BE49-F238E27FC236}">
                <a16:creationId xmlns:a16="http://schemas.microsoft.com/office/drawing/2014/main" id="{00F8122F-D737-0165-7CBF-E91694183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6450" y="2642400"/>
            <a:ext cx="1727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600" b="1" dirty="0"/>
              <a:t>Messages</a:t>
            </a:r>
          </a:p>
          <a:p>
            <a:pPr algn="ctr"/>
            <a:r>
              <a:rPr lang="fr-FR" altLang="fr-FR" sz="1600" b="1" dirty="0"/>
              <a:t>SOAP</a:t>
            </a: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23258114-0AF8-F8E9-952D-6CD6E241BF75}"/>
              </a:ext>
            </a:extLst>
          </p:cNvPr>
          <p:cNvSpPr/>
          <p:nvPr/>
        </p:nvSpPr>
        <p:spPr>
          <a:xfrm>
            <a:off x="1853999" y="2771675"/>
            <a:ext cx="1822451" cy="25923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F602AC-1991-57BE-50E3-7DB02A000D86}"/>
              </a:ext>
            </a:extLst>
          </p:cNvPr>
          <p:cNvSpPr/>
          <p:nvPr/>
        </p:nvSpPr>
        <p:spPr>
          <a:xfrm>
            <a:off x="219933" y="3274914"/>
            <a:ext cx="1536700" cy="10810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400" b="1" dirty="0">
                <a:solidFill>
                  <a:srgbClr val="002060"/>
                </a:solidFill>
              </a:rPr>
              <a:t>Application Cliente</a:t>
            </a:r>
          </a:p>
        </p:txBody>
      </p:sp>
      <p:sp>
        <p:nvSpPr>
          <p:cNvPr id="32" name="Carré corné 57">
            <a:extLst>
              <a:ext uri="{FF2B5EF4-FFF2-40B4-BE49-F238E27FC236}">
                <a16:creationId xmlns:a16="http://schemas.microsoft.com/office/drawing/2014/main" id="{7D900C14-37A5-2798-4C1D-96B801F78D03}"/>
              </a:ext>
            </a:extLst>
          </p:cNvPr>
          <p:cNvSpPr/>
          <p:nvPr/>
        </p:nvSpPr>
        <p:spPr>
          <a:xfrm>
            <a:off x="2044500" y="4787800"/>
            <a:ext cx="960967" cy="503238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200" b="1" dirty="0">
                <a:solidFill>
                  <a:srgbClr val="FF0000"/>
                </a:solidFill>
              </a:rPr>
              <a:t>Parseur XML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507C9AE2-6368-9BF6-B0A3-9EBCF520ED14}"/>
              </a:ext>
            </a:extLst>
          </p:cNvPr>
          <p:cNvCxnSpPr>
            <a:stCxn id="32" idx="0"/>
          </p:cNvCxnSpPr>
          <p:nvPr/>
        </p:nvCxnSpPr>
        <p:spPr>
          <a:xfrm flipV="1">
            <a:off x="2524984" y="4427438"/>
            <a:ext cx="2116" cy="36036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7" descr="C:\Users\user\Desktop\clip-art-enveloppe_420058.jpg">
            <a:extLst>
              <a:ext uri="{FF2B5EF4-FFF2-40B4-BE49-F238E27FC236}">
                <a16:creationId xmlns:a16="http://schemas.microsoft.com/office/drawing/2014/main" id="{B33075C4-236F-0317-6001-78C42F594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71735" y="3490814"/>
            <a:ext cx="1147233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7487A46-2693-4E42-1F90-756BB45697FC}"/>
              </a:ext>
            </a:extLst>
          </p:cNvPr>
          <p:cNvCxnSpPr/>
          <p:nvPr/>
        </p:nvCxnSpPr>
        <p:spPr>
          <a:xfrm flipH="1">
            <a:off x="5066300" y="4319488"/>
            <a:ext cx="2182283" cy="0"/>
          </a:xfrm>
          <a:prstGeom prst="straightConnector1">
            <a:avLst/>
          </a:prstGeom>
          <a:ln w="444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EEE4C12-A107-FA68-4858-8247F20D6B8D}"/>
              </a:ext>
            </a:extLst>
          </p:cNvPr>
          <p:cNvCxnSpPr/>
          <p:nvPr/>
        </p:nvCxnSpPr>
        <p:spPr>
          <a:xfrm>
            <a:off x="5066300" y="3611463"/>
            <a:ext cx="2182283" cy="0"/>
          </a:xfrm>
          <a:prstGeom prst="straightConnector1">
            <a:avLst/>
          </a:prstGeom>
          <a:ln w="444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359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Approches de développement 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7</a:t>
            </a:fld>
            <a:endParaRPr lang="fr-FR" dirty="0">
              <a:latin typeface="+mn-lt"/>
            </a:endParaRPr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03395B25-2581-032B-DD8D-D013767D7474}"/>
              </a:ext>
            </a:extLst>
          </p:cNvPr>
          <p:cNvSpPr/>
          <p:nvPr/>
        </p:nvSpPr>
        <p:spPr>
          <a:xfrm>
            <a:off x="7495032" y="2689194"/>
            <a:ext cx="3839633" cy="3527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5" name="Rectangle à coins arrondis 9">
            <a:extLst>
              <a:ext uri="{FF2B5EF4-FFF2-40B4-BE49-F238E27FC236}">
                <a16:creationId xmlns:a16="http://schemas.microsoft.com/office/drawing/2014/main" id="{A9003CE1-629D-DDD6-9E3C-B4BE6B54D17A}"/>
              </a:ext>
            </a:extLst>
          </p:cNvPr>
          <p:cNvSpPr/>
          <p:nvPr/>
        </p:nvSpPr>
        <p:spPr>
          <a:xfrm>
            <a:off x="7880265" y="3263868"/>
            <a:ext cx="2688167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/>
              <a:t>Librairies nécessaires</a:t>
            </a:r>
          </a:p>
        </p:txBody>
      </p:sp>
      <p:sp>
        <p:nvSpPr>
          <p:cNvPr id="6" name="Carré corné 10">
            <a:extLst>
              <a:ext uri="{FF2B5EF4-FFF2-40B4-BE49-F238E27FC236}">
                <a16:creationId xmlns:a16="http://schemas.microsoft.com/office/drawing/2014/main" id="{5AEA0B54-C798-2C8E-96B0-B41FBFC06677}"/>
              </a:ext>
            </a:extLst>
          </p:cNvPr>
          <p:cNvSpPr/>
          <p:nvPr/>
        </p:nvSpPr>
        <p:spPr>
          <a:xfrm>
            <a:off x="8646496" y="4848194"/>
            <a:ext cx="1595918" cy="936625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Implémentation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4E16DC3-8BE3-3218-94CA-94312A019915}"/>
              </a:ext>
            </a:extLst>
          </p:cNvPr>
          <p:cNvCxnSpPr/>
          <p:nvPr/>
        </p:nvCxnSpPr>
        <p:spPr>
          <a:xfrm flipV="1">
            <a:off x="9224348" y="4129057"/>
            <a:ext cx="0" cy="719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rré corné 18">
            <a:extLst>
              <a:ext uri="{FF2B5EF4-FFF2-40B4-BE49-F238E27FC236}">
                <a16:creationId xmlns:a16="http://schemas.microsoft.com/office/drawing/2014/main" id="{7057DC76-30ED-B4CD-74FA-F1A8F909F383}"/>
              </a:ext>
            </a:extLst>
          </p:cNvPr>
          <p:cNvSpPr/>
          <p:nvPr/>
        </p:nvSpPr>
        <p:spPr>
          <a:xfrm>
            <a:off x="8646497" y="1608107"/>
            <a:ext cx="1153584" cy="936625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WSDL file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1244595-59D0-3234-D5D6-70A552E246EE}"/>
              </a:ext>
            </a:extLst>
          </p:cNvPr>
          <p:cNvCxnSpPr>
            <a:stCxn id="9" idx="2"/>
            <a:endCxn id="5" idx="0"/>
          </p:cNvCxnSpPr>
          <p:nvPr/>
        </p:nvCxnSpPr>
        <p:spPr>
          <a:xfrm>
            <a:off x="9224348" y="2544732"/>
            <a:ext cx="0" cy="719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be 11">
            <a:extLst>
              <a:ext uri="{FF2B5EF4-FFF2-40B4-BE49-F238E27FC236}">
                <a16:creationId xmlns:a16="http://schemas.microsoft.com/office/drawing/2014/main" id="{62A911D4-D697-E127-192B-F5099502A337}"/>
              </a:ext>
            </a:extLst>
          </p:cNvPr>
          <p:cNvSpPr/>
          <p:nvPr/>
        </p:nvSpPr>
        <p:spPr>
          <a:xfrm>
            <a:off x="5372973" y="2976531"/>
            <a:ext cx="1344084" cy="2303462"/>
          </a:xfrm>
          <a:prstGeom prst="cub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" name="Rectangle à coins arrondis 28">
            <a:extLst>
              <a:ext uri="{FF2B5EF4-FFF2-40B4-BE49-F238E27FC236}">
                <a16:creationId xmlns:a16="http://schemas.microsoft.com/office/drawing/2014/main" id="{8227489F-7360-7FEB-CEFB-BE13C9D98A63}"/>
              </a:ext>
            </a:extLst>
          </p:cNvPr>
          <p:cNvSpPr/>
          <p:nvPr/>
        </p:nvSpPr>
        <p:spPr>
          <a:xfrm>
            <a:off x="1350349" y="2832069"/>
            <a:ext cx="3168649" cy="33131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" name="Carré corné 29">
            <a:extLst>
              <a:ext uri="{FF2B5EF4-FFF2-40B4-BE49-F238E27FC236}">
                <a16:creationId xmlns:a16="http://schemas.microsoft.com/office/drawing/2014/main" id="{02262B89-8C26-5F89-4D40-5082C19D2A60}"/>
              </a:ext>
            </a:extLst>
          </p:cNvPr>
          <p:cNvSpPr/>
          <p:nvPr/>
        </p:nvSpPr>
        <p:spPr>
          <a:xfrm>
            <a:off x="3174915" y="3984593"/>
            <a:ext cx="960967" cy="863600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PHP</a:t>
            </a:r>
          </a:p>
        </p:txBody>
      </p:sp>
      <p:sp>
        <p:nvSpPr>
          <p:cNvPr id="15" name="Carré corné 30">
            <a:extLst>
              <a:ext uri="{FF2B5EF4-FFF2-40B4-BE49-F238E27FC236}">
                <a16:creationId xmlns:a16="http://schemas.microsoft.com/office/drawing/2014/main" id="{A9B2DEE6-16AF-D6B1-C9E4-DD12727A72B9}"/>
              </a:ext>
            </a:extLst>
          </p:cNvPr>
          <p:cNvSpPr/>
          <p:nvPr/>
        </p:nvSpPr>
        <p:spPr>
          <a:xfrm>
            <a:off x="1830832" y="4921218"/>
            <a:ext cx="1056217" cy="846138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.Net</a:t>
            </a:r>
          </a:p>
        </p:txBody>
      </p:sp>
      <p:sp>
        <p:nvSpPr>
          <p:cNvPr id="16" name="Carré corné 31">
            <a:extLst>
              <a:ext uri="{FF2B5EF4-FFF2-40B4-BE49-F238E27FC236}">
                <a16:creationId xmlns:a16="http://schemas.microsoft.com/office/drawing/2014/main" id="{F7C0C91E-9551-9292-EDC0-5A5AD5AB3295}"/>
              </a:ext>
            </a:extLst>
          </p:cNvPr>
          <p:cNvSpPr/>
          <p:nvPr/>
        </p:nvSpPr>
        <p:spPr>
          <a:xfrm>
            <a:off x="1830832" y="3192431"/>
            <a:ext cx="1056217" cy="863600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</a:p>
        </p:txBody>
      </p:sp>
      <p:sp>
        <p:nvSpPr>
          <p:cNvPr id="17" name="ZoneTexte 32">
            <a:extLst>
              <a:ext uri="{FF2B5EF4-FFF2-40B4-BE49-F238E27FC236}">
                <a16:creationId xmlns:a16="http://schemas.microsoft.com/office/drawing/2014/main" id="{EF3AC7FD-D5A3-A851-AB3B-68DA3125B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340" y="6299194"/>
            <a:ext cx="3647016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b="1">
                <a:solidFill>
                  <a:srgbClr val="002060"/>
                </a:solidFill>
              </a:rPr>
              <a:t>Couche Serveur</a:t>
            </a:r>
          </a:p>
        </p:txBody>
      </p:sp>
      <p:sp>
        <p:nvSpPr>
          <p:cNvPr id="18" name="ZoneTexte 33">
            <a:extLst>
              <a:ext uri="{FF2B5EF4-FFF2-40B4-BE49-F238E27FC236}">
                <a16:creationId xmlns:a16="http://schemas.microsoft.com/office/drawing/2014/main" id="{3B0C510A-9704-C11C-8BEB-71CD61B1F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088" y="6304527"/>
            <a:ext cx="364913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b="1">
                <a:solidFill>
                  <a:srgbClr val="002060"/>
                </a:solidFill>
              </a:rPr>
              <a:t>Couche Cliente</a:t>
            </a:r>
          </a:p>
        </p:txBody>
      </p:sp>
      <p:sp>
        <p:nvSpPr>
          <p:cNvPr id="23" name="ZoneTexte 34">
            <a:extLst>
              <a:ext uri="{FF2B5EF4-FFF2-40B4-BE49-F238E27FC236}">
                <a16:creationId xmlns:a16="http://schemas.microsoft.com/office/drawing/2014/main" id="{139C79B0-5B6A-4E8B-05FA-784B64D5A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4731" y="5353019"/>
            <a:ext cx="17293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b="1" dirty="0">
                <a:solidFill>
                  <a:srgbClr val="002060"/>
                </a:solidFill>
              </a:rPr>
              <a:t>Serveur d’application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363A61C-B601-DDA8-08D6-2F2104D1E945}"/>
              </a:ext>
            </a:extLst>
          </p:cNvPr>
          <p:cNvCxnSpPr/>
          <p:nvPr/>
        </p:nvCxnSpPr>
        <p:spPr>
          <a:xfrm flipH="1">
            <a:off x="4518997" y="3697256"/>
            <a:ext cx="863600" cy="0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38">
            <a:extLst>
              <a:ext uri="{FF2B5EF4-FFF2-40B4-BE49-F238E27FC236}">
                <a16:creationId xmlns:a16="http://schemas.microsoft.com/office/drawing/2014/main" id="{CCA2B0E0-879D-5A4A-7793-6CA79DBF2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881" y="3336894"/>
            <a:ext cx="1727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200" b="1">
                <a:solidFill>
                  <a:srgbClr val="C00000"/>
                </a:solidFill>
              </a:rPr>
              <a:t>WSDL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E344C377-384F-DB0F-1AC1-EA0C48C7B5D5}"/>
              </a:ext>
            </a:extLst>
          </p:cNvPr>
          <p:cNvCxnSpPr/>
          <p:nvPr/>
        </p:nvCxnSpPr>
        <p:spPr>
          <a:xfrm flipH="1">
            <a:off x="4518997" y="4705318"/>
            <a:ext cx="8636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BF99D5F7-0E86-F84F-C895-3D7D9F80B212}"/>
              </a:ext>
            </a:extLst>
          </p:cNvPr>
          <p:cNvCxnSpPr/>
          <p:nvPr/>
        </p:nvCxnSpPr>
        <p:spPr>
          <a:xfrm flipH="1">
            <a:off x="6726682" y="4056031"/>
            <a:ext cx="768349" cy="0"/>
          </a:xfrm>
          <a:prstGeom prst="straightConnector1">
            <a:avLst/>
          </a:prstGeom>
          <a:ln w="31750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78A567B7-80E8-7999-9C33-27AA58C6B88C}"/>
              </a:ext>
            </a:extLst>
          </p:cNvPr>
          <p:cNvCxnSpPr/>
          <p:nvPr/>
        </p:nvCxnSpPr>
        <p:spPr>
          <a:xfrm>
            <a:off x="6640056" y="4416393"/>
            <a:ext cx="863600" cy="0"/>
          </a:xfrm>
          <a:prstGeom prst="straightConnector1">
            <a:avLst/>
          </a:prstGeom>
          <a:ln w="31750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66">
            <a:extLst>
              <a:ext uri="{FF2B5EF4-FFF2-40B4-BE49-F238E27FC236}">
                <a16:creationId xmlns:a16="http://schemas.microsoft.com/office/drawing/2014/main" id="{748A6FA5-020A-5356-9E2E-2D5FF5D44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348" y="2193618"/>
            <a:ext cx="3168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altLang="fr-FR" sz="1400" i="1" dirty="0">
                <a:solidFill>
                  <a:srgbClr val="002060"/>
                </a:solidFill>
                <a:latin typeface="Arial Black" pitchFamily="34" charset="0"/>
              </a:rPr>
              <a:t>Développement des clients dans des langages différents 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55DEF1AB-6055-B573-92F6-2821FA7FE6AB}"/>
              </a:ext>
            </a:extLst>
          </p:cNvPr>
          <p:cNvCxnSpPr/>
          <p:nvPr/>
        </p:nvCxnSpPr>
        <p:spPr>
          <a:xfrm>
            <a:off x="11624648" y="1681131"/>
            <a:ext cx="0" cy="2087562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257A5F97-31E2-2850-4EAE-3052AEBF9D42}"/>
              </a:ext>
            </a:extLst>
          </p:cNvPr>
          <p:cNvCxnSpPr/>
          <p:nvPr/>
        </p:nvCxnSpPr>
        <p:spPr>
          <a:xfrm flipV="1">
            <a:off x="11624648" y="3913157"/>
            <a:ext cx="0" cy="2232025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71">
            <a:extLst>
              <a:ext uri="{FF2B5EF4-FFF2-40B4-BE49-F238E27FC236}">
                <a16:creationId xmlns:a16="http://schemas.microsoft.com/office/drawing/2014/main" id="{1D8B5190-6480-70E8-03D2-F777030B8A3F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0606267" y="2534512"/>
            <a:ext cx="273526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400" b="1">
                <a:solidFill>
                  <a:srgbClr val="C00000"/>
                </a:solidFill>
              </a:rPr>
              <a:t>Approche Top/Down</a:t>
            </a:r>
            <a:endParaRPr lang="fr-FR" altLang="fr-FR" sz="1600" b="1">
              <a:solidFill>
                <a:srgbClr val="C00000"/>
              </a:solidFill>
            </a:endParaRPr>
          </a:p>
        </p:txBody>
      </p:sp>
      <p:sp>
        <p:nvSpPr>
          <p:cNvPr id="33" name="ZoneTexte 72">
            <a:extLst>
              <a:ext uri="{FF2B5EF4-FFF2-40B4-BE49-F238E27FC236}">
                <a16:creationId xmlns:a16="http://schemas.microsoft.com/office/drawing/2014/main" id="{56D80D22-1403-CDE8-3159-A71E9B4D5E3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0605474" y="4983230"/>
            <a:ext cx="2736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1400" b="1">
                <a:solidFill>
                  <a:srgbClr val="C00000"/>
                </a:solidFill>
              </a:rPr>
              <a:t>Approche Bottom/Up</a:t>
            </a:r>
            <a:endParaRPr lang="fr-FR" altLang="fr-FR" sz="1600" b="1">
              <a:solidFill>
                <a:srgbClr val="C00000"/>
              </a:solidFill>
            </a:endParaRPr>
          </a:p>
        </p:txBody>
      </p:sp>
      <p:pic>
        <p:nvPicPr>
          <p:cNvPr id="34" name="Picture 2" descr="C:\Users\user\Desktop\jboss_icon.gif">
            <a:extLst>
              <a:ext uri="{FF2B5EF4-FFF2-40B4-BE49-F238E27FC236}">
                <a16:creationId xmlns:a16="http://schemas.microsoft.com/office/drawing/2014/main" id="{5559F611-6305-BF18-9226-B6065D0DC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9982" y="3855231"/>
            <a:ext cx="12065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" descr="C:\Users\user\Desktop\f87ffa0035704c8ccceafbe1bcd28989.media.130x92.png">
            <a:extLst>
              <a:ext uri="{FF2B5EF4-FFF2-40B4-BE49-F238E27FC236}">
                <a16:creationId xmlns:a16="http://schemas.microsoft.com/office/drawing/2014/main" id="{6891A58B-1D9D-6477-D281-B856635AB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0681" y="4349019"/>
            <a:ext cx="950384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Carré corné 38">
            <a:extLst>
              <a:ext uri="{FF2B5EF4-FFF2-40B4-BE49-F238E27FC236}">
                <a16:creationId xmlns:a16="http://schemas.microsoft.com/office/drawing/2014/main" id="{DE144464-D924-F0B1-18BF-8C8DC7FFD7C4}"/>
              </a:ext>
            </a:extLst>
          </p:cNvPr>
          <p:cNvSpPr/>
          <p:nvPr/>
        </p:nvSpPr>
        <p:spPr>
          <a:xfrm>
            <a:off x="8268497" y="5339349"/>
            <a:ext cx="581378" cy="397527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</a:p>
        </p:txBody>
      </p:sp>
      <p:sp>
        <p:nvSpPr>
          <p:cNvPr id="37" name="Carré corné 42">
            <a:extLst>
              <a:ext uri="{FF2B5EF4-FFF2-40B4-BE49-F238E27FC236}">
                <a16:creationId xmlns:a16="http://schemas.microsoft.com/office/drawing/2014/main" id="{C48DB3CC-0E08-BF14-638A-4C8A98DD4953}"/>
              </a:ext>
            </a:extLst>
          </p:cNvPr>
          <p:cNvSpPr/>
          <p:nvPr/>
        </p:nvSpPr>
        <p:spPr>
          <a:xfrm>
            <a:off x="8987177" y="5740403"/>
            <a:ext cx="488341" cy="291966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C++</a:t>
            </a:r>
          </a:p>
        </p:txBody>
      </p:sp>
      <p:sp>
        <p:nvSpPr>
          <p:cNvPr id="38" name="Carré corné 44">
            <a:extLst>
              <a:ext uri="{FF2B5EF4-FFF2-40B4-BE49-F238E27FC236}">
                <a16:creationId xmlns:a16="http://schemas.microsoft.com/office/drawing/2014/main" id="{9E5449D8-5DD0-2DE5-2BD1-94ECDC113CB4}"/>
              </a:ext>
            </a:extLst>
          </p:cNvPr>
          <p:cNvSpPr/>
          <p:nvPr/>
        </p:nvSpPr>
        <p:spPr>
          <a:xfrm>
            <a:off x="9322452" y="5892803"/>
            <a:ext cx="488341" cy="291966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1340476D-A225-5A19-A417-D94EDE70E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3282" y="4954325"/>
            <a:ext cx="924666" cy="303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EBBCFBDD-0428-1D9E-0E09-668E9D8EF502}"/>
              </a:ext>
            </a:extLst>
          </p:cNvPr>
          <p:cNvCxnSpPr/>
          <p:nvPr/>
        </p:nvCxnSpPr>
        <p:spPr>
          <a:xfrm flipH="1">
            <a:off x="5371373" y="4911431"/>
            <a:ext cx="10075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" descr="Description de l'image Glassfish logo large.png.">
            <a:extLst>
              <a:ext uri="{FF2B5EF4-FFF2-40B4-BE49-F238E27FC236}">
                <a16:creationId xmlns:a16="http://schemas.microsoft.com/office/drawing/2014/main" id="{001F9646-B62F-42AA-A131-9F5BE0AAF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05601" y="3385419"/>
            <a:ext cx="946761" cy="375385"/>
          </a:xfrm>
          <a:prstGeom prst="rect">
            <a:avLst/>
          </a:prstGeom>
          <a:noFill/>
        </p:spPr>
      </p:pic>
      <p:sp>
        <p:nvSpPr>
          <p:cNvPr id="42" name="Carré corné 40">
            <a:extLst>
              <a:ext uri="{FF2B5EF4-FFF2-40B4-BE49-F238E27FC236}">
                <a16:creationId xmlns:a16="http://schemas.microsoft.com/office/drawing/2014/main" id="{E8F7E9D5-9F1E-EAB9-CD84-108B687D9123}"/>
              </a:ext>
            </a:extLst>
          </p:cNvPr>
          <p:cNvSpPr/>
          <p:nvPr/>
        </p:nvSpPr>
        <p:spPr>
          <a:xfrm>
            <a:off x="8554577" y="5587991"/>
            <a:ext cx="554106" cy="338488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B38B3672-E2B3-C949-C045-224C1EED3E82}"/>
              </a:ext>
            </a:extLst>
          </p:cNvPr>
          <p:cNvCxnSpPr/>
          <p:nvPr/>
        </p:nvCxnSpPr>
        <p:spPr>
          <a:xfrm flipH="1">
            <a:off x="5384876" y="4288329"/>
            <a:ext cx="10075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F8DBF7F6-DF9D-A151-0AE3-75708D8E24F1}"/>
              </a:ext>
            </a:extLst>
          </p:cNvPr>
          <p:cNvCxnSpPr/>
          <p:nvPr/>
        </p:nvCxnSpPr>
        <p:spPr>
          <a:xfrm flipH="1">
            <a:off x="5398379" y="3780971"/>
            <a:ext cx="10075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60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DB47B-E265-785D-B414-016E853B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38B610B-07D7-C42C-B311-32012435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Présentation de WSDL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179D05-8BEB-8388-5E28-A06225A9B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4CA46369-464B-2A61-9A29-DF9243AD7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C5AA042F-44A8-F29A-5014-CEFCC1CB7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48B26C75-2897-4363-A30B-C1983F5DD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924638F5-E963-15EB-674A-3DF62BD7BB14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52ECE695-3E11-A4C7-727B-257E6071EAEF}"/>
              </a:ext>
            </a:extLst>
          </p:cNvPr>
          <p:cNvSpPr txBox="1"/>
          <p:nvPr/>
        </p:nvSpPr>
        <p:spPr>
          <a:xfrm>
            <a:off x="1418542" y="2413368"/>
            <a:ext cx="923016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Web Service Description </a:t>
            </a:r>
            <a:r>
              <a:rPr lang="fr-FR" sz="2400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Language:langage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de description des services web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Basé sur XML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Une description de type « </a:t>
            </a: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boîte noire 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» du service web:</a:t>
            </a:r>
          </a:p>
          <a:p>
            <a:pPr marL="939800" lvl="1" indent="-342900" algn="just">
              <a:buSzPts val="1400"/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Quelles sont les opérations disponibles, leurs entrées, leurs sorties, leurs types?</a:t>
            </a:r>
          </a:p>
          <a:p>
            <a:pPr marL="939800" lvl="1" indent="-342900" algn="just">
              <a:buSzPts val="1400"/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Comment y accéder : adresse(s), protocole(s) utilisé(s),…</a:t>
            </a:r>
          </a:p>
          <a:p>
            <a:pPr marL="939800" lvl="1" indent="-342900" algn="just">
              <a:buSzPts val="1400"/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Quel est le format des échanges : les messages (requête/réponse)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1E1164-DFE9-B2D2-178D-888A8E3AEC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8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236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89591-51A4-3EF3-2BB2-16BA98B5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EDA096B-B4E5-A351-3587-FD3A587A0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Présentation de WSDL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69410915-6534-AC58-C142-DF9F0E6AB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FCDA403F-86F5-56A1-0657-53C51468A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2329C018-0DA8-3010-7BD0-DD7F27F52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9543C0BB-33FA-0DF4-E6E7-5012418ED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44BCBDFB-7D65-49B5-A7C1-5CA7713D4726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BBE02C0F-6E86-C962-5B66-78ED30CC56E8}"/>
              </a:ext>
            </a:extLst>
          </p:cNvPr>
          <p:cNvSpPr txBox="1"/>
          <p:nvPr/>
        </p:nvSpPr>
        <p:spPr>
          <a:xfrm>
            <a:off x="988012" y="2300376"/>
            <a:ext cx="5668820" cy="369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 document WSDL se structure en 2 parties :</a:t>
            </a:r>
          </a:p>
          <a:p>
            <a:pPr marL="939800" lvl="1" indent="-342900" algn="just">
              <a:buSzPts val="1400"/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Une description concrète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1054100" lvl="2" algn="just">
              <a:buSzPts val="1400"/>
            </a:pPr>
            <a:r>
              <a:rPr lang="fr-FR" sz="22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- Définition du protocole d'accès et de l’URI à partir de laquelle on peut accéder au service web</a:t>
            </a:r>
          </a:p>
          <a:p>
            <a:pPr marL="939800" lvl="1" indent="-342900" algn="just">
              <a:buSzPts val="1400"/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Une description abstraite 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1054100" lvl="2" algn="just">
              <a:buSzPts val="1400"/>
            </a:pPr>
            <a:r>
              <a:rPr lang="fr-FR" sz="22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- nom des opérations, paramètres d'entrée, de sortie, structure des messages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50D58948-09B9-2D70-525B-DDA78ED7A18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9</a:t>
            </a:fld>
            <a:endParaRPr lang="fr-FR" dirty="0">
              <a:latin typeface="+mn-lt"/>
            </a:endParaRPr>
          </a:p>
        </p:txBody>
      </p:sp>
      <p:pic>
        <p:nvPicPr>
          <p:cNvPr id="4" name="Google Shape;256;p30" descr="http://www.ajaxonomy.com/files/concrWSDL.png">
            <a:extLst>
              <a:ext uri="{FF2B5EF4-FFF2-40B4-BE49-F238E27FC236}">
                <a16:creationId xmlns:a16="http://schemas.microsoft.com/office/drawing/2014/main" id="{66E6138F-DC83-2836-5322-29F84274EF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1500" y="2643188"/>
            <a:ext cx="3048000" cy="24082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58;p30">
            <a:extLst>
              <a:ext uri="{FF2B5EF4-FFF2-40B4-BE49-F238E27FC236}">
                <a16:creationId xmlns:a16="http://schemas.microsoft.com/office/drawing/2014/main" id="{2829795A-25CE-AE18-EBCB-D88E6DA36A83}"/>
              </a:ext>
            </a:extLst>
          </p:cNvPr>
          <p:cNvSpPr txBox="1"/>
          <p:nvPr/>
        </p:nvSpPr>
        <p:spPr>
          <a:xfrm>
            <a:off x="8572501" y="2273300"/>
            <a:ext cx="15792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Contrat WSDL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695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A005A-104A-25D7-A36E-95A0A4FE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17D5095-D5EE-3EE4-36F1-B26CC081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Les éléments WSDL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8744DBC-AA94-E43D-6243-8C614C9CC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958B95B0-CE08-BE4E-50EE-3EA7458DC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DC8656F3-7F27-5781-684B-3D7BCA585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88D32E71-C256-EF4C-2892-9F5AC56EC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F878D64A-262D-3989-5995-80C615F3D080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336D9B77-8DAA-F68D-2892-F8624EBF31C9}"/>
              </a:ext>
            </a:extLst>
          </p:cNvPr>
          <p:cNvSpPr txBox="1"/>
          <p:nvPr/>
        </p:nvSpPr>
        <p:spPr>
          <a:xfrm>
            <a:off x="988012" y="2300376"/>
            <a:ext cx="566882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Le document WSDL contient 7 éléments :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E4790667-5315-C618-7734-91DD23BA3D0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10</a:t>
            </a:fld>
            <a:endParaRPr lang="fr-FR" dirty="0">
              <a:latin typeface="+mn-lt"/>
            </a:endParaRPr>
          </a:p>
        </p:txBody>
      </p:sp>
      <p:sp>
        <p:nvSpPr>
          <p:cNvPr id="6" name="Google Shape;294;p32">
            <a:extLst>
              <a:ext uri="{FF2B5EF4-FFF2-40B4-BE49-F238E27FC236}">
                <a16:creationId xmlns:a16="http://schemas.microsoft.com/office/drawing/2014/main" id="{650FF7AA-AA5A-28A6-0EFB-C55291275B89}"/>
              </a:ext>
            </a:extLst>
          </p:cNvPr>
          <p:cNvSpPr/>
          <p:nvPr/>
        </p:nvSpPr>
        <p:spPr>
          <a:xfrm>
            <a:off x="6938771" y="5591175"/>
            <a:ext cx="1619251" cy="28575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/>
          </a:p>
        </p:txBody>
      </p:sp>
      <p:sp>
        <p:nvSpPr>
          <p:cNvPr id="7" name="Google Shape;295;p32">
            <a:extLst>
              <a:ext uri="{FF2B5EF4-FFF2-40B4-BE49-F238E27FC236}">
                <a16:creationId xmlns:a16="http://schemas.microsoft.com/office/drawing/2014/main" id="{B6A8CFF4-2D2C-98FB-6367-07243EA6D7C6}"/>
              </a:ext>
            </a:extLst>
          </p:cNvPr>
          <p:cNvSpPr/>
          <p:nvPr/>
        </p:nvSpPr>
        <p:spPr>
          <a:xfrm>
            <a:off x="7276630" y="5843847"/>
            <a:ext cx="1280728" cy="262755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endParaRPr/>
          </a:p>
        </p:txBody>
      </p:sp>
      <p:sp>
        <p:nvSpPr>
          <p:cNvPr id="9" name="Google Shape;296;p32">
            <a:extLst>
              <a:ext uri="{FF2B5EF4-FFF2-40B4-BE49-F238E27FC236}">
                <a16:creationId xmlns:a16="http://schemas.microsoft.com/office/drawing/2014/main" id="{9AFEB3BF-B9A6-DA7B-F455-25CEE1EEEF52}"/>
              </a:ext>
            </a:extLst>
          </p:cNvPr>
          <p:cNvSpPr/>
          <p:nvPr/>
        </p:nvSpPr>
        <p:spPr>
          <a:xfrm>
            <a:off x="6938771" y="5120450"/>
            <a:ext cx="1619251" cy="285750"/>
          </a:xfrm>
          <a:prstGeom prst="rect">
            <a:avLst/>
          </a:prstGeom>
          <a:solidFill>
            <a:srgbClr val="C55A11"/>
          </a:solidFill>
          <a:ln w="9525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binding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97;p32">
            <a:extLst>
              <a:ext uri="{FF2B5EF4-FFF2-40B4-BE49-F238E27FC236}">
                <a16:creationId xmlns:a16="http://schemas.microsoft.com/office/drawing/2014/main" id="{6658FB53-FE0D-3935-B43F-A6016536AF95}"/>
              </a:ext>
            </a:extLst>
          </p:cNvPr>
          <p:cNvSpPr/>
          <p:nvPr/>
        </p:nvSpPr>
        <p:spPr>
          <a:xfrm>
            <a:off x="6938771" y="4363975"/>
            <a:ext cx="1619251" cy="2857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types</a:t>
            </a:r>
            <a:endParaRPr/>
          </a:p>
        </p:txBody>
      </p:sp>
      <p:sp>
        <p:nvSpPr>
          <p:cNvPr id="12" name="Google Shape;298;p32">
            <a:extLst>
              <a:ext uri="{FF2B5EF4-FFF2-40B4-BE49-F238E27FC236}">
                <a16:creationId xmlns:a16="http://schemas.microsoft.com/office/drawing/2014/main" id="{9FAFA45E-A685-7778-7744-9FA59AC4189E}"/>
              </a:ext>
            </a:extLst>
          </p:cNvPr>
          <p:cNvSpPr/>
          <p:nvPr/>
        </p:nvSpPr>
        <p:spPr>
          <a:xfrm>
            <a:off x="7276630" y="4616799"/>
            <a:ext cx="1280728" cy="2568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99;p32">
            <a:extLst>
              <a:ext uri="{FF2B5EF4-FFF2-40B4-BE49-F238E27FC236}">
                <a16:creationId xmlns:a16="http://schemas.microsoft.com/office/drawing/2014/main" id="{1F832409-3928-0F51-A713-E3B967B897DD}"/>
              </a:ext>
            </a:extLst>
          </p:cNvPr>
          <p:cNvSpPr/>
          <p:nvPr/>
        </p:nvSpPr>
        <p:spPr>
          <a:xfrm>
            <a:off x="6938772" y="3882910"/>
            <a:ext cx="1619251" cy="2857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/>
          </a:p>
        </p:txBody>
      </p:sp>
      <p:sp>
        <p:nvSpPr>
          <p:cNvPr id="14" name="Google Shape;300;p32">
            <a:extLst>
              <a:ext uri="{FF2B5EF4-FFF2-40B4-BE49-F238E27FC236}">
                <a16:creationId xmlns:a16="http://schemas.microsoft.com/office/drawing/2014/main" id="{568E4741-1954-2A62-CAF6-F06A1FAC942C}"/>
              </a:ext>
            </a:extLst>
          </p:cNvPr>
          <p:cNvSpPr/>
          <p:nvPr/>
        </p:nvSpPr>
        <p:spPr>
          <a:xfrm>
            <a:off x="6938772" y="3405950"/>
            <a:ext cx="1619251" cy="2857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endParaRPr/>
          </a:p>
        </p:txBody>
      </p:sp>
      <p:sp>
        <p:nvSpPr>
          <p:cNvPr id="15" name="Google Shape;305;p32">
            <a:extLst>
              <a:ext uri="{FF2B5EF4-FFF2-40B4-BE49-F238E27FC236}">
                <a16:creationId xmlns:a16="http://schemas.microsoft.com/office/drawing/2014/main" id="{E8D36633-3B12-E6FA-7B12-B657C6989A26}"/>
              </a:ext>
            </a:extLst>
          </p:cNvPr>
          <p:cNvSpPr/>
          <p:nvPr/>
        </p:nvSpPr>
        <p:spPr>
          <a:xfrm>
            <a:off x="5715000" y="5589233"/>
            <a:ext cx="381000" cy="517369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304;p32">
            <a:extLst>
              <a:ext uri="{FF2B5EF4-FFF2-40B4-BE49-F238E27FC236}">
                <a16:creationId xmlns:a16="http://schemas.microsoft.com/office/drawing/2014/main" id="{19574D83-0B89-5F31-CB18-6E2FB947FDD4}"/>
              </a:ext>
            </a:extLst>
          </p:cNvPr>
          <p:cNvCxnSpPr/>
          <p:nvPr/>
        </p:nvCxnSpPr>
        <p:spPr>
          <a:xfrm>
            <a:off x="5679336" y="5268701"/>
            <a:ext cx="10476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7" name="Google Shape;305;p32">
            <a:extLst>
              <a:ext uri="{FF2B5EF4-FFF2-40B4-BE49-F238E27FC236}">
                <a16:creationId xmlns:a16="http://schemas.microsoft.com/office/drawing/2014/main" id="{A42E70EB-5BFD-76EC-AEB4-7EEF5155215F}"/>
              </a:ext>
            </a:extLst>
          </p:cNvPr>
          <p:cNvSpPr/>
          <p:nvPr/>
        </p:nvSpPr>
        <p:spPr>
          <a:xfrm>
            <a:off x="5715000" y="3472208"/>
            <a:ext cx="381000" cy="1398453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301;p32">
            <a:extLst>
              <a:ext uri="{FF2B5EF4-FFF2-40B4-BE49-F238E27FC236}">
                <a16:creationId xmlns:a16="http://schemas.microsoft.com/office/drawing/2014/main" id="{D1801507-DB6A-EE4D-03C7-0CBD63D009D4}"/>
              </a:ext>
            </a:extLst>
          </p:cNvPr>
          <p:cNvSpPr/>
          <p:nvPr/>
        </p:nvSpPr>
        <p:spPr>
          <a:xfrm>
            <a:off x="3139190" y="5656885"/>
            <a:ext cx="2364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</a:t>
            </a:r>
            <a:r>
              <a:rPr lang="fr-FR" sz="18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concrète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Google Shape;302;p32">
            <a:extLst>
              <a:ext uri="{FF2B5EF4-FFF2-40B4-BE49-F238E27FC236}">
                <a16:creationId xmlns:a16="http://schemas.microsoft.com/office/drawing/2014/main" id="{227B5D0F-7AB7-2C24-D9F7-49AA993BF309}"/>
              </a:ext>
            </a:extLst>
          </p:cNvPr>
          <p:cNvSpPr/>
          <p:nvPr/>
        </p:nvSpPr>
        <p:spPr>
          <a:xfrm>
            <a:off x="1573562" y="5044646"/>
            <a:ext cx="47625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Elément de </a:t>
            </a:r>
            <a:r>
              <a:rPr lang="fr-FR" sz="1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liaison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la description abstraite et concrète</a:t>
            </a:r>
            <a:endParaRPr dirty="0"/>
          </a:p>
        </p:txBody>
      </p:sp>
      <p:sp>
        <p:nvSpPr>
          <p:cNvPr id="24" name="Google Shape;303;p32">
            <a:extLst>
              <a:ext uri="{FF2B5EF4-FFF2-40B4-BE49-F238E27FC236}">
                <a16:creationId xmlns:a16="http://schemas.microsoft.com/office/drawing/2014/main" id="{A0C843D4-6398-A15B-9CD7-813A7C2B49D7}"/>
              </a:ext>
            </a:extLst>
          </p:cNvPr>
          <p:cNvSpPr/>
          <p:nvPr/>
        </p:nvSpPr>
        <p:spPr>
          <a:xfrm>
            <a:off x="3139190" y="3926543"/>
            <a:ext cx="2364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</a:t>
            </a:r>
            <a:r>
              <a:rPr lang="fr-FR" sz="1800" b="1" dirty="0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abstraite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785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91FE6-4603-BA7B-3E2A-55B9A647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A0A4D61-5DB6-9C3D-8D00-163FDDD3D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Exemple d’un contrat WSDL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A5A3AC30-0FD4-B199-B6C4-591EE0C81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98EC78A2-B17F-860C-66A5-80458DAAA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04740EBC-D2FE-79C3-F663-A7453D03E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83D9E7B1-047D-B6E6-EB85-B17E54261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141F756-35BF-E0CF-8006-A480BB0914FC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CEE57D7B-0DA8-1FDC-93B1-E05134A688D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11</a:t>
            </a:fld>
            <a:endParaRPr lang="fr-FR" dirty="0">
              <a:latin typeface="+mn-lt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1E24DC8-1522-F176-F4CC-5F4E55C4D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62353" y="2301586"/>
            <a:ext cx="8085221" cy="4532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61879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3876617" cy="235402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Exercice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737627" cy="2994025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b="1" dirty="0"/>
              <a:t>Tester le fonctionnement du service web SOAP gratuit « </a:t>
            </a:r>
            <a:r>
              <a:rPr lang="fr-FR" b="1" dirty="0" err="1"/>
              <a:t>Calculator</a:t>
            </a:r>
            <a:r>
              <a:rPr lang="fr-FR" b="1" dirty="0"/>
              <a:t> »: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dirty="0"/>
              <a:t>Utilisez l’URL suivante pour accéder au contrat WSDL du service web : </a:t>
            </a:r>
            <a:r>
              <a:rPr lang="fr-FR" dirty="0">
                <a:hlinkClick r:id="rId3"/>
              </a:rPr>
              <a:t>http://www.dneonline.com/calculator.asmx?wsdl</a:t>
            </a:r>
            <a:endParaRPr lang="fr-F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dirty="0"/>
              <a:t>vous aurez besoin d’un outil de test de services web: </a:t>
            </a:r>
            <a:r>
              <a:rPr lang="fr-FR" b="1" dirty="0" err="1"/>
              <a:t>SoapUI</a:t>
            </a:r>
            <a:r>
              <a:rPr lang="fr-FR" dirty="0"/>
              <a:t> ou bien Postman.</a:t>
            </a:r>
          </a:p>
          <a:p>
            <a:pPr marL="457200" indent="-457200" rtl="0">
              <a:buFont typeface="+mj-lt"/>
              <a:buAutoNum type="alphaUcPeriod"/>
            </a:pPr>
            <a:endParaRPr lang="fr-FR" dirty="0"/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898511" y="0"/>
            <a:ext cx="5315714" cy="6858000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821D0-2910-C528-1830-F2314C1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12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5090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3030</TotalTime>
  <Words>592</Words>
  <Application>Microsoft Office PowerPoint</Application>
  <PresentationFormat>Grand écran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Arial</vt:lpstr>
      <vt:lpstr>Arial Black</vt:lpstr>
      <vt:lpstr>Calibri</vt:lpstr>
      <vt:lpstr>Candara</vt:lpstr>
      <vt:lpstr>Courier New</vt:lpstr>
      <vt:lpstr>Franklin Gothic Book</vt:lpstr>
      <vt:lpstr>Franklin Gothic Demi</vt:lpstr>
      <vt:lpstr>Times New Roman</vt:lpstr>
      <vt:lpstr>Wingdings</vt:lpstr>
      <vt:lpstr>Personnalisé</vt:lpstr>
      <vt:lpstr>Formation SOA</vt:lpstr>
      <vt:lpstr>Découverte des services web étendus SOAP</vt:lpstr>
      <vt:lpstr>Programme</vt:lpstr>
      <vt:lpstr>Les standards</vt:lpstr>
      <vt:lpstr>Fonctionnement </vt:lpstr>
      <vt:lpstr>Fonctionnement </vt:lpstr>
      <vt:lpstr>Approches de développement </vt:lpstr>
      <vt:lpstr>Présentation de WSDL</vt:lpstr>
      <vt:lpstr>Présentation de WSDL</vt:lpstr>
      <vt:lpstr>Les éléments WSDL</vt:lpstr>
      <vt:lpstr>Exemple d’un contrat WSDL</vt:lpstr>
      <vt:lpstr>Exercice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ElMejid</dc:creator>
  <cp:lastModifiedBy>elmejid ines</cp:lastModifiedBy>
  <cp:revision>52</cp:revision>
  <dcterms:created xsi:type="dcterms:W3CDTF">2024-07-15T09:42:38Z</dcterms:created>
  <dcterms:modified xsi:type="dcterms:W3CDTF">2025-12-22T20:18:02Z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